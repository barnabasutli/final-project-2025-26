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7" r:id="rId2"/>
    <p:sldId id="258" r:id="rId3"/>
    <p:sldId id="260" r:id="rId4"/>
    <p:sldId id="261" r:id="rId5"/>
    <p:sldId id="25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9" r:id="rId39"/>
    <p:sldId id="298" r:id="rId40"/>
    <p:sldId id="299" r:id="rId41"/>
    <p:sldId id="300" r:id="rId42"/>
    <p:sldId id="301" r:id="rId43"/>
    <p:sldId id="302" r:id="rId44"/>
    <p:sldId id="303" r:id="rId45"/>
    <p:sldId id="304" r:id="rId46"/>
    <p:sldId id="305" r:id="rId47"/>
    <p:sldId id="306" r:id="rId48"/>
    <p:sldId id="307" r:id="rId49"/>
    <p:sldId id="276" r:id="rId50"/>
    <p:sldId id="277" r:id="rId51"/>
    <p:sldId id="278"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77765" autoAdjust="0"/>
  </p:normalViewPr>
  <p:slideViewPr>
    <p:cSldViewPr snapToGrid="0">
      <p:cViewPr>
        <p:scale>
          <a:sx n="66" d="100"/>
          <a:sy n="66" d="100"/>
        </p:scale>
        <p:origin x="571"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1FFB7-31E7-4BB6-B0E4-DE749FC120F9}" type="datetimeFigureOut">
              <a:rPr lang="hu-HU" smtClean="0"/>
              <a:t>2026. 05. 27.</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AB1E2-8884-476B-A8A8-5863AEE4FBA7}" type="slidenum">
              <a:rPr lang="hu-HU" smtClean="0"/>
              <a:t>‹#›</a:t>
            </a:fld>
            <a:endParaRPr lang="hu-HU"/>
          </a:p>
        </p:txBody>
      </p:sp>
    </p:spTree>
    <p:extLst>
      <p:ext uri="{BB962C8B-B14F-4D97-AF65-F5344CB8AC3E}">
        <p14:creationId xmlns:p14="http://schemas.microsoft.com/office/powerpoint/2010/main" val="3829686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Kft. egy magyar tulajdonú prémium óragyártó vállalkozás, mely évszázadok óta foglalkozik időmérő eszközök gyártásával, tervezésével és forgalmazásával, minden kategóriában. A váci székhelyű cég célja, hogy magas minőségű, precíziós mechanikus, kvarc, sport-, elegáns és luxus karórákat tervezzen és gyártson, a magyar ipari hagyományokat ötvözve a modern technológiai innovációval.</a:t>
            </a:r>
          </a:p>
        </p:txBody>
      </p:sp>
      <p:sp>
        <p:nvSpPr>
          <p:cNvPr id="4" name="Dia számának helye 3"/>
          <p:cNvSpPr>
            <a:spLocks noGrp="1"/>
          </p:cNvSpPr>
          <p:nvPr>
            <p:ph type="sldNum" sz="quarter" idx="5"/>
          </p:nvPr>
        </p:nvSpPr>
        <p:spPr/>
        <p:txBody>
          <a:bodyPr/>
          <a:lstStyle/>
          <a:p>
            <a:fld id="{A67D4F15-C7BC-4A56-B8AA-CF1F76BA253C}" type="slidenum">
              <a:rPr lang="hu-HU" smtClean="0"/>
              <a:t>2</a:t>
            </a:fld>
            <a:endParaRPr lang="hu-HU"/>
          </a:p>
        </p:txBody>
      </p:sp>
    </p:spTree>
    <p:extLst>
      <p:ext uri="{BB962C8B-B14F-4D97-AF65-F5344CB8AC3E}">
        <p14:creationId xmlns:p14="http://schemas.microsoft.com/office/powerpoint/2010/main" val="477593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projekt célja 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óragyártó vállalat teljes körű, vállalati szintű IT-infrastruktúrájának megtervezése és kiépítése, amely megbízható, biztonságos és skálázható módon támogatja a gyártási, adminisztratív és üzleti folyamatokat. A rendszer magában foglalja a strukturált belső hálózat kialakítását, a logikailag elkülönített hálózati szegmensek (pl. gyártás, irodai környezet, menedzsment, vendéghálózat) létrehozását, valamint a központi szerverarchitektúra implementálását. A cél egy olyan integrált környezet létrehozása, amely egységes felhasználókezelést, központi hitelesítést, fájl- és alkalmazásszolgáltatásokat, valamint biztonságos távoli elérést biztosít.</a:t>
            </a:r>
            <a:br>
              <a:rPr lang="hu-HU" sz="1200" kern="1200" dirty="0">
                <a:solidFill>
                  <a:schemeClr val="tx1"/>
                </a:solidFill>
                <a:effectLst/>
                <a:latin typeface="+mn-lt"/>
                <a:ea typeface="+mn-ea"/>
                <a:cs typeface="+mn-cs"/>
              </a:rPr>
            </a:br>
            <a:endParaRPr lang="hu-H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szerveroldali infrastruktúra </a:t>
            </a:r>
            <a:r>
              <a:rPr lang="hu-HU" sz="1200" kern="1200" dirty="0" err="1">
                <a:solidFill>
                  <a:schemeClr val="tx1"/>
                </a:solidFill>
                <a:effectLst/>
                <a:latin typeface="+mn-lt"/>
                <a:ea typeface="+mn-ea"/>
                <a:cs typeface="+mn-cs"/>
              </a:rPr>
              <a:t>virtualizált</a:t>
            </a:r>
            <a:r>
              <a:rPr lang="hu-HU" sz="1200" kern="1200" dirty="0">
                <a:solidFill>
                  <a:schemeClr val="tx1"/>
                </a:solidFill>
                <a:effectLst/>
                <a:latin typeface="+mn-lt"/>
                <a:ea typeface="+mn-ea"/>
                <a:cs typeface="+mn-cs"/>
              </a:rPr>
              <a:t> környezetre épül, amely lehetővé teszi több logikai szerver futtatását egy fizikai hardveren, ezzel optimalizálva az erőforrás- </a:t>
            </a:r>
            <a:r>
              <a:rPr lang="hu-HU" sz="1200" kern="1200" dirty="0" err="1">
                <a:solidFill>
                  <a:schemeClr val="tx1"/>
                </a:solidFill>
                <a:effectLst/>
                <a:latin typeface="+mn-lt"/>
                <a:ea typeface="+mn-ea"/>
                <a:cs typeface="+mn-cs"/>
              </a:rPr>
              <a:t>kihasználtságot</a:t>
            </a:r>
            <a:r>
              <a:rPr lang="hu-HU" sz="1200" kern="1200" dirty="0">
                <a:solidFill>
                  <a:schemeClr val="tx1"/>
                </a:solidFill>
                <a:effectLst/>
                <a:latin typeface="+mn-lt"/>
                <a:ea typeface="+mn-ea"/>
                <a:cs typeface="+mn-cs"/>
              </a:rPr>
              <a:t> és növelve a rendelkezésre állást. A rendszer tartalmaz címtárszolgáltatást, fájlszervert, web- és adatbázisszervert, valamint mentési és naplózási megoldásokat. A kialakítás során kiemelt szempont az adatbiztonság, a jogosultságkezelés, a redundancia és az üzletmenet-folytonosság biztosítása, beleértve a rendszeres biztonsági mentéseket és a hibatűrő konfigurációkat.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a:t>
            </a:fld>
            <a:endParaRPr lang="hu-HU"/>
          </a:p>
        </p:txBody>
      </p:sp>
    </p:spTree>
    <p:extLst>
      <p:ext uri="{BB962C8B-B14F-4D97-AF65-F5344CB8AC3E}">
        <p14:creationId xmlns:p14="http://schemas.microsoft.com/office/powerpoint/2010/main" val="3523096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projekt eredményeként egy stabil, központilag menedzselhető és jövőben bővíthető informatikai infrastruktúra jön létre, amely hosszú távon támogatja 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működését, csökkenti az üzemeltetési kockázatokat, és biztosítja a vállalati adatok integritását, rendelkezésre állását és bizalmasságát.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4</a:t>
            </a:fld>
            <a:endParaRPr lang="hu-HU"/>
          </a:p>
        </p:txBody>
      </p:sp>
    </p:spTree>
    <p:extLst>
      <p:ext uri="{BB962C8B-B14F-4D97-AF65-F5344CB8AC3E}">
        <p14:creationId xmlns:p14="http://schemas.microsoft.com/office/powerpoint/2010/main" val="2506510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Ezen telephely lényege a cég könyvelésének, adminisztratív feladatainak ellátása, HR/PR, kommunikáció, és ehhez kapcsolódó ügyek intézése. A hálózatban kizárólag PC-k működnek végpontként. A struktúrát három </a:t>
            </a:r>
            <a:r>
              <a:rPr lang="hu-HU" sz="1200" kern="1200" dirty="0" err="1">
                <a:solidFill>
                  <a:schemeClr val="tx1"/>
                </a:solidFill>
                <a:effectLst/>
                <a:latin typeface="+mn-lt"/>
                <a:ea typeface="+mn-ea"/>
                <a:cs typeface="+mn-cs"/>
              </a:rPr>
              <a:t>switchre</a:t>
            </a:r>
            <a:r>
              <a:rPr lang="hu-HU" sz="1200" kern="1200" dirty="0">
                <a:solidFill>
                  <a:schemeClr val="tx1"/>
                </a:solidFill>
                <a:effectLst/>
                <a:latin typeface="+mn-lt"/>
                <a:ea typeface="+mn-ea"/>
                <a:cs typeface="+mn-cs"/>
              </a:rPr>
              <a:t> építettük, amelyek port-</a:t>
            </a:r>
            <a:r>
              <a:rPr lang="hu-HU" sz="1200" kern="1200" dirty="0" err="1">
                <a:solidFill>
                  <a:schemeClr val="tx1"/>
                </a:solidFill>
                <a:effectLst/>
                <a:latin typeface="+mn-lt"/>
                <a:ea typeface="+mn-ea"/>
                <a:cs typeface="+mn-cs"/>
              </a:rPr>
              <a:t>channel</a:t>
            </a:r>
            <a:r>
              <a:rPr lang="hu-HU" sz="1200" kern="1200" dirty="0">
                <a:solidFill>
                  <a:schemeClr val="tx1"/>
                </a:solidFill>
                <a:effectLst/>
                <a:latin typeface="+mn-lt"/>
                <a:ea typeface="+mn-ea"/>
                <a:cs typeface="+mn-cs"/>
              </a:rPr>
              <a:t> kapcsolattal csatlakoznak egymáshoz, így biztosítva a nagyobb sávszélességet és a redundanciát a belső kommunikáció során. A központi forgalomirányítást egy fő router látja el, amely kezeli az internetkapcsolatot, az alhálózatok közötti forgalmat és az alapvető hálózatbiztonsági funkciókat.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6</a:t>
            </a:fld>
            <a:endParaRPr lang="hu-HU"/>
          </a:p>
        </p:txBody>
      </p:sp>
    </p:spTree>
    <p:extLst>
      <p:ext uri="{BB962C8B-B14F-4D97-AF65-F5344CB8AC3E}">
        <p14:creationId xmlns:p14="http://schemas.microsoft.com/office/powerpoint/2010/main" val="229674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Itt történik az összes jelentős feladat az alkatrészek elkészítésétől egészen a dobozba csomagolásig. Itt látják el az összerakás, minőség-ellenőrzés, szervizelés, csomagolás, logisztika, szállításra előkészítés, és ezen feladatokhoz kötődő lépéseket. A vezeték nélküli hálózat lehetővé teszi a logisztikai folyamatok egyszerűsítését, illetve </a:t>
            </a:r>
            <a:r>
              <a:rPr lang="hu-HU" sz="1200" kern="1200" dirty="0" err="1">
                <a:solidFill>
                  <a:schemeClr val="tx1"/>
                </a:solidFill>
                <a:effectLst/>
                <a:latin typeface="+mn-lt"/>
                <a:ea typeface="+mn-ea"/>
                <a:cs typeface="+mn-cs"/>
              </a:rPr>
              <a:t>mobilissá</a:t>
            </a:r>
            <a:r>
              <a:rPr lang="hu-HU" sz="1200" kern="1200" dirty="0">
                <a:solidFill>
                  <a:schemeClr val="tx1"/>
                </a:solidFill>
                <a:effectLst/>
                <a:latin typeface="+mn-lt"/>
                <a:ea typeface="+mn-ea"/>
                <a:cs typeface="+mn-cs"/>
              </a:rPr>
              <a:t> teszi a munkakörnyezetet. A tűzfal mögötti szerverhez kizárólag az </a:t>
            </a:r>
            <a:r>
              <a:rPr lang="hu-HU" sz="1200" kern="1200" dirty="0" err="1">
                <a:solidFill>
                  <a:schemeClr val="tx1"/>
                </a:solidFill>
                <a:effectLst/>
                <a:latin typeface="+mn-lt"/>
                <a:ea typeface="+mn-ea"/>
                <a:cs typeface="+mn-cs"/>
              </a:rPr>
              <a:t>admin</a:t>
            </a:r>
            <a:r>
              <a:rPr lang="hu-HU" sz="1200" kern="1200" dirty="0">
                <a:solidFill>
                  <a:schemeClr val="tx1"/>
                </a:solidFill>
                <a:effectLst/>
                <a:latin typeface="+mn-lt"/>
                <a:ea typeface="+mn-ea"/>
                <a:cs typeface="+mn-cs"/>
              </a:rPr>
              <a:t> hálózatban lévő alkalmazottak érik el, és ezáltal felügyelik a dolgozói folyamatokat.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7</a:t>
            </a:fld>
            <a:endParaRPr lang="hu-HU"/>
          </a:p>
        </p:txBody>
      </p:sp>
    </p:spTree>
    <p:extLst>
      <p:ext uri="{BB962C8B-B14F-4D97-AF65-F5344CB8AC3E}">
        <p14:creationId xmlns:p14="http://schemas.microsoft.com/office/powerpoint/2010/main" val="2523722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legegyszerűbb, de egyben megbízható rendszerrel ellátott szaküzlet látja el az értékesítési feladatokat. A butikban emellett fogadásra kerülnek a szervízre beadott termékek, amiket majd később visszaküldenek a gyárüzembe.</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8</a:t>
            </a:fld>
            <a:endParaRPr lang="hu-HU"/>
          </a:p>
        </p:txBody>
      </p:sp>
    </p:spTree>
    <p:extLst>
      <p:ext uri="{BB962C8B-B14F-4D97-AF65-F5344CB8AC3E}">
        <p14:creationId xmlns:p14="http://schemas.microsoft.com/office/powerpoint/2010/main" val="3335906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legfontosabb elem a cég működésében ez a szerverpark. A cég pénzügyi adatai, a termékek, gyártási folyamatok, szabadalmaztatott technológiák, költségvetések, és minden olyan információ, ami kifejezett védelmet igényel, itt kerül tárolásra. Továbbá fájl-, webszerver, és adatbázis szolgáltatások biztosítunk a dolgozók, és ügyfelek számára. </a:t>
            </a:r>
          </a:p>
        </p:txBody>
      </p:sp>
      <p:sp>
        <p:nvSpPr>
          <p:cNvPr id="4" name="Dia számának helye 3"/>
          <p:cNvSpPr>
            <a:spLocks noGrp="1"/>
          </p:cNvSpPr>
          <p:nvPr>
            <p:ph type="sldNum" sz="quarter" idx="5"/>
          </p:nvPr>
        </p:nvSpPr>
        <p:spPr/>
        <p:txBody>
          <a:bodyPr/>
          <a:lstStyle/>
          <a:p>
            <a:fld id="{A67D4F15-C7BC-4A56-B8AA-CF1F76BA253C}" type="slidenum">
              <a:rPr lang="hu-HU" smtClean="0"/>
              <a:t>9</a:t>
            </a:fld>
            <a:endParaRPr lang="hu-HU"/>
          </a:p>
        </p:txBody>
      </p:sp>
    </p:spTree>
    <p:extLst>
      <p:ext uri="{BB962C8B-B14F-4D97-AF65-F5344CB8AC3E}">
        <p14:creationId xmlns:p14="http://schemas.microsoft.com/office/powerpoint/2010/main" val="2832881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Akkor beszélhetünk igazán redundáns hálózatról, ha az ehhez szükséges feltételek az internetszolgáltató részéről is megvalósulnak. Ezért a cégünk egy meg nem nevezett internetszolgáltató cégtől egy kétvonalas, </a:t>
            </a:r>
            <a:r>
              <a:rPr lang="hu-HU" sz="1200" kern="1200" dirty="0" err="1">
                <a:solidFill>
                  <a:schemeClr val="tx1"/>
                </a:solidFill>
                <a:effectLst/>
                <a:latin typeface="+mn-lt"/>
                <a:ea typeface="+mn-ea"/>
                <a:cs typeface="+mn-cs"/>
              </a:rPr>
              <a:t>full-mesh</a:t>
            </a:r>
            <a:r>
              <a:rPr lang="hu-HU" sz="1200" kern="1200" dirty="0">
                <a:solidFill>
                  <a:schemeClr val="tx1"/>
                </a:solidFill>
                <a:effectLst/>
                <a:latin typeface="+mn-lt"/>
                <a:ea typeface="+mn-ea"/>
                <a:cs typeface="+mn-cs"/>
              </a:rPr>
              <a:t> hálózatot bérel. Ez a gyakorlatban azt jelenti, hogy a telephelyeket 2 külön fizikai link köti össze a többi telephellyel. A belső hálózaton belül pedig minden router tud kommunikálni mindegyikkel, ettől lesz </a:t>
            </a:r>
            <a:r>
              <a:rPr lang="hu-HU" sz="1200" kern="1200" dirty="0" err="1">
                <a:solidFill>
                  <a:schemeClr val="tx1"/>
                </a:solidFill>
                <a:effectLst/>
                <a:latin typeface="+mn-lt"/>
                <a:ea typeface="+mn-ea"/>
                <a:cs typeface="+mn-cs"/>
              </a:rPr>
              <a:t>full-mesh</a:t>
            </a:r>
            <a:r>
              <a:rPr lang="hu-HU" sz="1200" kern="1200" dirty="0">
                <a:solidFill>
                  <a:schemeClr val="tx1"/>
                </a:solidFill>
                <a:effectLst/>
                <a:latin typeface="+mn-lt"/>
                <a:ea typeface="+mn-ea"/>
                <a:cs typeface="+mn-cs"/>
              </a:rPr>
              <a:t> hálózat.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10</a:t>
            </a:fld>
            <a:endParaRPr lang="hu-HU"/>
          </a:p>
        </p:txBody>
      </p:sp>
    </p:spTree>
    <p:extLst>
      <p:ext uri="{BB962C8B-B14F-4D97-AF65-F5344CB8AC3E}">
        <p14:creationId xmlns:p14="http://schemas.microsoft.com/office/powerpoint/2010/main" val="4228407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Access </a:t>
            </a:r>
            <a:r>
              <a:rPr lang="hu-HU" sz="1200" kern="1200" dirty="0" err="1">
                <a:solidFill>
                  <a:schemeClr val="tx1"/>
                </a:solidFill>
                <a:effectLst/>
                <a:latin typeface="+mn-lt"/>
                <a:ea typeface="+mn-ea"/>
                <a:cs typeface="+mn-cs"/>
              </a:rPr>
              <a:t>Control</a:t>
            </a:r>
            <a:r>
              <a:rPr lang="hu-HU" sz="1200" kern="1200" dirty="0">
                <a:solidFill>
                  <a:schemeClr val="tx1"/>
                </a:solidFill>
                <a:effectLst/>
                <a:latin typeface="+mn-lt"/>
                <a:ea typeface="+mn-ea"/>
                <a:cs typeface="+mn-cs"/>
              </a:rPr>
              <a:t> List (ACL), magyarul hozzáférés-vezérlési lista vagy jogosultsági lista, egy sokoldalú eszköz, amit biztonsági, és forgalomirányítási feladatokra alkalmaznak. Meghatározza, hogy egy adott felhasználó, folyamat vagy eszköz milyen műveleteket (olvasás, írás, futtatás) végezhet el egy erőforrással. Az ACL-</a:t>
            </a:r>
            <a:r>
              <a:rPr lang="hu-HU" sz="1200" kern="1200" dirty="0" err="1">
                <a:solidFill>
                  <a:schemeClr val="tx1"/>
                </a:solidFill>
                <a:effectLst/>
                <a:latin typeface="+mn-lt"/>
                <a:ea typeface="+mn-ea"/>
                <a:cs typeface="+mn-cs"/>
              </a:rPr>
              <a:t>eket</a:t>
            </a:r>
            <a:r>
              <a:rPr lang="hu-HU" sz="1200" kern="1200" dirty="0">
                <a:solidFill>
                  <a:schemeClr val="tx1"/>
                </a:solidFill>
                <a:effectLst/>
                <a:latin typeface="+mn-lt"/>
                <a:ea typeface="+mn-ea"/>
                <a:cs typeface="+mn-cs"/>
              </a:rPr>
              <a:t> minden PAT-ot tartalmazó routeren (</a:t>
            </a:r>
            <a:r>
              <a:rPr lang="hu-HU" sz="1200" kern="1200" dirty="0" err="1">
                <a:solidFill>
                  <a:schemeClr val="tx1"/>
                </a:solidFill>
                <a:effectLst/>
                <a:latin typeface="+mn-lt"/>
                <a:ea typeface="+mn-ea"/>
                <a:cs typeface="+mn-cs"/>
              </a:rPr>
              <a:t>IrodaRouter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BoltRouter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FactoryRouter</a:t>
            </a:r>
            <a:r>
              <a:rPr lang="hu-HU" sz="1200" kern="1200" dirty="0">
                <a:solidFill>
                  <a:schemeClr val="tx1"/>
                </a:solidFill>
                <a:effectLst/>
                <a:latin typeface="+mn-lt"/>
                <a:ea typeface="+mn-ea"/>
                <a:cs typeface="+mn-cs"/>
              </a:rPr>
              <a:t>), illetve a tűzfalon használtuk különböző célokra. Alapjában forgalomszűrésre használtuk: bizonyos címek, tartományok engedélyezése, tiltása, protokollra szűrés. Ezek az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listák a PAT fordítást (erről később bővebben) teszik lehetővé. Ha ebből a </a:t>
            </a:r>
            <a:r>
              <a:rPr lang="hu-HU" sz="1200" kern="1200" dirty="0" err="1">
                <a:solidFill>
                  <a:schemeClr val="tx1"/>
                </a:solidFill>
                <a:effectLst/>
                <a:latin typeface="+mn-lt"/>
                <a:ea typeface="+mn-ea"/>
                <a:cs typeface="+mn-cs"/>
              </a:rPr>
              <a:t>subnetből</a:t>
            </a:r>
            <a:r>
              <a:rPr lang="hu-HU" sz="1200" kern="1200" dirty="0">
                <a:solidFill>
                  <a:schemeClr val="tx1"/>
                </a:solidFill>
                <a:effectLst/>
                <a:latin typeface="+mn-lt"/>
                <a:ea typeface="+mn-ea"/>
                <a:cs typeface="+mn-cs"/>
              </a:rPr>
              <a:t> érkezik ICMP </a:t>
            </a:r>
            <a:r>
              <a:rPr lang="hu-HU" sz="1200" kern="1200" dirty="0" err="1">
                <a:solidFill>
                  <a:schemeClr val="tx1"/>
                </a:solidFill>
                <a:effectLst/>
                <a:latin typeface="+mn-lt"/>
                <a:ea typeface="+mn-ea"/>
                <a:cs typeface="+mn-cs"/>
              </a:rPr>
              <a:t>packet</a:t>
            </a:r>
            <a:r>
              <a:rPr lang="hu-HU" sz="1200" kern="1200" dirty="0">
                <a:solidFill>
                  <a:schemeClr val="tx1"/>
                </a:solidFill>
                <a:effectLst/>
                <a:latin typeface="+mn-lt"/>
                <a:ea typeface="+mn-ea"/>
                <a:cs typeface="+mn-cs"/>
              </a:rPr>
              <a:t>, akkor a router tovább küldi. Ha eltér a forrás hálózatcíme, akkor eldobja.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11</a:t>
            </a:fld>
            <a:endParaRPr lang="hu-HU"/>
          </a:p>
        </p:txBody>
      </p:sp>
    </p:spTree>
    <p:extLst>
      <p:ext uri="{BB962C8B-B14F-4D97-AF65-F5344CB8AC3E}">
        <p14:creationId xmlns:p14="http://schemas.microsoft.com/office/powerpoint/2010/main" val="2834682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Dynamic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(DHCP) hálózati címek, átjárók és DNS szerverek automatikus kisosztását teszi lehetővé, ezzel jelentős időt spórolva, és emberi hibalehetőséget kiiktatva. Ezt a protokollt 3 telephelyen is alkalmaztuk, routereken és szervereken is.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12</a:t>
            </a:fld>
            <a:endParaRPr lang="hu-HU"/>
          </a:p>
        </p:txBody>
      </p:sp>
    </p:spTree>
    <p:extLst>
      <p:ext uri="{BB962C8B-B14F-4D97-AF65-F5344CB8AC3E}">
        <p14:creationId xmlns:p14="http://schemas.microsoft.com/office/powerpoint/2010/main" val="141666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előzővel kéz-a-kézben járó biztonsági protokoll megakadályozza, hogy illetéktelenek hamis DHCP konfigurációt adjanak ki, ezzel olyan támadásokat megakadályozva, mint Man-in-</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a:t>
            </a:r>
            <a:r>
              <a:rPr lang="hu-HU" sz="1200" kern="1200" dirty="0" err="1">
                <a:solidFill>
                  <a:schemeClr val="tx1"/>
                </a:solidFill>
                <a:effectLst/>
                <a:latin typeface="+mn-lt"/>
                <a:ea typeface="+mn-ea"/>
                <a:cs typeface="+mn-cs"/>
              </a:rPr>
              <a:t>middle</a:t>
            </a:r>
            <a:r>
              <a:rPr lang="hu-HU" sz="1200" kern="1200" dirty="0">
                <a:solidFill>
                  <a:schemeClr val="tx1"/>
                </a:solidFill>
                <a:effectLst/>
                <a:latin typeface="+mn-lt"/>
                <a:ea typeface="+mn-ea"/>
                <a:cs typeface="+mn-cs"/>
              </a:rPr>
              <a:t> (azaz </a:t>
            </a:r>
            <a:r>
              <a:rPr lang="hu-HU" sz="1200" kern="1200" dirty="0" err="1">
                <a:solidFill>
                  <a:schemeClr val="tx1"/>
                </a:solidFill>
                <a:effectLst/>
                <a:latin typeface="+mn-lt"/>
                <a:ea typeface="+mn-ea"/>
                <a:cs typeface="+mn-cs"/>
              </a:rPr>
              <a:t>beékelődéses</a:t>
            </a:r>
            <a:r>
              <a:rPr lang="hu-HU" sz="1200" kern="1200" dirty="0">
                <a:solidFill>
                  <a:schemeClr val="tx1"/>
                </a:solidFill>
                <a:effectLst/>
                <a:latin typeface="+mn-lt"/>
                <a:ea typeface="+mn-ea"/>
                <a:cs typeface="+mn-cs"/>
              </a:rPr>
              <a:t>), és DHCP </a:t>
            </a:r>
            <a:r>
              <a:rPr lang="hu-HU" sz="1200" kern="1200" dirty="0" err="1">
                <a:solidFill>
                  <a:schemeClr val="tx1"/>
                </a:solidFill>
                <a:effectLst/>
                <a:latin typeface="+mn-lt"/>
                <a:ea typeface="+mn-ea"/>
                <a:cs typeface="+mn-cs"/>
              </a:rPr>
              <a:t>Starving</a:t>
            </a:r>
            <a:r>
              <a:rPr lang="hu-HU" sz="1200" kern="1200" dirty="0">
                <a:solidFill>
                  <a:schemeClr val="tx1"/>
                </a:solidFill>
                <a:effectLst/>
                <a:latin typeface="+mn-lt"/>
                <a:ea typeface="+mn-ea"/>
                <a:cs typeface="+mn-cs"/>
              </a:rPr>
              <a:t> támadásokat.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13</a:t>
            </a:fld>
            <a:endParaRPr lang="hu-HU"/>
          </a:p>
        </p:txBody>
      </p:sp>
    </p:spTree>
    <p:extLst>
      <p:ext uri="{BB962C8B-B14F-4D97-AF65-F5344CB8AC3E}">
        <p14:creationId xmlns:p14="http://schemas.microsoft.com/office/powerpoint/2010/main" val="2119790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GRE (</a:t>
            </a:r>
            <a:r>
              <a:rPr lang="hu-HU" sz="1200" kern="1200" dirty="0" err="1">
                <a:solidFill>
                  <a:schemeClr val="tx1"/>
                </a:solidFill>
                <a:effectLst/>
                <a:latin typeface="+mn-lt"/>
                <a:ea typeface="+mn-ea"/>
                <a:cs typeface="+mn-cs"/>
              </a:rPr>
              <a:t>Generic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Encapsulation</a:t>
            </a:r>
            <a:r>
              <a:rPr lang="hu-HU" sz="1200" kern="1200" dirty="0">
                <a:solidFill>
                  <a:schemeClr val="tx1"/>
                </a:solidFill>
                <a:effectLst/>
                <a:latin typeface="+mn-lt"/>
                <a:ea typeface="+mn-ea"/>
                <a:cs typeface="+mn-cs"/>
              </a:rPr>
              <a:t>) tökéletes megoldás a VPN kapcsolatok felállítására, és a forgalom biztonságos és gyors mozgatására. Ezek egy logikai </a:t>
            </a:r>
            <a:r>
              <a:rPr lang="hu-HU" sz="1200" kern="1200" dirty="0" err="1">
                <a:solidFill>
                  <a:schemeClr val="tx1"/>
                </a:solidFill>
                <a:effectLst/>
                <a:latin typeface="+mn-lt"/>
                <a:ea typeface="+mn-ea"/>
                <a:cs typeface="+mn-cs"/>
              </a:rPr>
              <a:t>point-to-point</a:t>
            </a:r>
            <a:r>
              <a:rPr lang="hu-HU" sz="1200" kern="1200" dirty="0">
                <a:solidFill>
                  <a:schemeClr val="tx1"/>
                </a:solidFill>
                <a:effectLst/>
                <a:latin typeface="+mn-lt"/>
                <a:ea typeface="+mn-ea"/>
                <a:cs typeface="+mn-cs"/>
              </a:rPr>
              <a:t> kapcsolatot hoznak létre, az adatcsomagot egy másik csomagba berakva, ezzel elkerülve, hogy a köztes forgalomirányítók megnézzék vagy módosítsák a tartalmát. Ezt a telephelyek routerei között mind alkalmaztuk (OR1, OR2, </a:t>
            </a:r>
            <a:r>
              <a:rPr lang="hu-HU" sz="1200" kern="1200" dirty="0" err="1">
                <a:solidFill>
                  <a:schemeClr val="tx1"/>
                </a:solidFill>
                <a:effectLst/>
                <a:latin typeface="+mn-lt"/>
                <a:ea typeface="+mn-ea"/>
                <a:cs typeface="+mn-cs"/>
              </a:rPr>
              <a:t>FactoryRouter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IrodaRouter</a:t>
            </a:r>
            <a:r>
              <a:rPr lang="hu-HU" sz="1200" kern="1200" dirty="0">
                <a:solidFill>
                  <a:schemeClr val="tx1"/>
                </a:solidFill>
                <a:effectLst/>
                <a:latin typeface="+mn-lt"/>
                <a:ea typeface="+mn-ea"/>
                <a:cs typeface="+mn-cs"/>
              </a:rPr>
              <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14</a:t>
            </a:fld>
            <a:endParaRPr lang="hu-HU"/>
          </a:p>
        </p:txBody>
      </p:sp>
    </p:spTree>
    <p:extLst>
      <p:ext uri="{BB962C8B-B14F-4D97-AF65-F5344CB8AC3E}">
        <p14:creationId xmlns:p14="http://schemas.microsoft.com/office/powerpoint/2010/main" val="2548750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Hot </a:t>
            </a:r>
            <a:r>
              <a:rPr lang="hu-HU" sz="1200" kern="1200" dirty="0" err="1">
                <a:solidFill>
                  <a:schemeClr val="tx1"/>
                </a:solidFill>
                <a:effectLst/>
                <a:latin typeface="+mn-lt"/>
                <a:ea typeface="+mn-ea"/>
                <a:cs typeface="+mn-cs"/>
              </a:rPr>
              <a:t>Standby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 redundáns alapátjáró kezelést teszi lehetővé. Ilyenkor két azonos hálózatban lévő router egy közös logikai kapcsolatot teremtenek, és egymást állapotát észlelve továbbítják a forgalmat. A forgalom iránya változik, ha valamelyik fizikai link lekapcsol, vagy meghibásodik. Ezt az OR1 és OR2 routeren alkalmaztuk.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15</a:t>
            </a:fld>
            <a:endParaRPr lang="hu-HU"/>
          </a:p>
        </p:txBody>
      </p:sp>
    </p:spTree>
    <p:extLst>
      <p:ext uri="{BB962C8B-B14F-4D97-AF65-F5344CB8AC3E}">
        <p14:creationId xmlns:p14="http://schemas.microsoft.com/office/powerpoint/2010/main" val="1244282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NAT és a PAT hasonló célt szolgálnak, viszont máshogy érik el. Network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Translationnál</a:t>
            </a:r>
            <a:r>
              <a:rPr lang="hu-HU" sz="1200" kern="1200" dirty="0">
                <a:solidFill>
                  <a:schemeClr val="tx1"/>
                </a:solidFill>
                <a:effectLst/>
                <a:latin typeface="+mn-lt"/>
                <a:ea typeface="+mn-ea"/>
                <a:cs typeface="+mn-cs"/>
              </a:rPr>
              <a:t> egy belső címet teszünk elérhetővé az internet, azaz hálózaton kívül lévő eszközök számára. A Port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a:t>
            </a:r>
            <a:r>
              <a:rPr lang="hu-HU" sz="1200" kern="1200" dirty="0">
                <a:solidFill>
                  <a:schemeClr val="tx1"/>
                </a:solidFill>
                <a:effectLst/>
                <a:latin typeface="+mn-lt"/>
                <a:ea typeface="+mn-ea"/>
                <a:cs typeface="+mn-cs"/>
              </a:rPr>
              <a:t> Esetében a belső hálózat kimenő csomagjait a router külső </a:t>
            </a:r>
            <a:r>
              <a:rPr lang="hu-HU" sz="1200" kern="1200" dirty="0" err="1">
                <a:solidFill>
                  <a:schemeClr val="tx1"/>
                </a:solidFill>
                <a:effectLst/>
                <a:latin typeface="+mn-lt"/>
                <a:ea typeface="+mn-ea"/>
                <a:cs typeface="+mn-cs"/>
              </a:rPr>
              <a:t>portjához</a:t>
            </a:r>
            <a:r>
              <a:rPr lang="hu-HU" sz="1200" kern="1200" dirty="0">
                <a:solidFill>
                  <a:schemeClr val="tx1"/>
                </a:solidFill>
                <a:effectLst/>
                <a:latin typeface="+mn-lt"/>
                <a:ea typeface="+mn-ea"/>
                <a:cs typeface="+mn-cs"/>
              </a:rPr>
              <a:t> fűzzük, majd válasz esetén lefordítjuk, és megfelelő helyre küldjük vissza, szintén portok alapján. A NAT-ot minden internetről elérhető szerverhez, a PAT-ot pedig minden telephelyhez kötődő routeren konfiguráltuk Itt szükség lesz a fentebb említett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listákra, mert megmondják, mely belső IP tartományok fordíthatók le, és osztozhatnak egy külső címen.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16</a:t>
            </a:fld>
            <a:endParaRPr lang="hu-HU"/>
          </a:p>
        </p:txBody>
      </p:sp>
    </p:spTree>
    <p:extLst>
      <p:ext uri="{BB962C8B-B14F-4D97-AF65-F5344CB8AC3E}">
        <p14:creationId xmlns:p14="http://schemas.microsoft.com/office/powerpoint/2010/main" val="2342350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The EIGRP,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known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Enhanced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Interior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Gateway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is a </a:t>
            </a:r>
            <a:r>
              <a:rPr lang="hu-HU" sz="1200" kern="1200" dirty="0" err="1">
                <a:solidFill>
                  <a:schemeClr val="tx1"/>
                </a:solidFill>
                <a:effectLst/>
                <a:latin typeface="+mn-lt"/>
                <a:ea typeface="+mn-ea"/>
                <a:cs typeface="+mn-cs"/>
              </a:rPr>
              <a:t>proprietary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developed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Cisco.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found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most </a:t>
            </a:r>
            <a:r>
              <a:rPr lang="hu-HU" sz="1200" kern="1200" dirty="0" err="1">
                <a:solidFill>
                  <a:schemeClr val="tx1"/>
                </a:solidFill>
                <a:effectLst/>
                <a:latin typeface="+mn-lt"/>
                <a:ea typeface="+mn-ea"/>
                <a:cs typeface="+mn-cs"/>
              </a:rPr>
              <a:t>optimal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solution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simulating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Internet Service </a:t>
            </a:r>
            <a:r>
              <a:rPr lang="hu-HU" sz="1200" kern="1200" dirty="0" err="1">
                <a:solidFill>
                  <a:schemeClr val="tx1"/>
                </a:solidFill>
                <a:effectLst/>
                <a:latin typeface="+mn-lt"/>
                <a:ea typeface="+mn-ea"/>
                <a:cs typeface="+mn-cs"/>
              </a:rPr>
              <a:t>Provider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low</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convergence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scalability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Applying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ISP1-8,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have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up-to-date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information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topology</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provide</a:t>
            </a:r>
            <a:r>
              <a:rPr lang="hu-HU" sz="1200" kern="1200" dirty="0">
                <a:solidFill>
                  <a:schemeClr val="tx1"/>
                </a:solidFill>
                <a:effectLst/>
                <a:latin typeface="+mn-lt"/>
                <a:ea typeface="+mn-ea"/>
                <a:cs typeface="+mn-cs"/>
              </a:rPr>
              <a:t> consistent platform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17</a:t>
            </a:fld>
            <a:endParaRPr lang="hu-HU"/>
          </a:p>
        </p:txBody>
      </p:sp>
    </p:spTree>
    <p:extLst>
      <p:ext uri="{BB962C8B-B14F-4D97-AF65-F5344CB8AC3E}">
        <p14:creationId xmlns:p14="http://schemas.microsoft.com/office/powerpoint/2010/main" val="3483985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crucial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Layer</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communications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Applying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automatically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shuts</a:t>
            </a:r>
            <a:r>
              <a:rPr lang="hu-HU" sz="1200" kern="1200" dirty="0">
                <a:solidFill>
                  <a:schemeClr val="tx1"/>
                </a:solidFill>
                <a:effectLst/>
                <a:latin typeface="+mn-lt"/>
                <a:ea typeface="+mn-ea"/>
                <a:cs typeface="+mn-cs"/>
              </a:rPr>
              <a:t> down a </a:t>
            </a:r>
            <a:r>
              <a:rPr lang="hu-HU" sz="1200" kern="1200" dirty="0" err="1">
                <a:solidFill>
                  <a:schemeClr val="tx1"/>
                </a:solidFill>
                <a:effectLst/>
                <a:latin typeface="+mn-lt"/>
                <a:ea typeface="+mn-ea"/>
                <a:cs typeface="+mn-cs"/>
              </a:rPr>
              <a:t>pair</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physical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links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preventing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3 </a:t>
            </a:r>
            <a:r>
              <a:rPr lang="hu-HU" sz="1200" kern="1200" dirty="0" err="1">
                <a:solidFill>
                  <a:schemeClr val="tx1"/>
                </a:solidFill>
                <a:effectLst/>
                <a:latin typeface="+mn-lt"/>
                <a:ea typeface="+mn-ea"/>
                <a:cs typeface="+mn-cs"/>
              </a:rPr>
              <a:t>interconnected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cause</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broadcast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strom</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helps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avoiding</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catastrophic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failure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Combining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EtherChannel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which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combines</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phisycal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links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into</a:t>
            </a:r>
            <a:r>
              <a:rPr lang="hu-HU" sz="1200" kern="1200" dirty="0">
                <a:solidFill>
                  <a:schemeClr val="tx1"/>
                </a:solidFill>
                <a:effectLst/>
                <a:latin typeface="+mn-lt"/>
                <a:ea typeface="+mn-ea"/>
                <a:cs typeface="+mn-cs"/>
              </a:rPr>
              <a:t> 1 </a:t>
            </a:r>
            <a:r>
              <a:rPr lang="hu-HU" sz="1200" kern="1200" dirty="0" err="1">
                <a:solidFill>
                  <a:schemeClr val="tx1"/>
                </a:solidFill>
                <a:effectLst/>
                <a:latin typeface="+mn-lt"/>
                <a:ea typeface="+mn-ea"/>
                <a:cs typeface="+mn-cs"/>
              </a:rPr>
              <a:t>logical</a:t>
            </a:r>
            <a:r>
              <a:rPr lang="hu-HU" sz="1200" kern="1200" dirty="0">
                <a:solidFill>
                  <a:schemeClr val="tx1"/>
                </a:solidFill>
                <a:effectLst/>
                <a:latin typeface="+mn-lt"/>
                <a:ea typeface="+mn-ea"/>
                <a:cs typeface="+mn-cs"/>
              </a:rPr>
              <a:t> link, </a:t>
            </a:r>
            <a:r>
              <a:rPr lang="hu-HU" sz="1200" kern="1200" dirty="0" err="1">
                <a:solidFill>
                  <a:schemeClr val="tx1"/>
                </a:solidFill>
                <a:effectLst/>
                <a:latin typeface="+mn-lt"/>
                <a:ea typeface="+mn-ea"/>
                <a:cs typeface="+mn-cs"/>
              </a:rPr>
              <a:t>gives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double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double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transfer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speed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applied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practices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inside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Office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18</a:t>
            </a:fld>
            <a:endParaRPr lang="hu-HU"/>
          </a:p>
        </p:txBody>
      </p:sp>
    </p:spTree>
    <p:extLst>
      <p:ext uri="{BB962C8B-B14F-4D97-AF65-F5344CB8AC3E}">
        <p14:creationId xmlns:p14="http://schemas.microsoft.com/office/powerpoint/2010/main" val="931340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Essential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managing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secure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channel</a:t>
            </a:r>
            <a:r>
              <a:rPr lang="hu-HU" sz="1200" kern="1200" dirty="0">
                <a:solidFill>
                  <a:schemeClr val="tx1"/>
                </a:solidFill>
                <a:effectLst/>
                <a:latin typeface="+mn-lt"/>
                <a:ea typeface="+mn-ea"/>
                <a:cs typeface="+mn-cs"/>
              </a:rPr>
              <a:t>. SSH </a:t>
            </a:r>
            <a:r>
              <a:rPr lang="hu-HU" sz="1200" kern="1200" dirty="0" err="1">
                <a:solidFill>
                  <a:schemeClr val="tx1"/>
                </a:solidFill>
                <a:effectLst/>
                <a:latin typeface="+mn-lt"/>
                <a:ea typeface="+mn-ea"/>
                <a:cs typeface="+mn-cs"/>
              </a:rPr>
              <a:t>prevents</a:t>
            </a:r>
            <a:r>
              <a:rPr lang="hu-HU" sz="1200" kern="1200" dirty="0">
                <a:solidFill>
                  <a:schemeClr val="tx1"/>
                </a:solidFill>
                <a:effectLst/>
                <a:latin typeface="+mn-lt"/>
                <a:ea typeface="+mn-ea"/>
                <a:cs typeface="+mn-cs"/>
              </a:rPr>
              <a:t> Man-in-</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a:t>
            </a:r>
            <a:r>
              <a:rPr lang="hu-HU" sz="1200" kern="1200" dirty="0" err="1">
                <a:solidFill>
                  <a:schemeClr val="tx1"/>
                </a:solidFill>
                <a:effectLst/>
                <a:latin typeface="+mn-lt"/>
                <a:ea typeface="+mn-ea"/>
                <a:cs typeface="+mn-cs"/>
              </a:rPr>
              <a:t>middle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attacks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occouring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public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key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cryptography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existing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ports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interfaces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SSH </a:t>
            </a:r>
            <a:r>
              <a:rPr lang="hu-HU" sz="1200" kern="1200" dirty="0" err="1">
                <a:solidFill>
                  <a:schemeClr val="tx1"/>
                </a:solidFill>
                <a:effectLst/>
                <a:latin typeface="+mn-lt"/>
                <a:ea typeface="+mn-ea"/>
                <a:cs typeface="+mn-cs"/>
              </a:rPr>
              <a:t>connection</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19</a:t>
            </a:fld>
            <a:endParaRPr lang="hu-HU"/>
          </a:p>
        </p:txBody>
      </p:sp>
    </p:spTree>
    <p:extLst>
      <p:ext uri="{BB962C8B-B14F-4D97-AF65-F5344CB8AC3E}">
        <p14:creationId xmlns:p14="http://schemas.microsoft.com/office/powerpoint/2010/main" val="1430314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introduces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series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baseline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endpoint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rouge</a:t>
            </a:r>
            <a:r>
              <a:rPr lang="hu-HU" sz="1200" kern="1200" dirty="0">
                <a:solidFill>
                  <a:schemeClr val="tx1"/>
                </a:solidFill>
                <a:effectLst/>
                <a:latin typeface="+mn-lt"/>
                <a:ea typeface="+mn-ea"/>
                <a:cs typeface="+mn-cs"/>
              </a:rPr>
              <a:t> end </a:t>
            </a:r>
            <a:r>
              <a:rPr lang="hu-HU" sz="1200" kern="1200" dirty="0" err="1">
                <a:solidFill>
                  <a:schemeClr val="tx1"/>
                </a:solidFill>
                <a:effectLst/>
                <a:latin typeface="+mn-lt"/>
                <a:ea typeface="+mn-ea"/>
                <a:cs typeface="+mn-cs"/>
              </a:rPr>
              <a:t>users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connecting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configured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policies</a:t>
            </a:r>
            <a:r>
              <a:rPr lang="hu-HU" sz="1200" kern="1200" dirty="0">
                <a:solidFill>
                  <a:schemeClr val="tx1"/>
                </a:solidFill>
                <a:effectLst/>
                <a:latin typeface="+mn-lt"/>
                <a:ea typeface="+mn-ea"/>
                <a:cs typeface="+mn-cs"/>
              </a:rPr>
              <a:t> ont he </a:t>
            </a:r>
            <a:r>
              <a:rPr lang="hu-HU" sz="1200" kern="1200" dirty="0" err="1">
                <a:solidFill>
                  <a:schemeClr val="tx1"/>
                </a:solidFill>
                <a:effectLst/>
                <a:latin typeface="+mn-lt"/>
                <a:ea typeface="+mn-ea"/>
                <a:cs typeface="+mn-cs"/>
              </a:rPr>
              <a:t>switch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following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be a </a:t>
            </a:r>
            <a:r>
              <a:rPr lang="hu-HU" sz="1200" kern="1200" dirty="0" err="1">
                <a:solidFill>
                  <a:schemeClr val="tx1"/>
                </a:solidFill>
                <a:effectLst/>
                <a:latin typeface="+mn-lt"/>
                <a:ea typeface="+mn-ea"/>
                <a:cs typeface="+mn-cs"/>
              </a:rPr>
              <a:t>specific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amount</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studied</a:t>
            </a:r>
            <a:r>
              <a:rPr lang="hu-HU" sz="1200" kern="1200" dirty="0">
                <a:solidFill>
                  <a:schemeClr val="tx1"/>
                </a:solidFill>
                <a:effectLst/>
                <a:latin typeface="+mn-lt"/>
                <a:ea typeface="+mn-ea"/>
                <a:cs typeface="+mn-cs"/>
              </a:rPr>
              <a:t> MAC-</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per port, and </a:t>
            </a:r>
            <a:r>
              <a:rPr lang="hu-HU" sz="1200" kern="1200" dirty="0" err="1">
                <a:solidFill>
                  <a:schemeClr val="tx1"/>
                </a:solidFill>
                <a:effectLst/>
                <a:latin typeface="+mn-lt"/>
                <a:ea typeface="+mn-ea"/>
                <a:cs typeface="+mn-cs"/>
              </a:rPr>
              <a:t>violating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rule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cause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given</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shut</a:t>
            </a:r>
            <a:r>
              <a:rPr lang="hu-HU" sz="1200" kern="1200" dirty="0">
                <a:solidFill>
                  <a:schemeClr val="tx1"/>
                </a:solidFill>
                <a:effectLst/>
                <a:latin typeface="+mn-lt"/>
                <a:ea typeface="+mn-ea"/>
                <a:cs typeface="+mn-cs"/>
              </a:rPr>
              <a:t> down.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20</a:t>
            </a:fld>
            <a:endParaRPr lang="hu-HU"/>
          </a:p>
        </p:txBody>
      </p:sp>
    </p:spTree>
    <p:extLst>
      <p:ext uri="{BB962C8B-B14F-4D97-AF65-F5344CB8AC3E}">
        <p14:creationId xmlns:p14="http://schemas.microsoft.com/office/powerpoint/2010/main" val="379266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factory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towards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central</a:t>
            </a:r>
            <a:r>
              <a:rPr lang="hu-HU" sz="1200" kern="1200" dirty="0">
                <a:solidFill>
                  <a:schemeClr val="tx1"/>
                </a:solidFill>
                <a:effectLst/>
                <a:latin typeface="+mn-lt"/>
                <a:ea typeface="+mn-ea"/>
                <a:cs typeface="+mn-cs"/>
              </a:rPr>
              <a:t> server is </a:t>
            </a:r>
            <a:r>
              <a:rPr lang="hu-HU" sz="1200" kern="1200" dirty="0" err="1">
                <a:solidFill>
                  <a:schemeClr val="tx1"/>
                </a:solidFill>
                <a:effectLst/>
                <a:latin typeface="+mn-lt"/>
                <a:ea typeface="+mn-ea"/>
                <a:cs typeface="+mn-cs"/>
              </a:rPr>
              <a:t>monitorted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allows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handful</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manually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picked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server, and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alllows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encrypted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communication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achieved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detecting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certain</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blocking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their</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number</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21</a:t>
            </a:fld>
            <a:endParaRPr lang="hu-HU"/>
          </a:p>
        </p:txBody>
      </p:sp>
    </p:spTree>
    <p:extLst>
      <p:ext uri="{BB962C8B-B14F-4D97-AF65-F5344CB8AC3E}">
        <p14:creationId xmlns:p14="http://schemas.microsoft.com/office/powerpoint/2010/main" val="958944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t>
            </a:r>
            <a:r>
              <a:rPr lang="hu-HU" sz="1200" kern="1200" dirty="0" err="1">
                <a:solidFill>
                  <a:schemeClr val="tx1"/>
                </a:solidFill>
                <a:effectLst/>
                <a:latin typeface="+mn-lt"/>
                <a:ea typeface="+mn-ea"/>
                <a:cs typeface="+mn-cs"/>
              </a:rPr>
              <a:t>Active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Directory</a:t>
            </a:r>
            <a:r>
              <a:rPr lang="hu-HU" sz="1200" kern="1200" dirty="0">
                <a:solidFill>
                  <a:schemeClr val="tx1"/>
                </a:solidFill>
                <a:effectLst/>
                <a:latin typeface="+mn-lt"/>
                <a:ea typeface="+mn-ea"/>
                <a:cs typeface="+mn-cs"/>
              </a:rPr>
              <a:t>-t használjuk, mint központi hitelesítő rendszer. Ez biztosít nekünk felhasználókezelést, csoport alapú jogosultság kezelést, erőforrás hozzáférés szabályozást.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23</a:t>
            </a:fld>
            <a:endParaRPr lang="hu-HU"/>
          </a:p>
        </p:txBody>
      </p:sp>
    </p:spTree>
    <p:extLst>
      <p:ext uri="{BB962C8B-B14F-4D97-AF65-F5344CB8AC3E}">
        <p14:creationId xmlns:p14="http://schemas.microsoft.com/office/powerpoint/2010/main" val="732527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t>
            </a:r>
            <a:r>
              <a:rPr lang="hu-HU" sz="1200" kern="1200" dirty="0" err="1">
                <a:solidFill>
                  <a:schemeClr val="tx1"/>
                </a:solidFill>
                <a:effectLst/>
                <a:latin typeface="+mn-lt"/>
                <a:ea typeface="+mn-ea"/>
                <a:cs typeface="+mn-cs"/>
              </a:rPr>
              <a:t>egydomaines</a:t>
            </a:r>
            <a:r>
              <a:rPr lang="hu-HU" sz="1200" kern="1200" dirty="0">
                <a:solidFill>
                  <a:schemeClr val="tx1"/>
                </a:solidFill>
                <a:effectLst/>
                <a:latin typeface="+mn-lt"/>
                <a:ea typeface="+mn-ea"/>
                <a:cs typeface="+mn-cs"/>
              </a:rPr>
              <a:t> környezet: </a:t>
            </a:r>
            <a:r>
              <a:rPr lang="hu-HU" sz="1200" b="1" kern="1200" dirty="0">
                <a:solidFill>
                  <a:schemeClr val="tx1"/>
                </a:solidFill>
                <a:effectLst/>
                <a:latin typeface="+mn-lt"/>
                <a:ea typeface="+mn-ea"/>
                <a:cs typeface="+mn-cs"/>
              </a:rPr>
              <a:t>corp.migazzi.com</a:t>
            </a:r>
            <a:r>
              <a:rPr lang="hu-HU" sz="1200" kern="1200" dirty="0">
                <a:solidFill>
                  <a:schemeClr val="tx1"/>
                </a:solidFill>
                <a:effectLst/>
                <a:latin typeface="+mn-lt"/>
                <a:ea typeface="+mn-ea"/>
                <a:cs typeface="+mn-cs"/>
              </a:rPr>
              <a:t>. Részleg alapú OU struktúrát alapítottunk ki, ez biztosítja, hogy a GPO-</a:t>
            </a:r>
            <a:r>
              <a:rPr lang="hu-HU" sz="1200" kern="1200" dirty="0" err="1">
                <a:solidFill>
                  <a:schemeClr val="tx1"/>
                </a:solidFill>
                <a:effectLst/>
                <a:latin typeface="+mn-lt"/>
                <a:ea typeface="+mn-ea"/>
                <a:cs typeface="+mn-cs"/>
              </a:rPr>
              <a:t>kat</a:t>
            </a:r>
            <a:r>
              <a:rPr lang="hu-HU" sz="1200" kern="1200" dirty="0">
                <a:solidFill>
                  <a:schemeClr val="tx1"/>
                </a:solidFill>
                <a:effectLst/>
                <a:latin typeface="+mn-lt"/>
                <a:ea typeface="+mn-ea"/>
                <a:cs typeface="+mn-cs"/>
              </a:rPr>
              <a:t> tudjuk a megfelelő szinteken alkalmazni. 3 fő OU található, és alattuk a különböző céges szervezeti egységek. </a:t>
            </a:r>
            <a:r>
              <a:rPr lang="hu-HU" sz="1200" kern="1200" dirty="0" err="1">
                <a:solidFill>
                  <a:schemeClr val="tx1"/>
                </a:solidFill>
                <a:effectLst/>
                <a:latin typeface="+mn-lt"/>
                <a:ea typeface="+mn-ea"/>
                <a:cs typeface="+mn-cs"/>
              </a:rPr>
              <a:t>Emelett</a:t>
            </a:r>
            <a:r>
              <a:rPr lang="hu-HU" sz="1200" kern="1200" dirty="0">
                <a:solidFill>
                  <a:schemeClr val="tx1"/>
                </a:solidFill>
                <a:effectLst/>
                <a:latin typeface="+mn-lt"/>
                <a:ea typeface="+mn-ea"/>
                <a:cs typeface="+mn-cs"/>
              </a:rPr>
              <a:t> van egy külön service </a:t>
            </a:r>
            <a:r>
              <a:rPr lang="hu-HU" sz="1200" kern="1200" dirty="0" err="1">
                <a:solidFill>
                  <a:schemeClr val="tx1"/>
                </a:solidFill>
                <a:effectLst/>
                <a:latin typeface="+mn-lt"/>
                <a:ea typeface="+mn-ea"/>
                <a:cs typeface="+mn-cs"/>
              </a:rPr>
              <a:t>accounts</a:t>
            </a:r>
            <a:r>
              <a:rPr lang="hu-HU" sz="1200" kern="1200" dirty="0">
                <a:solidFill>
                  <a:schemeClr val="tx1"/>
                </a:solidFill>
                <a:effectLst/>
                <a:latin typeface="+mn-lt"/>
                <a:ea typeface="+mn-ea"/>
                <a:cs typeface="+mn-cs"/>
              </a:rPr>
              <a:t> tároló is.</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24</a:t>
            </a:fld>
            <a:endParaRPr lang="hu-HU"/>
          </a:p>
        </p:txBody>
      </p:sp>
    </p:spTree>
    <p:extLst>
      <p:ext uri="{BB962C8B-B14F-4D97-AF65-F5344CB8AC3E}">
        <p14:creationId xmlns:p14="http://schemas.microsoft.com/office/powerpoint/2010/main" val="922889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Van egy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szintű jelszóházirend, ami kötelező jelszócserét kér első bejelentkezéskor. 90 napos lejárata van egy jelszónak, illetve az első 5 jelszót megjegyzi, hogy ne lehessen ugyanazt a 2 jelszót cserélgetni. A megadott jelszónak meg kell felelnie egy bizonyos jelszó-komplexitási előírásnak. Ebben az esetben: Minimum 8 karakter, és tartalmazzon kell: kisbetűt, nagybetűt, számot és speciális karaktert is.</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25</a:t>
            </a:fld>
            <a:endParaRPr lang="hu-HU"/>
          </a:p>
        </p:txBody>
      </p:sp>
    </p:spTree>
    <p:extLst>
      <p:ext uri="{BB962C8B-B14F-4D97-AF65-F5344CB8AC3E}">
        <p14:creationId xmlns:p14="http://schemas.microsoft.com/office/powerpoint/2010/main" val="903327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Jogosultságokat nem személyes, hanem csoport alapon osszuk ki. Ezek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Groupok, amelyeknek tagjai bizonyos felhasználók. A képen lévő példa egy megosztott mappa írási, olvasási jogosultságai kezeli.</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26</a:t>
            </a:fld>
            <a:endParaRPr lang="hu-HU"/>
          </a:p>
        </p:txBody>
      </p:sp>
    </p:spTree>
    <p:extLst>
      <p:ext uri="{BB962C8B-B14F-4D97-AF65-F5344CB8AC3E}">
        <p14:creationId xmlns:p14="http://schemas.microsoft.com/office/powerpoint/2010/main" val="101961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Fontos nekünk a rendszer redundanciája, ezért 2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kontrollert csatoltunk a tartományhoz, mindkettő folyamatosan aktív, és nem </a:t>
            </a:r>
            <a:r>
              <a:rPr lang="hu-HU" sz="1200" kern="1200" dirty="0" err="1">
                <a:solidFill>
                  <a:schemeClr val="tx1"/>
                </a:solidFill>
                <a:effectLst/>
                <a:latin typeface="+mn-lt"/>
                <a:ea typeface="+mn-ea"/>
                <a:cs typeface="+mn-cs"/>
              </a:rPr>
              <a:t>failoverben</a:t>
            </a:r>
            <a:r>
              <a:rPr lang="hu-HU" sz="1200" kern="1200" dirty="0">
                <a:solidFill>
                  <a:schemeClr val="tx1"/>
                </a:solidFill>
                <a:effectLst/>
                <a:latin typeface="+mn-lt"/>
                <a:ea typeface="+mn-ea"/>
                <a:cs typeface="+mn-cs"/>
              </a:rPr>
              <a:t> működnek. Ez egy bent terheléses elosztást is tud biztosítani. Mindkettő egyben AD integrált DNS szerver is. Ez azért fontos, mert DNS nélkül nincs AD. Replikáció is működik, tehát ha az egyiken változás történik, akkor a másik is </a:t>
            </a:r>
            <a:r>
              <a:rPr lang="hu-HU" sz="1200" kern="1200" dirty="0" err="1">
                <a:solidFill>
                  <a:schemeClr val="tx1"/>
                </a:solidFill>
                <a:effectLst/>
                <a:latin typeface="+mn-lt"/>
                <a:ea typeface="+mn-ea"/>
                <a:cs typeface="+mn-cs"/>
              </a:rPr>
              <a:t>végrehajtódik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27</a:t>
            </a:fld>
            <a:endParaRPr lang="hu-HU"/>
          </a:p>
        </p:txBody>
      </p:sp>
    </p:spTree>
    <p:extLst>
      <p:ext uri="{BB962C8B-B14F-4D97-AF65-F5344CB8AC3E}">
        <p14:creationId xmlns:p14="http://schemas.microsoft.com/office/powerpoint/2010/main" val="1513780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Mint előbb említettük, ez az AD működés alapja, vannak </a:t>
            </a:r>
            <a:r>
              <a:rPr lang="hu-HU" sz="1200" kern="1200" dirty="0" err="1">
                <a:solidFill>
                  <a:schemeClr val="tx1"/>
                </a:solidFill>
                <a:effectLst/>
                <a:latin typeface="+mn-lt"/>
                <a:ea typeface="+mn-ea"/>
                <a:cs typeface="+mn-cs"/>
              </a:rPr>
              <a:t>forward</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reverse</a:t>
            </a:r>
            <a:r>
              <a:rPr lang="hu-HU" sz="1200" kern="1200" dirty="0">
                <a:solidFill>
                  <a:schemeClr val="tx1"/>
                </a:solidFill>
                <a:effectLst/>
                <a:latin typeface="+mn-lt"/>
                <a:ea typeface="+mn-ea"/>
                <a:cs typeface="+mn-cs"/>
              </a:rPr>
              <a:t> keresési zónáink: IP címhez keresünk </a:t>
            </a:r>
            <a:r>
              <a:rPr lang="hu-HU" sz="1200" kern="1200" dirty="0" err="1">
                <a:solidFill>
                  <a:schemeClr val="tx1"/>
                </a:solidFill>
                <a:effectLst/>
                <a:latin typeface="+mn-lt"/>
                <a:ea typeface="+mn-ea"/>
                <a:cs typeface="+mn-cs"/>
              </a:rPr>
              <a:t>hostnevet</a:t>
            </a:r>
            <a:r>
              <a:rPr lang="hu-HU" sz="1200" kern="1200" dirty="0">
                <a:solidFill>
                  <a:schemeClr val="tx1"/>
                </a:solidFill>
                <a:effectLst/>
                <a:latin typeface="+mn-lt"/>
                <a:ea typeface="+mn-ea"/>
                <a:cs typeface="+mn-cs"/>
              </a:rPr>
              <a:t>, vagy </a:t>
            </a:r>
            <a:r>
              <a:rPr lang="hu-HU" sz="1200" kern="1200" dirty="0" err="1">
                <a:solidFill>
                  <a:schemeClr val="tx1"/>
                </a:solidFill>
                <a:effectLst/>
                <a:latin typeface="+mn-lt"/>
                <a:ea typeface="+mn-ea"/>
                <a:cs typeface="+mn-cs"/>
              </a:rPr>
              <a:t>hostnévhez</a:t>
            </a:r>
            <a:r>
              <a:rPr lang="hu-HU" sz="1200" kern="1200" dirty="0">
                <a:solidFill>
                  <a:schemeClr val="tx1"/>
                </a:solidFill>
                <a:effectLst/>
                <a:latin typeface="+mn-lt"/>
                <a:ea typeface="+mn-ea"/>
                <a:cs typeface="+mn-cs"/>
              </a:rPr>
              <a:t> keresünk IP címet. A képen egy </a:t>
            </a:r>
            <a:r>
              <a:rPr lang="hu-HU" sz="1200" kern="1200" dirty="0" err="1">
                <a:solidFill>
                  <a:schemeClr val="tx1"/>
                </a:solidFill>
                <a:effectLst/>
                <a:latin typeface="+mn-lt"/>
                <a:ea typeface="+mn-ea"/>
                <a:cs typeface="+mn-cs"/>
              </a:rPr>
              <a:t>forward</a:t>
            </a:r>
            <a:r>
              <a:rPr lang="hu-HU" sz="1200" kern="1200" dirty="0">
                <a:solidFill>
                  <a:schemeClr val="tx1"/>
                </a:solidFill>
                <a:effectLst/>
                <a:latin typeface="+mn-lt"/>
                <a:ea typeface="+mn-ea"/>
                <a:cs typeface="+mn-cs"/>
              </a:rPr>
              <a:t> keresési zónát láthatunk.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28</a:t>
            </a:fld>
            <a:endParaRPr lang="hu-HU"/>
          </a:p>
        </p:txBody>
      </p:sp>
    </p:spTree>
    <p:extLst>
      <p:ext uri="{BB962C8B-B14F-4D97-AF65-F5344CB8AC3E}">
        <p14:creationId xmlns:p14="http://schemas.microsoft.com/office/powerpoint/2010/main" val="132224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Ezeket meghajtó csatolására, vállalati arculatra, és szoftvertelepítésre használtuk, de ezen kívül még rengeteg másra képesek.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29</a:t>
            </a:fld>
            <a:endParaRPr lang="hu-HU"/>
          </a:p>
        </p:txBody>
      </p:sp>
    </p:spTree>
    <p:extLst>
      <p:ext uri="{BB962C8B-B14F-4D97-AF65-F5344CB8AC3E}">
        <p14:creationId xmlns:p14="http://schemas.microsoft.com/office/powerpoint/2010/main" val="2959973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képen látható példa minden dolgozó számára </a:t>
            </a:r>
            <a:r>
              <a:rPr lang="hu-HU" sz="1200" kern="1200" dirty="0" err="1">
                <a:solidFill>
                  <a:schemeClr val="tx1"/>
                </a:solidFill>
                <a:effectLst/>
                <a:latin typeface="+mn-lt"/>
                <a:ea typeface="+mn-ea"/>
                <a:cs typeface="+mn-cs"/>
              </a:rPr>
              <a:t>felcsatolódik</a:t>
            </a:r>
            <a:r>
              <a:rPr lang="hu-HU" sz="1200" kern="1200" dirty="0">
                <a:solidFill>
                  <a:schemeClr val="tx1"/>
                </a:solidFill>
                <a:effectLst/>
                <a:latin typeface="+mn-lt"/>
                <a:ea typeface="+mn-ea"/>
                <a:cs typeface="+mn-cs"/>
              </a:rPr>
              <a:t>, S: néven (</a:t>
            </a:r>
            <a:r>
              <a:rPr lang="hu-HU" sz="1200" kern="1200" dirty="0" err="1">
                <a:solidFill>
                  <a:schemeClr val="tx1"/>
                </a:solidFill>
                <a:effectLst/>
                <a:latin typeface="+mn-lt"/>
                <a:ea typeface="+mn-ea"/>
                <a:cs typeface="+mn-cs"/>
              </a:rPr>
              <a:t>shared</a:t>
            </a:r>
            <a:r>
              <a:rPr lang="hu-HU" sz="1200" kern="1200" dirty="0">
                <a:solidFill>
                  <a:schemeClr val="tx1"/>
                </a:solidFill>
                <a:effectLst/>
                <a:latin typeface="+mn-lt"/>
                <a:ea typeface="+mn-ea"/>
                <a:cs typeface="+mn-cs"/>
              </a:rPr>
              <a:t>). Ebben céges dokumentációk, szabályzatok találhatók, amik minden alkalmazottra érvényesek.</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30</a:t>
            </a:fld>
            <a:endParaRPr lang="hu-HU"/>
          </a:p>
        </p:txBody>
      </p:sp>
    </p:spTree>
    <p:extLst>
      <p:ext uri="{BB962C8B-B14F-4D97-AF65-F5344CB8AC3E}">
        <p14:creationId xmlns:p14="http://schemas.microsoft.com/office/powerpoint/2010/main" val="6020672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Csak a megfelelő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groupnak</a:t>
            </a:r>
            <a:r>
              <a:rPr lang="hu-HU" sz="1200" kern="1200" dirty="0">
                <a:solidFill>
                  <a:schemeClr val="tx1"/>
                </a:solidFill>
                <a:effectLst/>
                <a:latin typeface="+mn-lt"/>
                <a:ea typeface="+mn-ea"/>
                <a:cs typeface="+mn-cs"/>
              </a:rPr>
              <a:t> a tagjainak van hozzáférése, illetve üzleti indokkal más szervezetek is kaphatnak hozzá olvasási jogot. Ezzel megvalósul a legkisebb jogosultság elve. *Képen lévő példát szemléltetjük*</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31</a:t>
            </a:fld>
            <a:endParaRPr lang="hu-HU"/>
          </a:p>
        </p:txBody>
      </p:sp>
    </p:spTree>
    <p:extLst>
      <p:ext uri="{BB962C8B-B14F-4D97-AF65-F5344CB8AC3E}">
        <p14:creationId xmlns:p14="http://schemas.microsoft.com/office/powerpoint/2010/main" val="37218429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Van egy egységes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háttérképünk, ami 2 funkciót tölt be: Egységes vállalti arculatot ad, és egyben biztonsági funkciót ad, ezzel kiszűrhetők az illetéktelen felhasználók. Van egy alap háttérkép, ami minden </a:t>
            </a:r>
            <a:r>
              <a:rPr lang="hu-HU" sz="1200" kern="1200" dirty="0" err="1">
                <a:solidFill>
                  <a:schemeClr val="tx1"/>
                </a:solidFill>
                <a:effectLst/>
                <a:latin typeface="+mn-lt"/>
                <a:ea typeface="+mn-ea"/>
                <a:cs typeface="+mn-cs"/>
              </a:rPr>
              <a:t>domainba</a:t>
            </a:r>
            <a:r>
              <a:rPr lang="hu-HU" sz="1200" kern="1200" dirty="0">
                <a:solidFill>
                  <a:schemeClr val="tx1"/>
                </a:solidFill>
                <a:effectLst/>
                <a:latin typeface="+mn-lt"/>
                <a:ea typeface="+mn-ea"/>
                <a:cs typeface="+mn-cs"/>
              </a:rPr>
              <a:t> tartozó gépnek van, illetve egy </a:t>
            </a:r>
            <a:r>
              <a:rPr lang="hu-HU" sz="1200" kern="1200" dirty="0" err="1">
                <a:solidFill>
                  <a:schemeClr val="tx1"/>
                </a:solidFill>
                <a:effectLst/>
                <a:latin typeface="+mn-lt"/>
                <a:ea typeface="+mn-ea"/>
                <a:cs typeface="+mn-cs"/>
              </a:rPr>
              <a:t>exklúzív</a:t>
            </a:r>
            <a:r>
              <a:rPr lang="hu-HU" sz="1200" kern="1200" dirty="0">
                <a:solidFill>
                  <a:schemeClr val="tx1"/>
                </a:solidFill>
                <a:effectLst/>
                <a:latin typeface="+mn-lt"/>
                <a:ea typeface="+mn-ea"/>
                <a:cs typeface="+mn-cs"/>
              </a:rPr>
              <a:t> háttér a management-</a:t>
            </a:r>
            <a:r>
              <a:rPr lang="hu-HU" sz="1200" kern="1200" dirty="0" err="1">
                <a:solidFill>
                  <a:schemeClr val="tx1"/>
                </a:solidFill>
                <a:effectLst/>
                <a:latin typeface="+mn-lt"/>
                <a:ea typeface="+mn-ea"/>
                <a:cs typeface="+mn-cs"/>
              </a:rPr>
              <a:t>nek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32</a:t>
            </a:fld>
            <a:endParaRPr lang="hu-HU"/>
          </a:p>
        </p:txBody>
      </p:sp>
    </p:spTree>
    <p:extLst>
      <p:ext uri="{BB962C8B-B14F-4D97-AF65-F5344CB8AC3E}">
        <p14:creationId xmlns:p14="http://schemas.microsoft.com/office/powerpoint/2010/main" val="2264439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Annyiban eltér a többitől, hogy telepítést alkalmaztunk a </a:t>
            </a:r>
            <a:r>
              <a:rPr lang="hu-HU" sz="1200" kern="1200" dirty="0" err="1">
                <a:solidFill>
                  <a:schemeClr val="tx1"/>
                </a:solidFill>
                <a:effectLst/>
                <a:latin typeface="+mn-lt"/>
                <a:ea typeface="+mn-ea"/>
                <a:cs typeface="+mn-cs"/>
              </a:rPr>
              <a:t>PuTTY</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WinSCP</a:t>
            </a:r>
            <a:r>
              <a:rPr lang="hu-HU" sz="1200" kern="1200" dirty="0">
                <a:solidFill>
                  <a:schemeClr val="tx1"/>
                </a:solidFill>
                <a:effectLst/>
                <a:latin typeface="+mn-lt"/>
                <a:ea typeface="+mn-ea"/>
                <a:cs typeface="+mn-cs"/>
              </a:rPr>
              <a:t> programokra. Ezek lényegében előre jóvá hagyott csomagok kézzel indított telepítése. Ezt azért kell így csinálni, mert ők tagjai a tartományi adminisztrátorok csoportnak, ezért nekik semmi nem telepíthető fel automatikusan.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33</a:t>
            </a:fld>
            <a:endParaRPr lang="hu-HU"/>
          </a:p>
        </p:txBody>
      </p:sp>
    </p:spTree>
    <p:extLst>
      <p:ext uri="{BB962C8B-B14F-4D97-AF65-F5344CB8AC3E}">
        <p14:creationId xmlns:p14="http://schemas.microsoft.com/office/powerpoint/2010/main" val="2428055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Mivel üzleti szempontból kritikus adatbázisokat működtetünk, ezért nem engedhető meg semmilyen adatvesztés, vagy üzemből való kiesés. Ezeknek 0-24-ben működnie kell.</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34</a:t>
            </a:fld>
            <a:endParaRPr lang="hu-HU"/>
          </a:p>
        </p:txBody>
      </p:sp>
    </p:spTree>
    <p:extLst>
      <p:ext uri="{BB962C8B-B14F-4D97-AF65-F5344CB8AC3E}">
        <p14:creationId xmlns:p14="http://schemas.microsoft.com/office/powerpoint/2010/main" val="3180463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2db SQL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van. Az „</a:t>
            </a:r>
            <a:r>
              <a:rPr lang="hu-HU" sz="1200" kern="1200" dirty="0" err="1">
                <a:solidFill>
                  <a:schemeClr val="tx1"/>
                </a:solidFill>
                <a:effectLst/>
                <a:latin typeface="+mn-lt"/>
                <a:ea typeface="+mn-ea"/>
                <a:cs typeface="+mn-cs"/>
              </a:rPr>
              <a:t>Always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High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a Windows Server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Clusterre</a:t>
            </a:r>
            <a:r>
              <a:rPr lang="hu-HU" sz="1200" kern="1200" dirty="0">
                <a:solidFill>
                  <a:schemeClr val="tx1"/>
                </a:solidFill>
                <a:effectLst/>
                <a:latin typeface="+mn-lt"/>
                <a:ea typeface="+mn-ea"/>
                <a:cs typeface="+mn-cs"/>
              </a:rPr>
              <a:t> alapuló speciális rendszer. </a:t>
            </a:r>
            <a:r>
              <a:rPr lang="hu-HU" sz="1200" b="1" kern="1200" dirty="0">
                <a:solidFill>
                  <a:schemeClr val="tx1"/>
                </a:solidFill>
                <a:effectLst/>
                <a:latin typeface="+mn-lt"/>
                <a:ea typeface="+mn-ea"/>
                <a:cs typeface="+mn-cs"/>
              </a:rPr>
              <a:t>EZT MÉG KI KELL EGÉSZÍTENI </a:t>
            </a:r>
            <a:r>
              <a:rPr lang="hu-HU" sz="1200" kern="1200" dirty="0">
                <a:solidFill>
                  <a:schemeClr val="tx1"/>
                </a:solidFill>
                <a:effectLst/>
                <a:latin typeface="+mn-lt"/>
                <a:ea typeface="+mn-ea"/>
                <a:cs typeface="+mn-cs"/>
              </a:rPr>
              <a:t>Létre kell hozni egy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Group-ot, ebbe tartozik bele a 2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és van egy </a:t>
            </a:r>
            <a:r>
              <a:rPr lang="hu-HU" sz="1200" kern="1200" dirty="0" err="1">
                <a:solidFill>
                  <a:schemeClr val="tx1"/>
                </a:solidFill>
                <a:effectLst/>
                <a:latin typeface="+mn-lt"/>
                <a:ea typeface="+mn-ea"/>
                <a:cs typeface="+mn-cs"/>
              </a:rPr>
              <a:t>Listenerje</a:t>
            </a:r>
            <a:r>
              <a:rPr lang="hu-HU" sz="1200" kern="1200" dirty="0">
                <a:solidFill>
                  <a:schemeClr val="tx1"/>
                </a:solidFill>
                <a:effectLst/>
                <a:latin typeface="+mn-lt"/>
                <a:ea typeface="+mn-ea"/>
                <a:cs typeface="+mn-cs"/>
              </a:rPr>
              <a:t> és egy File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Witness</a:t>
            </a:r>
            <a:r>
              <a:rPr lang="hu-HU" sz="1200" kern="1200" dirty="0">
                <a:solidFill>
                  <a:schemeClr val="tx1"/>
                </a:solidFill>
                <a:effectLst/>
                <a:latin typeface="+mn-lt"/>
                <a:ea typeface="+mn-ea"/>
                <a:cs typeface="+mn-cs"/>
              </a:rPr>
              <a:t>-e.</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35</a:t>
            </a:fld>
            <a:endParaRPr lang="hu-HU"/>
          </a:p>
        </p:txBody>
      </p:sp>
    </p:spTree>
    <p:extLst>
      <p:ext uri="{BB962C8B-B14F-4D97-AF65-F5344CB8AC3E}">
        <p14:creationId xmlns:p14="http://schemas.microsoft.com/office/powerpoint/2010/main" val="1695059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Szinkron replikáción alapul, a képen is lehet látni a </a:t>
            </a:r>
            <a:r>
              <a:rPr lang="hu-HU" sz="1200" kern="1200" dirty="0" err="1">
                <a:solidFill>
                  <a:schemeClr val="tx1"/>
                </a:solidFill>
                <a:effectLst/>
                <a:latin typeface="+mn-lt"/>
                <a:ea typeface="+mn-ea"/>
                <a:cs typeface="+mn-cs"/>
              </a:rPr>
              <a:t>primary</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secondary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groupban</a:t>
            </a:r>
            <a:r>
              <a:rPr lang="hu-HU" sz="1200" kern="1200" dirty="0">
                <a:solidFill>
                  <a:schemeClr val="tx1"/>
                </a:solidFill>
                <a:effectLst/>
                <a:latin typeface="+mn-lt"/>
                <a:ea typeface="+mn-ea"/>
                <a:cs typeface="+mn-cs"/>
              </a:rPr>
              <a:t> lévő SQLAG elemeket, amik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esetén megfordulnak. A replikáció szerint, ha az egyik adatbázisban változás van, akkor a másikban is átíródik. A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lehet automatikus vagy kézzel indított is. A </a:t>
            </a:r>
            <a:r>
              <a:rPr lang="hu-HU" sz="1200" kern="1200" dirty="0" err="1">
                <a:solidFill>
                  <a:schemeClr val="tx1"/>
                </a:solidFill>
                <a:effectLst/>
                <a:latin typeface="+mn-lt"/>
                <a:ea typeface="+mn-ea"/>
                <a:cs typeface="+mn-cs"/>
              </a:rPr>
              <a:t>Listener</a:t>
            </a:r>
            <a:r>
              <a:rPr lang="hu-HU" sz="1200" kern="1200" dirty="0">
                <a:solidFill>
                  <a:schemeClr val="tx1"/>
                </a:solidFill>
                <a:effectLst/>
                <a:latin typeface="+mn-lt"/>
                <a:ea typeface="+mn-ea"/>
                <a:cs typeface="+mn-cs"/>
              </a:rPr>
              <a:t> IP az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groupnak</a:t>
            </a:r>
            <a:r>
              <a:rPr lang="hu-HU" sz="1200" kern="1200" dirty="0">
                <a:solidFill>
                  <a:schemeClr val="tx1"/>
                </a:solidFill>
                <a:effectLst/>
                <a:latin typeface="+mn-lt"/>
                <a:ea typeface="+mn-ea"/>
                <a:cs typeface="+mn-cs"/>
              </a:rPr>
              <a:t> az IP címe. Ez egy virtuális IP, aminek a segítségével mindkettő szervert tudjuk használni, és a csoportkezelő tudja, hogy melyik </a:t>
            </a:r>
            <a:r>
              <a:rPr lang="hu-HU" sz="1200" kern="1200" dirty="0" err="1">
                <a:solidFill>
                  <a:schemeClr val="tx1"/>
                </a:solidFill>
                <a:effectLst/>
                <a:latin typeface="+mn-lt"/>
                <a:ea typeface="+mn-ea"/>
                <a:cs typeface="+mn-cs"/>
              </a:rPr>
              <a:t>node-al</a:t>
            </a:r>
            <a:r>
              <a:rPr lang="hu-HU" sz="1200" kern="1200" dirty="0">
                <a:solidFill>
                  <a:schemeClr val="tx1"/>
                </a:solidFill>
                <a:effectLst/>
                <a:latin typeface="+mn-lt"/>
                <a:ea typeface="+mn-ea"/>
                <a:cs typeface="+mn-cs"/>
              </a:rPr>
              <a:t> kell kommunikálni.</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36</a:t>
            </a:fld>
            <a:endParaRPr lang="hu-HU"/>
          </a:p>
        </p:txBody>
      </p:sp>
    </p:spTree>
    <p:extLst>
      <p:ext uri="{BB962C8B-B14F-4D97-AF65-F5344CB8AC3E}">
        <p14:creationId xmlns:p14="http://schemas.microsoft.com/office/powerpoint/2010/main" val="1319567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Egy </a:t>
            </a:r>
            <a:r>
              <a:rPr lang="hu-HU" sz="1200" kern="1200" dirty="0" err="1">
                <a:solidFill>
                  <a:schemeClr val="tx1"/>
                </a:solidFill>
                <a:effectLst/>
                <a:latin typeface="+mn-lt"/>
                <a:ea typeface="+mn-ea"/>
                <a:cs typeface="+mn-cs"/>
              </a:rPr>
              <a:t>clusternek</a:t>
            </a:r>
            <a:r>
              <a:rPr lang="hu-HU" sz="1200" kern="1200" dirty="0">
                <a:solidFill>
                  <a:schemeClr val="tx1"/>
                </a:solidFill>
                <a:effectLst/>
                <a:latin typeface="+mn-lt"/>
                <a:ea typeface="+mn-ea"/>
                <a:cs typeface="+mn-cs"/>
              </a:rPr>
              <a:t> bizonyos mennyiségű szavazatra van szüksége, hogy </a:t>
            </a:r>
            <a:r>
              <a:rPr lang="hu-HU" sz="1200" kern="1200" dirty="0" err="1">
                <a:solidFill>
                  <a:schemeClr val="tx1"/>
                </a:solidFill>
                <a:effectLst/>
                <a:latin typeface="+mn-lt"/>
                <a:ea typeface="+mn-ea"/>
                <a:cs typeface="+mn-cs"/>
              </a:rPr>
              <a:t>működjön</a:t>
            </a:r>
            <a:r>
              <a:rPr lang="hu-HU" sz="1200" kern="1200" dirty="0">
                <a:solidFill>
                  <a:schemeClr val="tx1"/>
                </a:solidFill>
                <a:effectLst/>
                <a:latin typeface="+mn-lt"/>
                <a:ea typeface="+mn-ea"/>
                <a:cs typeface="+mn-cs"/>
              </a:rPr>
              <a:t>, másképpen leáll. Ebben az esetben ez 2. Ha egy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megáll, akkor nem teljesül a </a:t>
            </a:r>
            <a:r>
              <a:rPr lang="hu-HU" sz="1200" kern="1200" dirty="0" err="1">
                <a:solidFill>
                  <a:schemeClr val="tx1"/>
                </a:solidFill>
                <a:effectLst/>
                <a:latin typeface="+mn-lt"/>
                <a:ea typeface="+mn-ea"/>
                <a:cs typeface="+mn-cs"/>
              </a:rPr>
              <a:t>Quorum</a:t>
            </a:r>
            <a:r>
              <a:rPr lang="hu-HU" sz="1200" kern="1200" dirty="0">
                <a:solidFill>
                  <a:schemeClr val="tx1"/>
                </a:solidFill>
                <a:effectLst/>
                <a:latin typeface="+mn-lt"/>
                <a:ea typeface="+mn-ea"/>
                <a:cs typeface="+mn-cs"/>
              </a:rPr>
              <a:t>, nincs meg 2 szavazat, és a </a:t>
            </a:r>
            <a:r>
              <a:rPr lang="hu-HU" sz="1200" kern="1200" dirty="0" err="1">
                <a:solidFill>
                  <a:schemeClr val="tx1"/>
                </a:solidFill>
                <a:effectLst/>
                <a:latin typeface="+mn-lt"/>
                <a:ea typeface="+mn-ea"/>
                <a:cs typeface="+mn-cs"/>
              </a:rPr>
              <a:t>cluster</a:t>
            </a:r>
            <a:r>
              <a:rPr lang="hu-HU" sz="1200" kern="1200" dirty="0">
                <a:solidFill>
                  <a:schemeClr val="tx1"/>
                </a:solidFill>
                <a:effectLst/>
                <a:latin typeface="+mn-lt"/>
                <a:ea typeface="+mn-ea"/>
                <a:cs typeface="+mn-cs"/>
              </a:rPr>
              <a:t> megáll. A file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witness</a:t>
            </a:r>
            <a:r>
              <a:rPr lang="hu-HU" sz="1200" kern="1200" dirty="0">
                <a:solidFill>
                  <a:schemeClr val="tx1"/>
                </a:solidFill>
                <a:effectLst/>
                <a:latin typeface="+mn-lt"/>
                <a:ea typeface="+mn-ea"/>
                <a:cs typeface="+mn-cs"/>
              </a:rPr>
              <a:t> feladata, hogy hozza a szükséges szavazatot, mert ő meg tudja állapítani, hogy melyik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működik és melyik nem. Tehát ő csak megfigyel. Ez elkerüli a </a:t>
            </a:r>
            <a:r>
              <a:rPr lang="hu-HU" sz="1200" kern="1200" dirty="0" err="1">
                <a:solidFill>
                  <a:schemeClr val="tx1"/>
                </a:solidFill>
                <a:effectLst/>
                <a:latin typeface="+mn-lt"/>
                <a:ea typeface="+mn-ea"/>
                <a:cs typeface="+mn-cs"/>
              </a:rPr>
              <a:t>split-brain</a:t>
            </a:r>
            <a:r>
              <a:rPr lang="hu-HU" sz="1200" kern="1200" dirty="0">
                <a:solidFill>
                  <a:schemeClr val="tx1"/>
                </a:solidFill>
                <a:effectLst/>
                <a:latin typeface="+mn-lt"/>
                <a:ea typeface="+mn-ea"/>
                <a:cs typeface="+mn-cs"/>
              </a:rPr>
              <a:t> állapotot, amiben mindkettő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azt hiszi, hogy ő az aktív.</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37</a:t>
            </a:fld>
            <a:endParaRPr lang="hu-HU"/>
          </a:p>
        </p:txBody>
      </p:sp>
    </p:spTree>
    <p:extLst>
      <p:ext uri="{BB962C8B-B14F-4D97-AF65-F5344CB8AC3E}">
        <p14:creationId xmlns:p14="http://schemas.microsoft.com/office/powerpoint/2010/main" val="3958900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2 db-ot használunk, egyez az SQL </a:t>
            </a:r>
            <a:r>
              <a:rPr lang="hu-HU" sz="1200" kern="1200" dirty="0" err="1">
                <a:solidFill>
                  <a:schemeClr val="tx1"/>
                </a:solidFill>
                <a:effectLst/>
                <a:latin typeface="+mn-lt"/>
                <a:ea typeface="+mn-ea"/>
                <a:cs typeface="+mn-cs"/>
              </a:rPr>
              <a:t>Engine-nek</a:t>
            </a:r>
            <a:r>
              <a:rPr lang="hu-HU" sz="1200" kern="1200" dirty="0">
                <a:solidFill>
                  <a:schemeClr val="tx1"/>
                </a:solidFill>
                <a:effectLst/>
                <a:latin typeface="+mn-lt"/>
                <a:ea typeface="+mn-ea"/>
                <a:cs typeface="+mn-cs"/>
              </a:rPr>
              <a:t>, másikat az SQL </a:t>
            </a:r>
            <a:r>
              <a:rPr lang="hu-HU" sz="1200" kern="1200" dirty="0" err="1">
                <a:solidFill>
                  <a:schemeClr val="tx1"/>
                </a:solidFill>
                <a:effectLst/>
                <a:latin typeface="+mn-lt"/>
                <a:ea typeface="+mn-ea"/>
                <a:cs typeface="+mn-cs"/>
              </a:rPr>
              <a:t>Agent-nek</a:t>
            </a:r>
            <a:r>
              <a:rPr lang="hu-HU" sz="1200" kern="1200" dirty="0">
                <a:solidFill>
                  <a:schemeClr val="tx1"/>
                </a:solidFill>
                <a:effectLst/>
                <a:latin typeface="+mn-lt"/>
                <a:ea typeface="+mn-ea"/>
                <a:cs typeface="+mn-cs"/>
              </a:rPr>
              <a:t>. Mivel jobb </a:t>
            </a:r>
            <a:r>
              <a:rPr lang="hu-HU" sz="1200" kern="1200" dirty="0" err="1">
                <a:solidFill>
                  <a:schemeClr val="tx1"/>
                </a:solidFill>
                <a:effectLst/>
                <a:latin typeface="+mn-lt"/>
                <a:ea typeface="+mn-ea"/>
                <a:cs typeface="+mn-cs"/>
              </a:rPr>
              <a:t>gMSA</a:t>
            </a:r>
            <a:r>
              <a:rPr lang="hu-HU" sz="1200" kern="1200" dirty="0">
                <a:solidFill>
                  <a:schemeClr val="tx1"/>
                </a:solidFill>
                <a:effectLst/>
                <a:latin typeface="+mn-lt"/>
                <a:ea typeface="+mn-ea"/>
                <a:cs typeface="+mn-cs"/>
              </a:rPr>
              <a:t>-t használni, mint sima </a:t>
            </a:r>
            <a:r>
              <a:rPr lang="hu-HU" sz="1200" kern="1200" dirty="0" err="1">
                <a:solidFill>
                  <a:schemeClr val="tx1"/>
                </a:solidFill>
                <a:effectLst/>
                <a:latin typeface="+mn-lt"/>
                <a:ea typeface="+mn-ea"/>
                <a:cs typeface="+mn-cs"/>
              </a:rPr>
              <a:t>user</a:t>
            </a:r>
            <a:r>
              <a:rPr lang="hu-HU" sz="1200" kern="1200" dirty="0">
                <a:solidFill>
                  <a:schemeClr val="tx1"/>
                </a:solidFill>
                <a:effectLst/>
                <a:latin typeface="+mn-lt"/>
                <a:ea typeface="+mn-ea"/>
                <a:cs typeface="+mn-cs"/>
              </a:rPr>
              <a:t> accountokat, azért, mert ők automatikusan kezelik a saját </a:t>
            </a:r>
            <a:r>
              <a:rPr lang="hu-HU" sz="1200" kern="1200" dirty="0" err="1">
                <a:solidFill>
                  <a:schemeClr val="tx1"/>
                </a:solidFill>
                <a:effectLst/>
                <a:latin typeface="+mn-lt"/>
                <a:ea typeface="+mn-ea"/>
                <a:cs typeface="+mn-cs"/>
              </a:rPr>
              <a:t>jelszavukat</a:t>
            </a:r>
            <a:r>
              <a:rPr lang="hu-HU" sz="1200" kern="1200" dirty="0">
                <a:solidFill>
                  <a:schemeClr val="tx1"/>
                </a:solidFill>
                <a:effectLst/>
                <a:latin typeface="+mn-lt"/>
                <a:ea typeface="+mn-ea"/>
                <a:cs typeface="+mn-cs"/>
              </a:rPr>
              <a:t> az AD feltételei szerint. Egyszerre több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is tudja használni ugyanazt a </a:t>
            </a:r>
            <a:r>
              <a:rPr lang="hu-HU" sz="1200" kern="1200" dirty="0" err="1">
                <a:solidFill>
                  <a:schemeClr val="tx1"/>
                </a:solidFill>
                <a:effectLst/>
                <a:latin typeface="+mn-lt"/>
                <a:ea typeface="+mn-ea"/>
                <a:cs typeface="+mn-cs"/>
              </a:rPr>
              <a:t>gMSA</a:t>
            </a:r>
            <a:r>
              <a:rPr lang="hu-HU" sz="1200" kern="1200" dirty="0">
                <a:solidFill>
                  <a:schemeClr val="tx1"/>
                </a:solidFill>
                <a:effectLst/>
                <a:latin typeface="+mn-lt"/>
                <a:ea typeface="+mn-ea"/>
                <a:cs typeface="+mn-cs"/>
              </a:rPr>
              <a:t>-t, és ez által </a:t>
            </a:r>
            <a:r>
              <a:rPr lang="hu-HU" sz="1200" kern="1200" dirty="0" err="1">
                <a:solidFill>
                  <a:schemeClr val="tx1"/>
                </a:solidFill>
                <a:effectLst/>
                <a:latin typeface="+mn-lt"/>
                <a:ea typeface="+mn-ea"/>
                <a:cs typeface="+mn-cs"/>
              </a:rPr>
              <a:t>cluster</a:t>
            </a:r>
            <a:r>
              <a:rPr lang="hu-HU" sz="1200" kern="1200" dirty="0">
                <a:solidFill>
                  <a:schemeClr val="tx1"/>
                </a:solidFill>
                <a:effectLst/>
                <a:latin typeface="+mn-lt"/>
                <a:ea typeface="+mn-ea"/>
                <a:cs typeface="+mn-cs"/>
              </a:rPr>
              <a:t> kompatibilis lesz.</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38</a:t>
            </a:fld>
            <a:endParaRPr lang="hu-HU"/>
          </a:p>
        </p:txBody>
      </p:sp>
    </p:spTree>
    <p:extLst>
      <p:ext uri="{BB962C8B-B14F-4D97-AF65-F5344CB8AC3E}">
        <p14:creationId xmlns:p14="http://schemas.microsoft.com/office/powerpoint/2010/main" val="17092058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B8E86-B7C7-7479-FEDD-ECD6DF07EBC5}"/>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25E694B5-772C-55B5-3853-479B19C082A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EB37965-8DC2-3C9B-CD00-276C8F4CBA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prezentációmban a MIGAZZI vállalkozás belső hálózati rendszerét és kapcsolódó szolgáltatásait mutatom be. Szó lesz a Linux szerverről, az intranetről, az adatbázisról, a DHCP-ről, az automatikus mentésről, a nyomtatási szolgáltatásról és a publikus weboldalról is.</a:t>
            </a:r>
          </a:p>
        </p:txBody>
      </p:sp>
      <p:sp>
        <p:nvSpPr>
          <p:cNvPr id="4" name="Dia számának helye 3">
            <a:extLst>
              <a:ext uri="{FF2B5EF4-FFF2-40B4-BE49-F238E27FC236}">
                <a16:creationId xmlns:a16="http://schemas.microsoft.com/office/drawing/2014/main" id="{44DC6BB9-6612-511E-328E-12EDE8C17E59}"/>
              </a:ext>
            </a:extLst>
          </p:cNvPr>
          <p:cNvSpPr>
            <a:spLocks noGrp="1"/>
          </p:cNvSpPr>
          <p:nvPr>
            <p:ph type="sldNum" sz="quarter" idx="5"/>
          </p:nvPr>
        </p:nvSpPr>
        <p:spPr/>
        <p:txBody>
          <a:bodyPr/>
          <a:lstStyle/>
          <a:p>
            <a:fld id="{A67D4F15-C7BC-4A56-B8AA-CF1F76BA253C}" type="slidenum">
              <a:rPr lang="hu-HU" smtClean="0"/>
              <a:t>39</a:t>
            </a:fld>
            <a:endParaRPr lang="hu-HU"/>
          </a:p>
        </p:txBody>
      </p:sp>
    </p:spTree>
    <p:extLst>
      <p:ext uri="{BB962C8B-B14F-4D97-AF65-F5344CB8AC3E}">
        <p14:creationId xmlns:p14="http://schemas.microsoft.com/office/powerpoint/2010/main" val="3986795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008C0-66D4-AD9B-73CC-988CA79CED6D}"/>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3DD28128-080E-C664-24EF-5534D3BDD43F}"/>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53592C5-30CD-26BA-65E2-6C16B9C9F4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MIGAZZI intranet egy PHP és </a:t>
            </a:r>
            <a:r>
              <a:rPr lang="hu-HU" dirty="0" err="1"/>
              <a:t>MySQL</a:t>
            </a:r>
            <a:r>
              <a:rPr lang="hu-HU" dirty="0"/>
              <a:t> alapú belső rendszer.</a:t>
            </a:r>
            <a:br>
              <a:rPr lang="hu-HU" dirty="0"/>
            </a:br>
            <a:r>
              <a:rPr lang="hu-HU" dirty="0"/>
              <a:t>Kizárólag lokális hálózaton érhető el, ezért biztonságos környezetet biztosít a vállalati működéshez.</a:t>
            </a:r>
            <a:br>
              <a:rPr lang="hu-HU" dirty="0"/>
            </a:br>
            <a:r>
              <a:rPr lang="hu-HU" dirty="0"/>
              <a:t>A rendszer támogatja a felhasználói hitelesítést, a fájlmegosztást és a felhasználói aktivitások naplózását.</a:t>
            </a:r>
            <a:endParaRPr lang="hu-HU" sz="1200" kern="1200" dirty="0">
              <a:solidFill>
                <a:schemeClr val="tx1"/>
              </a:solidFill>
              <a:effectLst/>
              <a:latin typeface="+mn-lt"/>
              <a:ea typeface="+mn-ea"/>
              <a:cs typeface="+mn-cs"/>
            </a:endParaRPr>
          </a:p>
          <a:p>
            <a:endParaRPr lang="hu-HU" dirty="0"/>
          </a:p>
        </p:txBody>
      </p:sp>
      <p:sp>
        <p:nvSpPr>
          <p:cNvPr id="4" name="Dia számának helye 3">
            <a:extLst>
              <a:ext uri="{FF2B5EF4-FFF2-40B4-BE49-F238E27FC236}">
                <a16:creationId xmlns:a16="http://schemas.microsoft.com/office/drawing/2014/main" id="{ACEB3828-A3B7-6F89-E293-14BEEEFA61E5}"/>
              </a:ext>
            </a:extLst>
          </p:cNvPr>
          <p:cNvSpPr>
            <a:spLocks noGrp="1"/>
          </p:cNvSpPr>
          <p:nvPr>
            <p:ph type="sldNum" sz="quarter" idx="5"/>
          </p:nvPr>
        </p:nvSpPr>
        <p:spPr/>
        <p:txBody>
          <a:bodyPr/>
          <a:lstStyle/>
          <a:p>
            <a:fld id="{A67D4F15-C7BC-4A56-B8AA-CF1F76BA253C}" type="slidenum">
              <a:rPr lang="hu-HU" smtClean="0"/>
              <a:t>40</a:t>
            </a:fld>
            <a:endParaRPr lang="hu-HU"/>
          </a:p>
        </p:txBody>
      </p:sp>
    </p:spTree>
    <p:extLst>
      <p:ext uri="{BB962C8B-B14F-4D97-AF65-F5344CB8AC3E}">
        <p14:creationId xmlns:p14="http://schemas.microsoft.com/office/powerpoint/2010/main" val="5140927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B525-A084-AB60-7AB9-19080B6316EB}"/>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964E1E9-0A66-4BF1-D984-8FAF680D2C6B}"/>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E287639-2D98-49F3-63F2-D85672A0EC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felhasználók felhasználónév és jelszó segítségével jelentkeznek be.</a:t>
            </a:r>
            <a:br>
              <a:rPr lang="hu-HU" dirty="0"/>
            </a:br>
            <a:r>
              <a:rPr lang="hu-HU" dirty="0"/>
              <a:t>A példában a bob nevű felhasználó látható.</a:t>
            </a:r>
            <a:br>
              <a:rPr lang="hu-HU" dirty="0"/>
            </a:br>
            <a:r>
              <a:rPr lang="hu-HU" dirty="0"/>
              <a:t>Belépés után megjelenik a neve, pozíciója és a belépés időpontja.</a:t>
            </a:r>
            <a:br>
              <a:rPr lang="hu-HU" dirty="0"/>
            </a:br>
            <a:r>
              <a:rPr lang="hu-HU" dirty="0"/>
              <a:t>A fájlmegosztási rendszerben a felhasználók csak azokhoz a mappákhoz férnek hozzá, amelyekhez jogosultságuk van.</a:t>
            </a:r>
          </a:p>
        </p:txBody>
      </p:sp>
      <p:sp>
        <p:nvSpPr>
          <p:cNvPr id="4" name="Dia számának helye 3">
            <a:extLst>
              <a:ext uri="{FF2B5EF4-FFF2-40B4-BE49-F238E27FC236}">
                <a16:creationId xmlns:a16="http://schemas.microsoft.com/office/drawing/2014/main" id="{5FE54FE0-0F7D-7A17-9A6F-99CA7860612C}"/>
              </a:ext>
            </a:extLst>
          </p:cNvPr>
          <p:cNvSpPr>
            <a:spLocks noGrp="1"/>
          </p:cNvSpPr>
          <p:nvPr>
            <p:ph type="sldNum" sz="quarter" idx="5"/>
          </p:nvPr>
        </p:nvSpPr>
        <p:spPr/>
        <p:txBody>
          <a:bodyPr/>
          <a:lstStyle/>
          <a:p>
            <a:fld id="{A67D4F15-C7BC-4A56-B8AA-CF1F76BA253C}" type="slidenum">
              <a:rPr lang="hu-HU" smtClean="0"/>
              <a:t>41</a:t>
            </a:fld>
            <a:endParaRPr lang="hu-HU"/>
          </a:p>
        </p:txBody>
      </p:sp>
    </p:spTree>
    <p:extLst>
      <p:ext uri="{BB962C8B-B14F-4D97-AF65-F5344CB8AC3E}">
        <p14:creationId xmlns:p14="http://schemas.microsoft.com/office/powerpoint/2010/main" val="38731717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7265-5E7E-26E1-C734-94DBBB7BBDF6}"/>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4DAED1EE-4106-B00F-6F47-0D8A16A854D4}"/>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A6C14807-2653-AE47-432D-E85B8B7CA2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rendszer </a:t>
            </a:r>
            <a:r>
              <a:rPr lang="hu-HU" dirty="0" err="1"/>
              <a:t>MySQL</a:t>
            </a:r>
            <a:r>
              <a:rPr lang="hu-HU" dirty="0"/>
              <a:t> adatbázist használ.</a:t>
            </a:r>
            <a:br>
              <a:rPr lang="hu-HU" dirty="0"/>
            </a:br>
            <a:r>
              <a:rPr lang="hu-HU" dirty="0"/>
              <a:t>A Login tábla tárolja a felhasználói adatokat és a titkosított jelszavakat </a:t>
            </a:r>
            <a:r>
              <a:rPr lang="hu-HU" dirty="0" err="1"/>
              <a:t>bcrypt</a:t>
            </a:r>
            <a:r>
              <a:rPr lang="hu-HU" dirty="0"/>
              <a:t> </a:t>
            </a:r>
            <a:r>
              <a:rPr lang="hu-HU" dirty="0" err="1"/>
              <a:t>hash</a:t>
            </a:r>
            <a:r>
              <a:rPr lang="hu-HU" dirty="0"/>
              <a:t> formában.</a:t>
            </a:r>
            <a:br>
              <a:rPr lang="hu-HU" dirty="0"/>
            </a:br>
            <a:r>
              <a:rPr lang="hu-HU" dirty="0"/>
              <a:t>A </a:t>
            </a:r>
            <a:r>
              <a:rPr lang="hu-HU" dirty="0" err="1"/>
              <a:t>Logging</a:t>
            </a:r>
            <a:r>
              <a:rPr lang="hu-HU" dirty="0"/>
              <a:t> tábla a be- és kijelentkezési eseményeket rögzíti.</a:t>
            </a:r>
            <a:br>
              <a:rPr lang="hu-HU" dirty="0"/>
            </a:br>
            <a:r>
              <a:rPr lang="hu-HU" dirty="0"/>
              <a:t>Ez biztosítja a rendszer átláthatóságát és a biztonsági események visszakövethetőségét.</a:t>
            </a:r>
          </a:p>
        </p:txBody>
      </p:sp>
      <p:sp>
        <p:nvSpPr>
          <p:cNvPr id="4" name="Dia számának helye 3">
            <a:extLst>
              <a:ext uri="{FF2B5EF4-FFF2-40B4-BE49-F238E27FC236}">
                <a16:creationId xmlns:a16="http://schemas.microsoft.com/office/drawing/2014/main" id="{B39CDEB2-E150-2D7C-DD70-ABAE1420AC43}"/>
              </a:ext>
            </a:extLst>
          </p:cNvPr>
          <p:cNvSpPr>
            <a:spLocks noGrp="1"/>
          </p:cNvSpPr>
          <p:nvPr>
            <p:ph type="sldNum" sz="quarter" idx="5"/>
          </p:nvPr>
        </p:nvSpPr>
        <p:spPr/>
        <p:txBody>
          <a:bodyPr/>
          <a:lstStyle/>
          <a:p>
            <a:fld id="{A67D4F15-C7BC-4A56-B8AA-CF1F76BA253C}" type="slidenum">
              <a:rPr lang="hu-HU" smtClean="0"/>
              <a:t>42</a:t>
            </a:fld>
            <a:endParaRPr lang="hu-HU"/>
          </a:p>
        </p:txBody>
      </p:sp>
    </p:spTree>
    <p:extLst>
      <p:ext uri="{BB962C8B-B14F-4D97-AF65-F5344CB8AC3E}">
        <p14:creationId xmlns:p14="http://schemas.microsoft.com/office/powerpoint/2010/main" val="8002147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4E2DD-4F20-3792-A06B-5034FF6834CD}"/>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AE35EB2D-0DE9-B616-3D06-EB8C7BB88D9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6AC208E3-4702-7BCF-868A-C4AA254987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Az adatbázis kezelésére </a:t>
            </a:r>
            <a:r>
              <a:rPr lang="hu-HU" dirty="0" err="1"/>
              <a:t>phpMyAdmin</a:t>
            </a:r>
            <a:r>
              <a:rPr lang="hu-HU" dirty="0"/>
              <a:t> rendszert használunk.</a:t>
            </a:r>
            <a:br>
              <a:rPr lang="hu-HU" dirty="0"/>
            </a:br>
            <a:r>
              <a:rPr lang="hu-HU" dirty="0"/>
              <a:t>Az adminisztrátor ezen keresztül tudja kezelni a táblákat, ellenőrizni a felhasználókat és megtekinteni a naplózott eseményeket.</a:t>
            </a:r>
          </a:p>
        </p:txBody>
      </p:sp>
      <p:sp>
        <p:nvSpPr>
          <p:cNvPr id="4" name="Dia számának helye 3">
            <a:extLst>
              <a:ext uri="{FF2B5EF4-FFF2-40B4-BE49-F238E27FC236}">
                <a16:creationId xmlns:a16="http://schemas.microsoft.com/office/drawing/2014/main" id="{B3B52E28-B997-85B0-A406-2866F0FD3D8A}"/>
              </a:ext>
            </a:extLst>
          </p:cNvPr>
          <p:cNvSpPr>
            <a:spLocks noGrp="1"/>
          </p:cNvSpPr>
          <p:nvPr>
            <p:ph type="sldNum" sz="quarter" idx="5"/>
          </p:nvPr>
        </p:nvSpPr>
        <p:spPr/>
        <p:txBody>
          <a:bodyPr/>
          <a:lstStyle/>
          <a:p>
            <a:fld id="{A67D4F15-C7BC-4A56-B8AA-CF1F76BA253C}" type="slidenum">
              <a:rPr lang="hu-HU" smtClean="0"/>
              <a:t>43</a:t>
            </a:fld>
            <a:endParaRPr lang="hu-HU"/>
          </a:p>
        </p:txBody>
      </p:sp>
    </p:spTree>
    <p:extLst>
      <p:ext uri="{BB962C8B-B14F-4D97-AF65-F5344CB8AC3E}">
        <p14:creationId xmlns:p14="http://schemas.microsoft.com/office/powerpoint/2010/main" val="34078926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647E-E83F-7ABB-4180-BDC7AF788DD7}"/>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AA27EA12-DFEF-17F6-A2BF-76F486090FA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F8AA6226-7DD7-BC72-0D80-BD114C5B5C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szerveren DHCP szolgáltatás is működik, amely automatikusan IP-címeket oszt ki a hálózati eszközöknek.</a:t>
            </a:r>
            <a:br>
              <a:rPr lang="hu-HU" dirty="0"/>
            </a:br>
            <a:r>
              <a:rPr lang="hu-HU" dirty="0"/>
              <a:t>A rendszer a 192.168.10.0/29 hálózatot használja.</a:t>
            </a:r>
            <a:br>
              <a:rPr lang="hu-HU" dirty="0"/>
            </a:br>
            <a:r>
              <a:rPr lang="hu-HU" dirty="0"/>
              <a:t>A kliensek automatikusan megkapják az IP-címet, az átjárót és a DNS szervereket is.</a:t>
            </a:r>
          </a:p>
        </p:txBody>
      </p:sp>
      <p:sp>
        <p:nvSpPr>
          <p:cNvPr id="4" name="Dia számának helye 3">
            <a:extLst>
              <a:ext uri="{FF2B5EF4-FFF2-40B4-BE49-F238E27FC236}">
                <a16:creationId xmlns:a16="http://schemas.microsoft.com/office/drawing/2014/main" id="{9F0B99E9-AC56-ADE3-4372-5F521A0AFA30}"/>
              </a:ext>
            </a:extLst>
          </p:cNvPr>
          <p:cNvSpPr>
            <a:spLocks noGrp="1"/>
          </p:cNvSpPr>
          <p:nvPr>
            <p:ph type="sldNum" sz="quarter" idx="5"/>
          </p:nvPr>
        </p:nvSpPr>
        <p:spPr/>
        <p:txBody>
          <a:bodyPr/>
          <a:lstStyle/>
          <a:p>
            <a:fld id="{A67D4F15-C7BC-4A56-B8AA-CF1F76BA253C}" type="slidenum">
              <a:rPr lang="hu-HU" smtClean="0"/>
              <a:t>44</a:t>
            </a:fld>
            <a:endParaRPr lang="hu-HU"/>
          </a:p>
        </p:txBody>
      </p:sp>
    </p:spTree>
    <p:extLst>
      <p:ext uri="{BB962C8B-B14F-4D97-AF65-F5344CB8AC3E}">
        <p14:creationId xmlns:p14="http://schemas.microsoft.com/office/powerpoint/2010/main" val="26211078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0C22E-8D0C-666D-721D-D9DE3FDC51A4}"/>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14A682DA-36DA-7DFD-B9C2-B6AE66755D62}"/>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E45B4C69-BF1E-2579-3196-849EC22B89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szerveren időzített mentési feladat is működik a </a:t>
            </a:r>
            <a:r>
              <a:rPr lang="hu-HU" dirty="0" err="1"/>
              <a:t>cron</a:t>
            </a:r>
            <a:r>
              <a:rPr lang="hu-HU" dirty="0"/>
              <a:t> szolgáltatás segítségével.</a:t>
            </a:r>
            <a:br>
              <a:rPr lang="hu-HU" dirty="0"/>
            </a:br>
            <a:r>
              <a:rPr lang="hu-HU" dirty="0"/>
              <a:t>A rendszer minden hétköznap hajnali 2 órakor automatikusan biztonsági mentést készít a megosztott fájlokról.</a:t>
            </a:r>
            <a:br>
              <a:rPr lang="hu-HU" dirty="0"/>
            </a:br>
            <a:r>
              <a:rPr lang="hu-HU" dirty="0"/>
              <a:t>A mentés tömörített archív fájl formájában készül el, amely később visszaállítható.</a:t>
            </a:r>
            <a:br>
              <a:rPr lang="hu-HU" dirty="0"/>
            </a:br>
            <a:r>
              <a:rPr lang="hu-HU" dirty="0"/>
              <a:t>Ez segít megelőzni az adatvesztést és csökkenti az emberi hibák lehetőségét.</a:t>
            </a:r>
          </a:p>
        </p:txBody>
      </p:sp>
      <p:sp>
        <p:nvSpPr>
          <p:cNvPr id="4" name="Dia számának helye 3">
            <a:extLst>
              <a:ext uri="{FF2B5EF4-FFF2-40B4-BE49-F238E27FC236}">
                <a16:creationId xmlns:a16="http://schemas.microsoft.com/office/drawing/2014/main" id="{348BA148-EA5E-2AF9-FDC8-D8E96C1FFDAA}"/>
              </a:ext>
            </a:extLst>
          </p:cNvPr>
          <p:cNvSpPr>
            <a:spLocks noGrp="1"/>
          </p:cNvSpPr>
          <p:nvPr>
            <p:ph type="sldNum" sz="quarter" idx="5"/>
          </p:nvPr>
        </p:nvSpPr>
        <p:spPr/>
        <p:txBody>
          <a:bodyPr/>
          <a:lstStyle/>
          <a:p>
            <a:fld id="{A67D4F15-C7BC-4A56-B8AA-CF1F76BA253C}" type="slidenum">
              <a:rPr lang="hu-HU" smtClean="0"/>
              <a:t>45</a:t>
            </a:fld>
            <a:endParaRPr lang="hu-HU"/>
          </a:p>
        </p:txBody>
      </p:sp>
    </p:spTree>
    <p:extLst>
      <p:ext uri="{BB962C8B-B14F-4D97-AF65-F5344CB8AC3E}">
        <p14:creationId xmlns:p14="http://schemas.microsoft.com/office/powerpoint/2010/main" val="19074825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D25D0-9B68-A4C9-3283-E5B31435CE03}"/>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0D014393-CF8F-9546-BFF1-C56BD3EE619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8B129A6B-8CBD-A676-1AF7-5FC62A1D95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szerveren CUPS nyomtatáskezelő rendszer is telepítésre került.</a:t>
            </a:r>
            <a:br>
              <a:rPr lang="hu-HU" dirty="0"/>
            </a:br>
            <a:r>
              <a:rPr lang="hu-HU" dirty="0"/>
              <a:t>Ez biztosítja a hálózati nyomtatási lehetőséget a belső hálózaton.</a:t>
            </a:r>
            <a:br>
              <a:rPr lang="hu-HU" dirty="0"/>
            </a:br>
            <a:r>
              <a:rPr lang="hu-HU" dirty="0"/>
              <a:t>Az adminisztrátor jogosultságot kapott a nyomtatók kezelésére és konfigurálására.</a:t>
            </a:r>
            <a:br>
              <a:rPr lang="hu-HU" dirty="0"/>
            </a:br>
            <a:r>
              <a:rPr lang="hu-HU" dirty="0"/>
              <a:t>A webes kezelőfelület a 631-es </a:t>
            </a:r>
            <a:r>
              <a:rPr lang="hu-HU" dirty="0" err="1"/>
              <a:t>porton</a:t>
            </a:r>
            <a:r>
              <a:rPr lang="hu-HU" dirty="0"/>
              <a:t> keresztül érhető el, így más számítógépekről is kezelhető a rendszer.</a:t>
            </a:r>
          </a:p>
        </p:txBody>
      </p:sp>
      <p:sp>
        <p:nvSpPr>
          <p:cNvPr id="4" name="Dia számának helye 3">
            <a:extLst>
              <a:ext uri="{FF2B5EF4-FFF2-40B4-BE49-F238E27FC236}">
                <a16:creationId xmlns:a16="http://schemas.microsoft.com/office/drawing/2014/main" id="{78751529-C88D-921B-6D18-41EF0DC6DB8C}"/>
              </a:ext>
            </a:extLst>
          </p:cNvPr>
          <p:cNvSpPr>
            <a:spLocks noGrp="1"/>
          </p:cNvSpPr>
          <p:nvPr>
            <p:ph type="sldNum" sz="quarter" idx="5"/>
          </p:nvPr>
        </p:nvSpPr>
        <p:spPr/>
        <p:txBody>
          <a:bodyPr/>
          <a:lstStyle/>
          <a:p>
            <a:fld id="{A67D4F15-C7BC-4A56-B8AA-CF1F76BA253C}" type="slidenum">
              <a:rPr lang="hu-HU" smtClean="0"/>
              <a:t>46</a:t>
            </a:fld>
            <a:endParaRPr lang="hu-HU"/>
          </a:p>
        </p:txBody>
      </p:sp>
    </p:spTree>
    <p:extLst>
      <p:ext uri="{BB962C8B-B14F-4D97-AF65-F5344CB8AC3E}">
        <p14:creationId xmlns:p14="http://schemas.microsoft.com/office/powerpoint/2010/main" val="21333834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2C3CB-BE47-A500-3681-DD55C0668BDD}"/>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034E5130-A74F-E47D-F973-CB6114238818}"/>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C7E3E0FF-B1AC-EE25-7A73-71920516AC62}"/>
              </a:ext>
            </a:extLst>
          </p:cNvPr>
          <p:cNvSpPr>
            <a:spLocks noGrp="1"/>
          </p:cNvSpPr>
          <p:nvPr>
            <p:ph type="body" idx="1"/>
          </p:nvPr>
        </p:nvSpPr>
        <p:spPr/>
        <p:txBody>
          <a:bodyPr/>
          <a:lstStyle/>
          <a:p>
            <a:r>
              <a:rPr lang="hu-HU" dirty="0"/>
              <a:t>A vállalkozás publikus weboldala a Nethely szolgáltatónál került elhelyezésre.</a:t>
            </a:r>
            <a:br>
              <a:rPr lang="hu-HU" dirty="0"/>
            </a:br>
            <a:r>
              <a:rPr lang="hu-HU" dirty="0"/>
              <a:t>Első lépésként létrehoztunk egy ingyenes tárhelyet, majd regisztráltuk a migazziwatch.nhely.hu </a:t>
            </a:r>
            <a:r>
              <a:rPr lang="hu-HU" dirty="0" err="1"/>
              <a:t>domaint</a:t>
            </a:r>
            <a:r>
              <a:rPr lang="hu-HU" dirty="0"/>
              <a:t>.</a:t>
            </a:r>
            <a:br>
              <a:rPr lang="hu-HU" dirty="0"/>
            </a:br>
            <a:r>
              <a:rPr lang="hu-HU" dirty="0"/>
              <a:t>Ezután a </a:t>
            </a:r>
            <a:r>
              <a:rPr lang="hu-HU" dirty="0" err="1"/>
              <a:t>domain</a:t>
            </a:r>
            <a:r>
              <a:rPr lang="hu-HU" dirty="0"/>
              <a:t> hozzákapcsolásra került a tárhelyhez.</a:t>
            </a:r>
          </a:p>
          <a:p>
            <a:r>
              <a:rPr lang="hu-HU" dirty="0"/>
              <a:t>A weboldal fájljait FTP segítségével töltöttük fel a szerverre, így a weboldal interneten keresztül elérhetővé vált.</a:t>
            </a:r>
          </a:p>
          <a:p>
            <a:r>
              <a:rPr lang="hu-HU" dirty="0"/>
              <a:t>Az ingyenes csomag csak HTTP protokollt támogat, azonban valós vállalati környezetben HTTPS használata szükséges a biztonságos titkosított kapcsolat miatt.</a:t>
            </a:r>
          </a:p>
          <a:p>
            <a:r>
              <a:rPr lang="hu-HU" dirty="0"/>
              <a:t>A publikus weboldal teljesen elkülönül a belső intranet rendszertől, így a külső felhasználók nem férhetnek hozzá a belső hálózathoz.</a:t>
            </a:r>
          </a:p>
        </p:txBody>
      </p:sp>
      <p:sp>
        <p:nvSpPr>
          <p:cNvPr id="4" name="Dia számának helye 3">
            <a:extLst>
              <a:ext uri="{FF2B5EF4-FFF2-40B4-BE49-F238E27FC236}">
                <a16:creationId xmlns:a16="http://schemas.microsoft.com/office/drawing/2014/main" id="{4B1A568A-4FEB-D9B0-23EC-7CC07189A97D}"/>
              </a:ext>
            </a:extLst>
          </p:cNvPr>
          <p:cNvSpPr>
            <a:spLocks noGrp="1"/>
          </p:cNvSpPr>
          <p:nvPr>
            <p:ph type="sldNum" sz="quarter" idx="5"/>
          </p:nvPr>
        </p:nvSpPr>
        <p:spPr/>
        <p:txBody>
          <a:bodyPr/>
          <a:lstStyle/>
          <a:p>
            <a:fld id="{A67D4F15-C7BC-4A56-B8AA-CF1F76BA253C}" type="slidenum">
              <a:rPr lang="hu-HU" smtClean="0"/>
              <a:t>47</a:t>
            </a:fld>
            <a:endParaRPr lang="hu-HU"/>
          </a:p>
        </p:txBody>
      </p:sp>
    </p:spTree>
    <p:extLst>
      <p:ext uri="{BB962C8B-B14F-4D97-AF65-F5344CB8AC3E}">
        <p14:creationId xmlns:p14="http://schemas.microsoft.com/office/powerpoint/2010/main" val="20561646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DAC41-354B-1644-E6BE-18ABC6DB1B9C}"/>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743574F1-A3A2-7EC5-C47B-92203D6834B9}"/>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7B9A6E17-1917-97A2-DFFB-533CA7635B11}"/>
              </a:ext>
            </a:extLst>
          </p:cNvPr>
          <p:cNvSpPr>
            <a:spLocks noGrp="1"/>
          </p:cNvSpPr>
          <p:nvPr>
            <p:ph type="body" idx="1"/>
          </p:nvPr>
        </p:nvSpPr>
        <p:spPr/>
        <p:txBody>
          <a:bodyPr/>
          <a:lstStyle/>
          <a:p>
            <a:r>
              <a:rPr lang="hu-HU" dirty="0"/>
              <a:t>Összességében a MIGAZZI rendszer egy komplex, biztonságos és jól strukturált informatikai környezetet biztosít.</a:t>
            </a:r>
            <a:br>
              <a:rPr lang="hu-HU" dirty="0"/>
            </a:br>
            <a:r>
              <a:rPr lang="hu-HU" dirty="0"/>
              <a:t>A rendszer támogatja a fájlmegosztást, a naplózást, az automatikus mentéseket, a hálózati nyomtatást és a publikus webes megjelenést is.</a:t>
            </a:r>
            <a:br>
              <a:rPr lang="hu-HU" dirty="0"/>
            </a:br>
            <a:r>
              <a:rPr lang="hu-HU" dirty="0"/>
              <a:t>Ezek együtt biztosítják a vállalkozás stabil és megbízható működését.</a:t>
            </a:r>
          </a:p>
        </p:txBody>
      </p:sp>
      <p:sp>
        <p:nvSpPr>
          <p:cNvPr id="4" name="Dia számának helye 3">
            <a:extLst>
              <a:ext uri="{FF2B5EF4-FFF2-40B4-BE49-F238E27FC236}">
                <a16:creationId xmlns:a16="http://schemas.microsoft.com/office/drawing/2014/main" id="{41316B48-99BD-D2C6-B68F-6509DF7B24CD}"/>
              </a:ext>
            </a:extLst>
          </p:cNvPr>
          <p:cNvSpPr>
            <a:spLocks noGrp="1"/>
          </p:cNvSpPr>
          <p:nvPr>
            <p:ph type="sldNum" sz="quarter" idx="5"/>
          </p:nvPr>
        </p:nvSpPr>
        <p:spPr/>
        <p:txBody>
          <a:bodyPr/>
          <a:lstStyle/>
          <a:p>
            <a:fld id="{A67D4F15-C7BC-4A56-B8AA-CF1F76BA253C}" type="slidenum">
              <a:rPr lang="hu-HU" smtClean="0"/>
              <a:t>48</a:t>
            </a:fld>
            <a:endParaRPr lang="hu-HU"/>
          </a:p>
        </p:txBody>
      </p:sp>
    </p:spTree>
    <p:extLst>
      <p:ext uri="{BB962C8B-B14F-4D97-AF65-F5344CB8AC3E}">
        <p14:creationId xmlns:p14="http://schemas.microsoft.com/office/powerpoint/2010/main" val="10458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hu-HU"/>
              <a:t>Mintacím szerkesztése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20300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7814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hu-HU"/>
              <a:t>Mintacím szerkesztése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46337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60451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hu-HU"/>
              <a:t>Mintacím szerkesztése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7F214140-6520-4D7F-BBB7-B4DB10E6EDD4}" type="datetimeFigureOut">
              <a:rPr lang="hu-HU" smtClean="0"/>
              <a:t>2026. 05. 27.</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398990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7F214140-6520-4D7F-BBB7-B4DB10E6EDD4}" type="datetimeFigureOut">
              <a:rPr lang="hu-HU" smtClean="0"/>
              <a:t>2026. 05. 27.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479474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214140-6520-4D7F-BBB7-B4DB10E6EDD4}" type="datetimeFigureOut">
              <a:rPr lang="hu-HU" smtClean="0"/>
              <a:t>2026. 05. 27.</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26717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hu-HU"/>
              <a:t>Mintacím szerkesztése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633669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hu-HU"/>
              <a:t>Mintacím szerkesztése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73876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hu-HU"/>
              <a:t>Mintacím szerkesztése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39852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hu-HU"/>
              <a:t>Mintacím szerkesztése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228028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hu-HU"/>
              <a:t>Mintacím szerkesztése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041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hu-HU"/>
              <a:t>Mintacím szerkesztése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764996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hu-HU"/>
              <a:t>Mintacím szerkesztése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7F214140-6520-4D7F-BBB7-B4DB10E6EDD4}" type="datetimeFigureOut">
              <a:rPr lang="hu-HU" smtClean="0"/>
              <a:t>2026. 05. 27.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72547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hu-HU"/>
              <a:t>Mintacím szerkesztése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7F214140-6520-4D7F-BBB7-B4DB10E6EDD4}" type="datetimeFigureOut">
              <a:rPr lang="hu-HU" smtClean="0"/>
              <a:t>2026. 05. 27.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967132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897282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hu-HU"/>
              <a:t>Mintacím szerkesztése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25569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F214140-6520-4D7F-BBB7-B4DB10E6EDD4}" type="datetimeFigureOut">
              <a:rPr lang="hu-HU" smtClean="0"/>
              <a:t>2026. 05. 27.</a:t>
            </a:fld>
            <a:endParaRPr lang="hu-HU"/>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hu-H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884194C-AFC6-4430-A02F-D835F7AC23DD}" type="slidenum">
              <a:rPr lang="hu-HU" smtClean="0"/>
              <a:t>‹#›</a:t>
            </a:fld>
            <a:endParaRPr lang="hu-HU"/>
          </a:p>
        </p:txBody>
      </p:sp>
    </p:spTree>
    <p:extLst>
      <p:ext uri="{BB962C8B-B14F-4D97-AF65-F5344CB8AC3E}">
        <p14:creationId xmlns:p14="http://schemas.microsoft.com/office/powerpoint/2010/main" val="40065570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79C91560-28E7-BEB6-FE2F-42BC6BB7A5F7}"/>
              </a:ext>
            </a:extLst>
          </p:cNvPr>
          <p:cNvSpPr>
            <a:spLocks noGrp="1"/>
          </p:cNvSpPr>
          <p:nvPr>
            <p:ph type="subTitle" idx="1"/>
          </p:nvPr>
        </p:nvSpPr>
        <p:spPr>
          <a:xfrm>
            <a:off x="1524000" y="5040312"/>
            <a:ext cx="9144000" cy="914400"/>
          </a:xfrm>
        </p:spPr>
        <p:txBody>
          <a:bodyPr>
            <a:normAutofit/>
          </a:bodyPr>
          <a:lstStyle/>
          <a:p>
            <a:r>
              <a:rPr lang="hu-HU" dirty="0">
                <a:solidFill>
                  <a:schemeClr val="bg1"/>
                </a:solidFill>
              </a:rPr>
              <a:t>Készítette: Váradi Kristóf Attila, Csutak Attila, </a:t>
            </a:r>
            <a:r>
              <a:rPr lang="hu-HU" dirty="0" err="1">
                <a:solidFill>
                  <a:schemeClr val="bg1"/>
                </a:solidFill>
              </a:rPr>
              <a:t>Utli</a:t>
            </a:r>
            <a:r>
              <a:rPr lang="hu-HU" dirty="0">
                <a:solidFill>
                  <a:schemeClr val="bg1"/>
                </a:solidFill>
              </a:rPr>
              <a:t> Barnabás</a:t>
            </a:r>
          </a:p>
        </p:txBody>
      </p:sp>
      <p:pic>
        <p:nvPicPr>
          <p:cNvPr id="5" name="Kép 4">
            <a:extLst>
              <a:ext uri="{FF2B5EF4-FFF2-40B4-BE49-F238E27FC236}">
                <a16:creationId xmlns:a16="http://schemas.microsoft.com/office/drawing/2014/main" id="{C61DB333-F6D4-992F-E100-21E01E0985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460" y="903288"/>
            <a:ext cx="2315080" cy="2387600"/>
          </a:xfrm>
          <a:prstGeom prst="rect">
            <a:avLst/>
          </a:prstGeom>
        </p:spPr>
      </p:pic>
      <p:pic>
        <p:nvPicPr>
          <p:cNvPr id="7" name="Kép 6" descr="A képen Betűtípus, tipográfia, Grafika, szöveg látható&#10;&#10;Előfordulhat, hogy az AI által létrehozott tartalom helytelen.">
            <a:extLst>
              <a:ext uri="{FF2B5EF4-FFF2-40B4-BE49-F238E27FC236}">
                <a16:creationId xmlns:a16="http://schemas.microsoft.com/office/drawing/2014/main" id="{1F866F06-B15D-8124-B1B2-4BC18FF8C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485" y="3567113"/>
            <a:ext cx="5437029" cy="826049"/>
          </a:xfrm>
          <a:prstGeom prst="rect">
            <a:avLst/>
          </a:prstGeom>
        </p:spPr>
      </p:pic>
    </p:spTree>
    <p:extLst>
      <p:ext uri="{BB962C8B-B14F-4D97-AF65-F5344CB8AC3E}">
        <p14:creationId xmlns:p14="http://schemas.microsoft.com/office/powerpoint/2010/main" val="2341203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88DBFB1-510C-106F-0883-62F8B2F62A96}"/>
              </a:ext>
            </a:extLst>
          </p:cNvPr>
          <p:cNvSpPr>
            <a:spLocks noGrp="1"/>
          </p:cNvSpPr>
          <p:nvPr>
            <p:ph type="title"/>
          </p:nvPr>
        </p:nvSpPr>
        <p:spPr/>
        <p:txBody>
          <a:bodyPr/>
          <a:lstStyle/>
          <a:p>
            <a:r>
              <a:rPr lang="hu-HU" b="1" dirty="0">
                <a:solidFill>
                  <a:schemeClr val="bg1"/>
                </a:solidFill>
              </a:rPr>
              <a:t>Bemutatkozás</a:t>
            </a:r>
          </a:p>
        </p:txBody>
      </p:sp>
      <p:sp>
        <p:nvSpPr>
          <p:cNvPr id="3" name="Tartalom helye 2">
            <a:extLst>
              <a:ext uri="{FF2B5EF4-FFF2-40B4-BE49-F238E27FC236}">
                <a16:creationId xmlns:a16="http://schemas.microsoft.com/office/drawing/2014/main" id="{0B5EE22A-F329-F075-6408-09D4D8D8C959}"/>
              </a:ext>
            </a:extLst>
          </p:cNvPr>
          <p:cNvSpPr>
            <a:spLocks noGrp="1"/>
          </p:cNvSpPr>
          <p:nvPr>
            <p:ph idx="1"/>
          </p:nvPr>
        </p:nvSpPr>
        <p:spPr/>
        <p:txBody>
          <a:bodyPr/>
          <a:lstStyle/>
          <a:p>
            <a:pPr>
              <a:lnSpc>
                <a:spcPct val="150000"/>
              </a:lnSpc>
            </a:pPr>
            <a:r>
              <a:rPr lang="hu-HU" dirty="0">
                <a:solidFill>
                  <a:schemeClr val="bg1"/>
                </a:solidFill>
              </a:rPr>
              <a:t>Prémium mechanikus és okosórák gyártása</a:t>
            </a:r>
          </a:p>
          <a:p>
            <a:pPr>
              <a:lnSpc>
                <a:spcPct val="150000"/>
              </a:lnSpc>
            </a:pPr>
            <a:r>
              <a:rPr lang="hu-HU" dirty="0">
                <a:solidFill>
                  <a:schemeClr val="bg1"/>
                </a:solidFill>
              </a:rPr>
              <a:t>Nemzetközi értékesítés</a:t>
            </a:r>
          </a:p>
          <a:p>
            <a:pPr>
              <a:lnSpc>
                <a:spcPct val="150000"/>
              </a:lnSpc>
            </a:pPr>
            <a:r>
              <a:rPr lang="hu-HU" dirty="0">
                <a:solidFill>
                  <a:schemeClr val="bg1"/>
                </a:solidFill>
              </a:rPr>
              <a:t>Saját fejlesztésű szerkezetek</a:t>
            </a:r>
          </a:p>
          <a:p>
            <a:pPr>
              <a:lnSpc>
                <a:spcPct val="150000"/>
              </a:lnSpc>
            </a:pPr>
            <a:r>
              <a:rPr lang="hu-HU" dirty="0">
                <a:solidFill>
                  <a:schemeClr val="bg1"/>
                </a:solidFill>
              </a:rPr>
              <a:t>A márka küldetése: </a:t>
            </a:r>
            <a:r>
              <a:rPr lang="hu-HU" i="1" dirty="0">
                <a:solidFill>
                  <a:schemeClr val="bg1"/>
                </a:solidFill>
              </a:rPr>
              <a:t>“Időt adunk formába öntve.”</a:t>
            </a:r>
          </a:p>
        </p:txBody>
      </p:sp>
    </p:spTree>
    <p:extLst>
      <p:ext uri="{BB962C8B-B14F-4D97-AF65-F5344CB8AC3E}">
        <p14:creationId xmlns:p14="http://schemas.microsoft.com/office/powerpoint/2010/main" val="36407252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12"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12"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C56B86A-727D-FDE8-4501-413FC0FDA111}"/>
              </a:ext>
            </a:extLst>
          </p:cNvPr>
          <p:cNvSpPr>
            <a:spLocks noGrp="1"/>
          </p:cNvSpPr>
          <p:nvPr>
            <p:ph type="title"/>
          </p:nvPr>
        </p:nvSpPr>
        <p:spPr/>
        <p:txBody>
          <a:bodyPr/>
          <a:lstStyle/>
          <a:p>
            <a:r>
              <a:rPr lang="hu-HU" b="1" dirty="0">
                <a:solidFill>
                  <a:schemeClr val="bg1"/>
                </a:solidFill>
              </a:rPr>
              <a:t>Informatikai célkitűzések</a:t>
            </a:r>
          </a:p>
        </p:txBody>
      </p:sp>
      <p:sp>
        <p:nvSpPr>
          <p:cNvPr id="3" name="Tartalom helye 2">
            <a:extLst>
              <a:ext uri="{FF2B5EF4-FFF2-40B4-BE49-F238E27FC236}">
                <a16:creationId xmlns:a16="http://schemas.microsoft.com/office/drawing/2014/main" id="{FC5513BD-95DF-2D07-24E5-882BCB267450}"/>
              </a:ext>
            </a:extLst>
          </p:cNvPr>
          <p:cNvSpPr>
            <a:spLocks noGrp="1"/>
          </p:cNvSpPr>
          <p:nvPr>
            <p:ph idx="1"/>
          </p:nvPr>
        </p:nvSpPr>
        <p:spPr/>
        <p:txBody>
          <a:bodyPr/>
          <a:lstStyle/>
          <a:p>
            <a:pPr>
              <a:lnSpc>
                <a:spcPct val="150000"/>
              </a:lnSpc>
            </a:pPr>
            <a:r>
              <a:rPr lang="hu-HU" dirty="0">
                <a:solidFill>
                  <a:schemeClr val="bg1"/>
                </a:solidFill>
              </a:rPr>
              <a:t>Központi felhasználókezelés</a:t>
            </a:r>
          </a:p>
          <a:p>
            <a:pPr>
              <a:lnSpc>
                <a:spcPct val="150000"/>
              </a:lnSpc>
            </a:pPr>
            <a:r>
              <a:rPr lang="hu-HU" dirty="0">
                <a:solidFill>
                  <a:schemeClr val="bg1"/>
                </a:solidFill>
              </a:rPr>
              <a:t>Jogosultság alapú hozzáférés</a:t>
            </a:r>
          </a:p>
          <a:p>
            <a:pPr>
              <a:lnSpc>
                <a:spcPct val="150000"/>
              </a:lnSpc>
            </a:pPr>
            <a:r>
              <a:rPr lang="hu-HU" dirty="0">
                <a:solidFill>
                  <a:schemeClr val="bg1"/>
                </a:solidFill>
              </a:rPr>
              <a:t>Magas rendelkezésre állás</a:t>
            </a:r>
          </a:p>
          <a:p>
            <a:pPr>
              <a:lnSpc>
                <a:spcPct val="150000"/>
              </a:lnSpc>
            </a:pPr>
            <a:r>
              <a:rPr lang="hu-HU" dirty="0">
                <a:solidFill>
                  <a:schemeClr val="bg1"/>
                </a:solidFill>
              </a:rPr>
              <a:t>Biztonságos adatkezelés</a:t>
            </a:r>
          </a:p>
          <a:p>
            <a:pPr>
              <a:lnSpc>
                <a:spcPct val="150000"/>
              </a:lnSpc>
            </a:pPr>
            <a:r>
              <a:rPr lang="hu-HU" dirty="0">
                <a:solidFill>
                  <a:schemeClr val="bg1"/>
                </a:solidFill>
              </a:rPr>
              <a:t>Skálázhatóság</a:t>
            </a:r>
          </a:p>
        </p:txBody>
      </p:sp>
    </p:spTree>
    <p:extLst>
      <p:ext uri="{BB962C8B-B14F-4D97-AF65-F5344CB8AC3E}">
        <p14:creationId xmlns:p14="http://schemas.microsoft.com/office/powerpoint/2010/main" val="22525871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inVertical)">
                                      <p:cBhvr>
                                        <p:cTn id="11" dur="500"/>
                                        <p:tgtEl>
                                          <p:spTgt spid="3">
                                            <p:txEl>
                                              <p:pRg st="1" end="1"/>
                                            </p:txEl>
                                          </p:spTgt>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arn(inVertical)">
                                      <p:cBhvr>
                                        <p:cTn id="19" dur="500"/>
                                        <p:tgtEl>
                                          <p:spTgt spid="3">
                                            <p:txEl>
                                              <p:pRg st="3" end="3"/>
                                            </p:txEl>
                                          </p:spTgt>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BE66D63-5C8D-6811-7A91-74F4193404CD}"/>
              </a:ext>
            </a:extLst>
          </p:cNvPr>
          <p:cNvSpPr>
            <a:spLocks noGrp="1"/>
          </p:cNvSpPr>
          <p:nvPr>
            <p:ph type="title"/>
          </p:nvPr>
        </p:nvSpPr>
        <p:spPr/>
        <p:txBody>
          <a:bodyPr/>
          <a:lstStyle/>
          <a:p>
            <a:r>
              <a:rPr lang="hu-HU" b="1" dirty="0">
                <a:solidFill>
                  <a:schemeClr val="bg1"/>
                </a:solidFill>
              </a:rPr>
              <a:t>Telephelyeink</a:t>
            </a:r>
          </a:p>
        </p:txBody>
      </p:sp>
      <p:sp>
        <p:nvSpPr>
          <p:cNvPr id="3" name="Tartalom helye 2">
            <a:extLst>
              <a:ext uri="{FF2B5EF4-FFF2-40B4-BE49-F238E27FC236}">
                <a16:creationId xmlns:a16="http://schemas.microsoft.com/office/drawing/2014/main" id="{15FB7D74-2666-4EED-CA64-58586FAC1448}"/>
              </a:ext>
            </a:extLst>
          </p:cNvPr>
          <p:cNvSpPr>
            <a:spLocks noGrp="1"/>
          </p:cNvSpPr>
          <p:nvPr>
            <p:ph sz="half" idx="1"/>
          </p:nvPr>
        </p:nvSpPr>
        <p:spPr>
          <a:xfrm>
            <a:off x="838200" y="1825625"/>
            <a:ext cx="6175248" cy="4351338"/>
          </a:xfrm>
        </p:spPr>
        <p:txBody>
          <a:bodyPr/>
          <a:lstStyle/>
          <a:p>
            <a:pPr>
              <a:lnSpc>
                <a:spcPct val="150000"/>
              </a:lnSpc>
            </a:pPr>
            <a:r>
              <a:rPr lang="hu-HU" dirty="0">
                <a:solidFill>
                  <a:schemeClr val="bg1"/>
                </a:solidFill>
              </a:rPr>
              <a:t>Iroda – Vác</a:t>
            </a:r>
          </a:p>
          <a:p>
            <a:pPr>
              <a:lnSpc>
                <a:spcPct val="150000"/>
              </a:lnSpc>
            </a:pPr>
            <a:r>
              <a:rPr lang="hu-HU" dirty="0">
                <a:solidFill>
                  <a:schemeClr val="bg1"/>
                </a:solidFill>
              </a:rPr>
              <a:t>Gyárüzem és raktár – Göd Ipartelep</a:t>
            </a:r>
          </a:p>
          <a:p>
            <a:pPr>
              <a:lnSpc>
                <a:spcPct val="150000"/>
              </a:lnSpc>
            </a:pPr>
            <a:r>
              <a:rPr lang="hu-HU" dirty="0">
                <a:solidFill>
                  <a:schemeClr val="bg1"/>
                </a:solidFill>
              </a:rPr>
              <a:t>Szaküzlet – Budapest Deák Ferenc tér</a:t>
            </a:r>
          </a:p>
          <a:p>
            <a:pPr>
              <a:lnSpc>
                <a:spcPct val="150000"/>
              </a:lnSpc>
            </a:pPr>
            <a:r>
              <a:rPr lang="hu-HU" dirty="0">
                <a:solidFill>
                  <a:schemeClr val="bg1"/>
                </a:solidFill>
              </a:rPr>
              <a:t>Adatközpont – </a:t>
            </a:r>
            <a:r>
              <a:rPr lang="hu-HU" dirty="0" err="1">
                <a:solidFill>
                  <a:schemeClr val="bg1"/>
                </a:solidFill>
              </a:rPr>
              <a:t>OceanData</a:t>
            </a:r>
            <a:r>
              <a:rPr lang="hu-HU" dirty="0">
                <a:solidFill>
                  <a:schemeClr val="bg1"/>
                </a:solidFill>
              </a:rPr>
              <a:t> Kft. Budapest Váci út</a:t>
            </a:r>
          </a:p>
        </p:txBody>
      </p:sp>
      <p:pic>
        <p:nvPicPr>
          <p:cNvPr id="5" name="Tartalom helye 4" descr="A képen térkép, atlasz, szöveg látható&#10;&#10;Előfordulhat, hogy az AI által létrehozott tartalom helytelen.">
            <a:extLst>
              <a:ext uri="{FF2B5EF4-FFF2-40B4-BE49-F238E27FC236}">
                <a16:creationId xmlns:a16="http://schemas.microsoft.com/office/drawing/2014/main" id="{C85A9C36-16BC-81DE-D65E-35251374B40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318797" y="1825625"/>
            <a:ext cx="3035003" cy="4552506"/>
          </a:xfrm>
          <a:prstGeom prst="rect">
            <a:avLst/>
          </a:prstGeom>
        </p:spPr>
      </p:pic>
    </p:spTree>
    <p:extLst>
      <p:ext uri="{BB962C8B-B14F-4D97-AF65-F5344CB8AC3E}">
        <p14:creationId xmlns:p14="http://schemas.microsoft.com/office/powerpoint/2010/main" val="400481192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77343D6-C8F2-D95C-73D2-30B8FF2E82B4}"/>
              </a:ext>
            </a:extLst>
          </p:cNvPr>
          <p:cNvSpPr>
            <a:spLocks noGrp="1"/>
          </p:cNvSpPr>
          <p:nvPr>
            <p:ph type="title"/>
          </p:nvPr>
        </p:nvSpPr>
        <p:spPr/>
        <p:txBody>
          <a:bodyPr/>
          <a:lstStyle/>
          <a:p>
            <a:r>
              <a:rPr lang="hu-HU" b="1" dirty="0">
                <a:solidFill>
                  <a:schemeClr val="bg1"/>
                </a:solidFill>
              </a:rPr>
              <a:t>Hálózati topológia</a:t>
            </a:r>
          </a:p>
        </p:txBody>
      </p:sp>
      <p:pic>
        <p:nvPicPr>
          <p:cNvPr id="5" name="Tartalom helye 4" descr="A képen térkép, diagram, szöveg, sor látható&#10;&#10;Előfordulhat, hogy az AI által létrehozott tartalom helytelen.">
            <a:extLst>
              <a:ext uri="{FF2B5EF4-FFF2-40B4-BE49-F238E27FC236}">
                <a16:creationId xmlns:a16="http://schemas.microsoft.com/office/drawing/2014/main" id="{BAC71072-7C6F-D88D-E2A9-398ADA09D506}"/>
              </a:ext>
            </a:extLst>
          </p:cNvPr>
          <p:cNvPicPr>
            <a:picLocks noGrp="1" noChangeAspect="1"/>
          </p:cNvPicPr>
          <p:nvPr>
            <p:ph idx="1"/>
          </p:nvPr>
        </p:nvPicPr>
        <p:blipFill>
          <a:blip r:embed="rId2"/>
          <a:stretch>
            <a:fillRect/>
          </a:stretch>
        </p:blipFill>
        <p:spPr>
          <a:xfrm>
            <a:off x="2019143" y="1690688"/>
            <a:ext cx="8153714" cy="4797728"/>
          </a:xfrm>
          <a:prstGeom prst="rect">
            <a:avLst/>
          </a:prstGeom>
        </p:spPr>
      </p:pic>
    </p:spTree>
    <p:extLst>
      <p:ext uri="{BB962C8B-B14F-4D97-AF65-F5344CB8AC3E}">
        <p14:creationId xmlns:p14="http://schemas.microsoft.com/office/powerpoint/2010/main" val="264266223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3608EAC-433A-AC69-ADAA-36741D5E7646}"/>
              </a:ext>
            </a:extLst>
          </p:cNvPr>
          <p:cNvSpPr>
            <a:spLocks noGrp="1"/>
          </p:cNvSpPr>
          <p:nvPr>
            <p:ph type="title"/>
          </p:nvPr>
        </p:nvSpPr>
        <p:spPr/>
        <p:txBody>
          <a:bodyPr/>
          <a:lstStyle/>
          <a:p>
            <a:r>
              <a:rPr lang="hu-HU" dirty="0">
                <a:solidFill>
                  <a:schemeClr val="bg1">
                    <a:lumMod val="95000"/>
                  </a:schemeClr>
                </a:solidFill>
              </a:rPr>
              <a:t>Iroda telephely</a:t>
            </a:r>
          </a:p>
        </p:txBody>
      </p:sp>
      <p:sp>
        <p:nvSpPr>
          <p:cNvPr id="3" name="Tartalom helye 2">
            <a:extLst>
              <a:ext uri="{FF2B5EF4-FFF2-40B4-BE49-F238E27FC236}">
                <a16:creationId xmlns:a16="http://schemas.microsoft.com/office/drawing/2014/main" id="{35E246F7-277D-19F7-1DDE-63CABD602ADC}"/>
              </a:ext>
            </a:extLst>
          </p:cNvPr>
          <p:cNvSpPr>
            <a:spLocks noGrp="1"/>
          </p:cNvSpPr>
          <p:nvPr>
            <p:ph idx="1"/>
          </p:nvPr>
        </p:nvSpPr>
        <p:spPr>
          <a:xfrm>
            <a:off x="838200" y="1825625"/>
            <a:ext cx="4385650" cy="4351338"/>
          </a:xfrm>
        </p:spPr>
        <p:txBody>
          <a:bodyPr/>
          <a:lstStyle/>
          <a:p>
            <a:r>
              <a:rPr lang="hu-HU" dirty="0">
                <a:solidFill>
                  <a:schemeClr val="bg1">
                    <a:lumMod val="95000"/>
                  </a:schemeClr>
                </a:solidFill>
              </a:rPr>
              <a:t>Könyvelési, adminisztratív feladatok</a:t>
            </a:r>
          </a:p>
          <a:p>
            <a:r>
              <a:rPr lang="hu-HU" dirty="0">
                <a:solidFill>
                  <a:schemeClr val="bg1">
                    <a:lumMod val="95000"/>
                  </a:schemeClr>
                </a:solidFill>
              </a:rPr>
              <a:t>HR/PR, kommunikáció</a:t>
            </a:r>
          </a:p>
        </p:txBody>
      </p:sp>
      <p:pic>
        <p:nvPicPr>
          <p:cNvPr id="5" name="Kép 4">
            <a:extLst>
              <a:ext uri="{FF2B5EF4-FFF2-40B4-BE49-F238E27FC236}">
                <a16:creationId xmlns:a16="http://schemas.microsoft.com/office/drawing/2014/main" id="{D093588F-960E-319F-7ABD-62F8F7ABC221}"/>
              </a:ext>
            </a:extLst>
          </p:cNvPr>
          <p:cNvPicPr>
            <a:picLocks noChangeAspect="1"/>
          </p:cNvPicPr>
          <p:nvPr/>
        </p:nvPicPr>
        <p:blipFill>
          <a:blip r:embed="rId3"/>
          <a:stretch>
            <a:fillRect/>
          </a:stretch>
        </p:blipFill>
        <p:spPr>
          <a:xfrm>
            <a:off x="5223850" y="1388709"/>
            <a:ext cx="6853017" cy="4722381"/>
          </a:xfrm>
          <a:prstGeom prst="rect">
            <a:avLst/>
          </a:prstGeom>
        </p:spPr>
      </p:pic>
    </p:spTree>
    <p:extLst>
      <p:ext uri="{BB962C8B-B14F-4D97-AF65-F5344CB8AC3E}">
        <p14:creationId xmlns:p14="http://schemas.microsoft.com/office/powerpoint/2010/main" val="336495716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CFB4-D0FD-0008-0E94-6DF337BD20BD}"/>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BB98206F-78CB-E7C8-DEA2-14F32D000587}"/>
              </a:ext>
            </a:extLst>
          </p:cNvPr>
          <p:cNvSpPr>
            <a:spLocks noGrp="1"/>
          </p:cNvSpPr>
          <p:nvPr>
            <p:ph type="title"/>
          </p:nvPr>
        </p:nvSpPr>
        <p:spPr/>
        <p:txBody>
          <a:bodyPr/>
          <a:lstStyle/>
          <a:p>
            <a:r>
              <a:rPr lang="hu-HU" dirty="0">
                <a:solidFill>
                  <a:schemeClr val="bg1">
                    <a:lumMod val="95000"/>
                  </a:schemeClr>
                </a:solidFill>
              </a:rPr>
              <a:t>Gyárüzem telephely</a:t>
            </a:r>
          </a:p>
        </p:txBody>
      </p:sp>
      <p:sp>
        <p:nvSpPr>
          <p:cNvPr id="3" name="Tartalom helye 2">
            <a:extLst>
              <a:ext uri="{FF2B5EF4-FFF2-40B4-BE49-F238E27FC236}">
                <a16:creationId xmlns:a16="http://schemas.microsoft.com/office/drawing/2014/main" id="{B1DD48A7-BCCC-8E97-F09D-AF6ECDD2996A}"/>
              </a:ext>
            </a:extLst>
          </p:cNvPr>
          <p:cNvSpPr>
            <a:spLocks noGrp="1"/>
          </p:cNvSpPr>
          <p:nvPr>
            <p:ph idx="1"/>
          </p:nvPr>
        </p:nvSpPr>
        <p:spPr/>
        <p:txBody>
          <a:bodyPr/>
          <a:lstStyle/>
          <a:p>
            <a:r>
              <a:rPr lang="hu-HU" dirty="0">
                <a:solidFill>
                  <a:schemeClr val="bg1">
                    <a:lumMod val="95000"/>
                  </a:schemeClr>
                </a:solidFill>
              </a:rPr>
              <a:t>Alkatrészek elkészítése</a:t>
            </a:r>
          </a:p>
          <a:p>
            <a:r>
              <a:rPr lang="hu-HU" dirty="0">
                <a:solidFill>
                  <a:schemeClr val="bg1">
                    <a:lumMod val="95000"/>
                  </a:schemeClr>
                </a:solidFill>
              </a:rPr>
              <a:t>Összeszerelés</a:t>
            </a:r>
          </a:p>
          <a:p>
            <a:r>
              <a:rPr lang="hu-HU" dirty="0">
                <a:solidFill>
                  <a:schemeClr val="bg1">
                    <a:lumMod val="95000"/>
                  </a:schemeClr>
                </a:solidFill>
              </a:rPr>
              <a:t>Csomagolás</a:t>
            </a:r>
          </a:p>
          <a:p>
            <a:r>
              <a:rPr lang="hu-HU" dirty="0">
                <a:solidFill>
                  <a:schemeClr val="bg1">
                    <a:lumMod val="95000"/>
                  </a:schemeClr>
                </a:solidFill>
              </a:rPr>
              <a:t>Minőség-ellenőrzés</a:t>
            </a:r>
          </a:p>
          <a:p>
            <a:r>
              <a:rPr lang="hu-HU" dirty="0">
                <a:solidFill>
                  <a:schemeClr val="bg1">
                    <a:lumMod val="95000"/>
                  </a:schemeClr>
                </a:solidFill>
              </a:rPr>
              <a:t>Vezeték nélküli hálózat, PDA-k</a:t>
            </a:r>
          </a:p>
          <a:p>
            <a:r>
              <a:rPr lang="hu-HU" dirty="0">
                <a:solidFill>
                  <a:schemeClr val="bg1">
                    <a:lumMod val="95000"/>
                  </a:schemeClr>
                </a:solidFill>
              </a:rPr>
              <a:t>Tűzfallal ellátott védelem</a:t>
            </a:r>
          </a:p>
          <a:p>
            <a:pPr marL="0" indent="0">
              <a:buNone/>
            </a:pPr>
            <a:endParaRPr lang="hu-HU" dirty="0">
              <a:solidFill>
                <a:schemeClr val="bg1">
                  <a:lumMod val="95000"/>
                </a:schemeClr>
              </a:solidFill>
            </a:endParaRPr>
          </a:p>
        </p:txBody>
      </p:sp>
      <p:pic>
        <p:nvPicPr>
          <p:cNvPr id="5" name="Kép 4">
            <a:extLst>
              <a:ext uri="{FF2B5EF4-FFF2-40B4-BE49-F238E27FC236}">
                <a16:creationId xmlns:a16="http://schemas.microsoft.com/office/drawing/2014/main" id="{6AA3B882-89AB-F494-974D-BE75506C9EE7}"/>
              </a:ext>
            </a:extLst>
          </p:cNvPr>
          <p:cNvPicPr>
            <a:picLocks noChangeAspect="1"/>
          </p:cNvPicPr>
          <p:nvPr/>
        </p:nvPicPr>
        <p:blipFill>
          <a:blip r:embed="rId3"/>
          <a:stretch>
            <a:fillRect/>
          </a:stretch>
        </p:blipFill>
        <p:spPr>
          <a:xfrm>
            <a:off x="5884861" y="1564386"/>
            <a:ext cx="6005236" cy="4873815"/>
          </a:xfrm>
          <a:prstGeom prst="rect">
            <a:avLst/>
          </a:prstGeom>
        </p:spPr>
      </p:pic>
    </p:spTree>
    <p:extLst>
      <p:ext uri="{BB962C8B-B14F-4D97-AF65-F5344CB8AC3E}">
        <p14:creationId xmlns:p14="http://schemas.microsoft.com/office/powerpoint/2010/main" val="49132923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599B-2AAC-9900-027F-8B8F6782A433}"/>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BF177505-E442-7FD5-801A-C5765C5F7DB0}"/>
              </a:ext>
            </a:extLst>
          </p:cNvPr>
          <p:cNvSpPr>
            <a:spLocks noGrp="1"/>
          </p:cNvSpPr>
          <p:nvPr>
            <p:ph type="title"/>
          </p:nvPr>
        </p:nvSpPr>
        <p:spPr/>
        <p:txBody>
          <a:bodyPr/>
          <a:lstStyle/>
          <a:p>
            <a:r>
              <a:rPr lang="hu-HU" dirty="0">
                <a:solidFill>
                  <a:schemeClr val="bg1">
                    <a:lumMod val="95000"/>
                  </a:schemeClr>
                </a:solidFill>
              </a:rPr>
              <a:t>Szaküzlet telephely</a:t>
            </a:r>
          </a:p>
        </p:txBody>
      </p:sp>
      <p:sp>
        <p:nvSpPr>
          <p:cNvPr id="3" name="Tartalom helye 2">
            <a:extLst>
              <a:ext uri="{FF2B5EF4-FFF2-40B4-BE49-F238E27FC236}">
                <a16:creationId xmlns:a16="http://schemas.microsoft.com/office/drawing/2014/main" id="{90C6840C-E5E4-DAE8-58C4-B10335A6B175}"/>
              </a:ext>
            </a:extLst>
          </p:cNvPr>
          <p:cNvSpPr>
            <a:spLocks noGrp="1"/>
          </p:cNvSpPr>
          <p:nvPr>
            <p:ph idx="1"/>
          </p:nvPr>
        </p:nvSpPr>
        <p:spPr/>
        <p:txBody>
          <a:bodyPr/>
          <a:lstStyle/>
          <a:p>
            <a:r>
              <a:rPr lang="hu-HU" dirty="0">
                <a:solidFill>
                  <a:schemeClr val="bg1">
                    <a:lumMod val="95000"/>
                  </a:schemeClr>
                </a:solidFill>
              </a:rPr>
              <a:t>Egyszerű de megbízható rendszer</a:t>
            </a:r>
          </a:p>
          <a:p>
            <a:r>
              <a:rPr lang="hu-HU" dirty="0">
                <a:solidFill>
                  <a:schemeClr val="bg1">
                    <a:lumMod val="95000"/>
                  </a:schemeClr>
                </a:solidFill>
              </a:rPr>
              <a:t>Értékesítési feladatok</a:t>
            </a:r>
          </a:p>
          <a:p>
            <a:r>
              <a:rPr lang="hu-HU" dirty="0">
                <a:solidFill>
                  <a:schemeClr val="bg1">
                    <a:lumMod val="95000"/>
                  </a:schemeClr>
                </a:solidFill>
              </a:rPr>
              <a:t>Szervízre beadott termékek</a:t>
            </a:r>
          </a:p>
        </p:txBody>
      </p:sp>
      <p:pic>
        <p:nvPicPr>
          <p:cNvPr id="5" name="Kép 4">
            <a:extLst>
              <a:ext uri="{FF2B5EF4-FFF2-40B4-BE49-F238E27FC236}">
                <a16:creationId xmlns:a16="http://schemas.microsoft.com/office/drawing/2014/main" id="{CE6D6FF8-C711-9219-0C0B-8C1AFF6477E3}"/>
              </a:ext>
            </a:extLst>
          </p:cNvPr>
          <p:cNvPicPr>
            <a:picLocks noChangeAspect="1"/>
          </p:cNvPicPr>
          <p:nvPr/>
        </p:nvPicPr>
        <p:blipFill>
          <a:blip r:embed="rId3"/>
          <a:stretch>
            <a:fillRect/>
          </a:stretch>
        </p:blipFill>
        <p:spPr>
          <a:xfrm>
            <a:off x="6676457" y="681036"/>
            <a:ext cx="4857657" cy="5922933"/>
          </a:xfrm>
          <a:prstGeom prst="rect">
            <a:avLst/>
          </a:prstGeom>
        </p:spPr>
      </p:pic>
    </p:spTree>
    <p:extLst>
      <p:ext uri="{BB962C8B-B14F-4D97-AF65-F5344CB8AC3E}">
        <p14:creationId xmlns:p14="http://schemas.microsoft.com/office/powerpoint/2010/main" val="169928570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C9A0-72A4-3A16-A98F-58104DA46AA1}"/>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33570EF0-1D3F-BE88-2900-FAB782213B49}"/>
              </a:ext>
            </a:extLst>
          </p:cNvPr>
          <p:cNvSpPr>
            <a:spLocks noGrp="1"/>
          </p:cNvSpPr>
          <p:nvPr>
            <p:ph type="title"/>
          </p:nvPr>
        </p:nvSpPr>
        <p:spPr/>
        <p:txBody>
          <a:bodyPr/>
          <a:lstStyle/>
          <a:p>
            <a:r>
              <a:rPr lang="hu-HU" dirty="0" err="1">
                <a:solidFill>
                  <a:schemeClr val="bg1">
                    <a:lumMod val="95000"/>
                  </a:schemeClr>
                </a:solidFill>
              </a:rPr>
              <a:t>OceanData</a:t>
            </a:r>
            <a:r>
              <a:rPr lang="hu-HU" dirty="0">
                <a:solidFill>
                  <a:schemeClr val="bg1">
                    <a:lumMod val="95000"/>
                  </a:schemeClr>
                </a:solidFill>
              </a:rPr>
              <a:t> adatközpont telephely</a:t>
            </a:r>
          </a:p>
        </p:txBody>
      </p:sp>
      <p:sp>
        <p:nvSpPr>
          <p:cNvPr id="3" name="Tartalom helye 2">
            <a:extLst>
              <a:ext uri="{FF2B5EF4-FFF2-40B4-BE49-F238E27FC236}">
                <a16:creationId xmlns:a16="http://schemas.microsoft.com/office/drawing/2014/main" id="{BFE3B07A-EAEF-F6F1-CADD-45EF1918062C}"/>
              </a:ext>
            </a:extLst>
          </p:cNvPr>
          <p:cNvSpPr>
            <a:spLocks noGrp="1"/>
          </p:cNvSpPr>
          <p:nvPr>
            <p:ph idx="1"/>
          </p:nvPr>
        </p:nvSpPr>
        <p:spPr>
          <a:xfrm>
            <a:off x="838200" y="1825625"/>
            <a:ext cx="4820216" cy="4351338"/>
          </a:xfrm>
        </p:spPr>
        <p:txBody>
          <a:bodyPr/>
          <a:lstStyle/>
          <a:p>
            <a:r>
              <a:rPr lang="hu-HU" dirty="0">
                <a:solidFill>
                  <a:schemeClr val="bg1">
                    <a:lumMod val="95000"/>
                  </a:schemeClr>
                </a:solidFill>
              </a:rPr>
              <a:t>Az összes telephely DNS kérései</a:t>
            </a:r>
          </a:p>
          <a:p>
            <a:r>
              <a:rPr lang="hu-HU" dirty="0">
                <a:solidFill>
                  <a:schemeClr val="bg1">
                    <a:lumMod val="95000"/>
                  </a:schemeClr>
                </a:solidFill>
              </a:rPr>
              <a:t>Fájlszerver, web- és adatbázis szolgáltatások</a:t>
            </a:r>
          </a:p>
          <a:p>
            <a:r>
              <a:rPr lang="hu-HU" dirty="0">
                <a:solidFill>
                  <a:schemeClr val="bg1">
                    <a:lumMod val="95000"/>
                  </a:schemeClr>
                </a:solidFill>
              </a:rPr>
              <a:t>Redundancia, skálázhatóság</a:t>
            </a:r>
          </a:p>
          <a:p>
            <a:r>
              <a:rPr lang="hu-HU" dirty="0">
                <a:solidFill>
                  <a:schemeClr val="bg1">
                    <a:lumMod val="95000"/>
                  </a:schemeClr>
                </a:solidFill>
              </a:rPr>
              <a:t>A legkomplexebb mind közül</a:t>
            </a: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B5E4B6CC-6DDE-0A1B-7642-20975F4F0670}"/>
              </a:ext>
            </a:extLst>
          </p:cNvPr>
          <p:cNvPicPr>
            <a:picLocks noChangeAspect="1"/>
          </p:cNvPicPr>
          <p:nvPr/>
        </p:nvPicPr>
        <p:blipFill>
          <a:blip r:embed="rId3"/>
          <a:stretch>
            <a:fillRect/>
          </a:stretch>
        </p:blipFill>
        <p:spPr>
          <a:xfrm>
            <a:off x="6403817" y="1281402"/>
            <a:ext cx="4351699" cy="5439623"/>
          </a:xfrm>
          <a:prstGeom prst="rect">
            <a:avLst/>
          </a:prstGeom>
        </p:spPr>
      </p:pic>
    </p:spTree>
    <p:extLst>
      <p:ext uri="{BB962C8B-B14F-4D97-AF65-F5344CB8AC3E}">
        <p14:creationId xmlns:p14="http://schemas.microsoft.com/office/powerpoint/2010/main" val="206349179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8F1D4-D35A-34F7-12BC-E2094CA29086}"/>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3FD4D27B-5C7C-3CDB-A871-41B2E27CCCFD}"/>
              </a:ext>
            </a:extLst>
          </p:cNvPr>
          <p:cNvSpPr>
            <a:spLocks noGrp="1"/>
          </p:cNvSpPr>
          <p:nvPr>
            <p:ph type="title"/>
          </p:nvPr>
        </p:nvSpPr>
        <p:spPr/>
        <p:txBody>
          <a:bodyPr/>
          <a:lstStyle/>
          <a:p>
            <a:r>
              <a:rPr lang="hu-HU" dirty="0">
                <a:solidFill>
                  <a:schemeClr val="bg1">
                    <a:lumMod val="95000"/>
                  </a:schemeClr>
                </a:solidFill>
              </a:rPr>
              <a:t>Az internetszolgáltató leszimulálása</a:t>
            </a:r>
          </a:p>
        </p:txBody>
      </p:sp>
      <p:sp>
        <p:nvSpPr>
          <p:cNvPr id="3" name="Tartalom helye 2">
            <a:extLst>
              <a:ext uri="{FF2B5EF4-FFF2-40B4-BE49-F238E27FC236}">
                <a16:creationId xmlns:a16="http://schemas.microsoft.com/office/drawing/2014/main" id="{63D7429F-3D08-C8DF-6107-CAE6E72285A0}"/>
              </a:ext>
            </a:extLst>
          </p:cNvPr>
          <p:cNvSpPr>
            <a:spLocks noGrp="1"/>
          </p:cNvSpPr>
          <p:nvPr>
            <p:ph idx="1"/>
          </p:nvPr>
        </p:nvSpPr>
        <p:spPr>
          <a:xfrm>
            <a:off x="838200" y="1825625"/>
            <a:ext cx="4829269" cy="4351338"/>
          </a:xfrm>
        </p:spPr>
        <p:txBody>
          <a:bodyPr/>
          <a:lstStyle/>
          <a:p>
            <a:r>
              <a:rPr lang="hu-HU" dirty="0" err="1">
                <a:solidFill>
                  <a:schemeClr val="bg1">
                    <a:lumMod val="95000"/>
                  </a:schemeClr>
                </a:solidFill>
              </a:rPr>
              <a:t>Full</a:t>
            </a:r>
            <a:r>
              <a:rPr lang="hu-HU" dirty="0">
                <a:solidFill>
                  <a:schemeClr val="bg1">
                    <a:lumMod val="95000"/>
                  </a:schemeClr>
                </a:solidFill>
              </a:rPr>
              <a:t> </a:t>
            </a:r>
            <a:r>
              <a:rPr lang="hu-HU" dirty="0" err="1">
                <a:solidFill>
                  <a:schemeClr val="bg1">
                    <a:lumMod val="95000"/>
                  </a:schemeClr>
                </a:solidFill>
              </a:rPr>
              <a:t>mesh</a:t>
            </a:r>
            <a:r>
              <a:rPr lang="hu-HU" dirty="0">
                <a:solidFill>
                  <a:schemeClr val="bg1">
                    <a:lumMod val="95000"/>
                  </a:schemeClr>
                </a:solidFill>
              </a:rPr>
              <a:t> topológiás hálózat</a:t>
            </a:r>
          </a:p>
          <a:p>
            <a:r>
              <a:rPr lang="hu-HU" dirty="0">
                <a:solidFill>
                  <a:schemeClr val="bg1">
                    <a:lumMod val="95000"/>
                  </a:schemeClr>
                </a:solidFill>
              </a:rPr>
              <a:t>Minden telephelynek stabil hozzáférés</a:t>
            </a:r>
            <a:br>
              <a:rPr lang="hu-HU" dirty="0">
                <a:solidFill>
                  <a:schemeClr val="bg1">
                    <a:lumMod val="95000"/>
                  </a:schemeClr>
                </a:solidFill>
              </a:rPr>
            </a:br>
            <a:r>
              <a:rPr lang="hu-HU" dirty="0">
                <a:solidFill>
                  <a:schemeClr val="bg1">
                    <a:lumMod val="95000"/>
                  </a:schemeClr>
                </a:solidFill>
              </a:rPr>
              <a:t>a többi szervezeti egységhez</a:t>
            </a:r>
          </a:p>
          <a:p>
            <a:r>
              <a:rPr lang="hu-HU" dirty="0">
                <a:solidFill>
                  <a:schemeClr val="bg1">
                    <a:lumMod val="95000"/>
                  </a:schemeClr>
                </a:solidFill>
              </a:rPr>
              <a:t>EIGRP Cisco szabadalmaztatott </a:t>
            </a:r>
            <a:r>
              <a:rPr lang="hu-HU" dirty="0" err="1">
                <a:solidFill>
                  <a:schemeClr val="bg1">
                    <a:lumMod val="95000"/>
                  </a:schemeClr>
                </a:solidFill>
              </a:rPr>
              <a:t>protokol</a:t>
            </a:r>
            <a:endParaRPr lang="hu-HU" dirty="0">
              <a:solidFill>
                <a:schemeClr val="bg1">
                  <a:lumMod val="95000"/>
                </a:schemeClr>
              </a:solidFill>
            </a:endParaRPr>
          </a:p>
          <a:p>
            <a:pPr marL="0" indent="0">
              <a:buNone/>
            </a:pPr>
            <a:endParaRPr lang="hu-HU" dirty="0">
              <a:solidFill>
                <a:schemeClr val="bg1">
                  <a:lumMod val="95000"/>
                </a:schemeClr>
              </a:solidFill>
            </a:endParaRPr>
          </a:p>
        </p:txBody>
      </p:sp>
      <p:pic>
        <p:nvPicPr>
          <p:cNvPr id="5" name="Kép 4">
            <a:extLst>
              <a:ext uri="{FF2B5EF4-FFF2-40B4-BE49-F238E27FC236}">
                <a16:creationId xmlns:a16="http://schemas.microsoft.com/office/drawing/2014/main" id="{5B845ECF-55EF-5208-FDFD-5442D9EAF089}"/>
              </a:ext>
            </a:extLst>
          </p:cNvPr>
          <p:cNvPicPr>
            <a:picLocks noChangeAspect="1"/>
          </p:cNvPicPr>
          <p:nvPr/>
        </p:nvPicPr>
        <p:blipFill>
          <a:blip r:embed="rId3"/>
          <a:stretch>
            <a:fillRect/>
          </a:stretch>
        </p:blipFill>
        <p:spPr>
          <a:xfrm>
            <a:off x="5846003" y="1363898"/>
            <a:ext cx="6032144" cy="5244731"/>
          </a:xfrm>
          <a:prstGeom prst="rect">
            <a:avLst/>
          </a:prstGeom>
        </p:spPr>
      </p:pic>
    </p:spTree>
    <p:extLst>
      <p:ext uri="{BB962C8B-B14F-4D97-AF65-F5344CB8AC3E}">
        <p14:creationId xmlns:p14="http://schemas.microsoft.com/office/powerpoint/2010/main" val="95309818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CC01-E8A1-9462-CF67-BC82BC769B9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42974643-03D0-93B5-ED6D-94AA3B33A49B}"/>
              </a:ext>
            </a:extLst>
          </p:cNvPr>
          <p:cNvSpPr>
            <a:spLocks noGrp="1"/>
          </p:cNvSpPr>
          <p:nvPr>
            <p:ph type="title"/>
          </p:nvPr>
        </p:nvSpPr>
        <p:spPr/>
        <p:txBody>
          <a:bodyPr/>
          <a:lstStyle/>
          <a:p>
            <a:r>
              <a:rPr lang="hu-HU" dirty="0">
                <a:solidFill>
                  <a:schemeClr val="bg1">
                    <a:lumMod val="95000"/>
                  </a:schemeClr>
                </a:solidFill>
              </a:rPr>
              <a:t>Access </a:t>
            </a:r>
            <a:r>
              <a:rPr lang="hu-HU" dirty="0" err="1">
                <a:solidFill>
                  <a:schemeClr val="bg1">
                    <a:lumMod val="95000"/>
                  </a:schemeClr>
                </a:solidFill>
              </a:rPr>
              <a:t>Control</a:t>
            </a:r>
            <a:r>
              <a:rPr lang="hu-HU" dirty="0">
                <a:solidFill>
                  <a:schemeClr val="bg1">
                    <a:lumMod val="95000"/>
                  </a:schemeClr>
                </a:solidFill>
              </a:rPr>
              <a:t> List</a:t>
            </a:r>
          </a:p>
        </p:txBody>
      </p:sp>
      <p:sp>
        <p:nvSpPr>
          <p:cNvPr id="3" name="Tartalom helye 2">
            <a:extLst>
              <a:ext uri="{FF2B5EF4-FFF2-40B4-BE49-F238E27FC236}">
                <a16:creationId xmlns:a16="http://schemas.microsoft.com/office/drawing/2014/main" id="{D2F8345F-0C5A-C19F-CC81-8A2E4D60564C}"/>
              </a:ext>
            </a:extLst>
          </p:cNvPr>
          <p:cNvSpPr>
            <a:spLocks noGrp="1"/>
          </p:cNvSpPr>
          <p:nvPr>
            <p:ph idx="1"/>
          </p:nvPr>
        </p:nvSpPr>
        <p:spPr/>
        <p:txBody>
          <a:bodyPr/>
          <a:lstStyle/>
          <a:p>
            <a:r>
              <a:rPr lang="hu-HU" dirty="0">
                <a:solidFill>
                  <a:schemeClr val="bg1">
                    <a:lumMod val="95000"/>
                  </a:schemeClr>
                </a:solidFill>
              </a:rPr>
              <a:t> Hozzáférés-vezérlési lista</a:t>
            </a:r>
          </a:p>
          <a:p>
            <a:r>
              <a:rPr lang="hu-HU" dirty="0">
                <a:solidFill>
                  <a:schemeClr val="bg1">
                    <a:lumMod val="95000"/>
                  </a:schemeClr>
                </a:solidFill>
              </a:rPr>
              <a:t>Biztonsági, forgalomirányítási feladatokra alkalmas</a:t>
            </a:r>
          </a:p>
          <a:p>
            <a:r>
              <a:rPr lang="hu-HU" dirty="0">
                <a:solidFill>
                  <a:schemeClr val="bg1">
                    <a:lumMod val="95000"/>
                  </a:schemeClr>
                </a:solidFill>
              </a:rPr>
              <a:t>PAT-hoz is használatos</a:t>
            </a:r>
          </a:p>
          <a:p>
            <a:r>
              <a:rPr lang="hu-HU" dirty="0">
                <a:solidFill>
                  <a:schemeClr val="bg1">
                    <a:lumMod val="95000"/>
                  </a:schemeClr>
                </a:solidFill>
              </a:rPr>
              <a:t>Forgalomszűrés</a:t>
            </a: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9549DA89-236C-9918-3DAE-6BB658ED47DA}"/>
              </a:ext>
            </a:extLst>
          </p:cNvPr>
          <p:cNvPicPr>
            <a:picLocks noChangeAspect="1"/>
          </p:cNvPicPr>
          <p:nvPr/>
        </p:nvPicPr>
        <p:blipFill>
          <a:blip r:embed="rId3"/>
          <a:stretch>
            <a:fillRect/>
          </a:stretch>
        </p:blipFill>
        <p:spPr>
          <a:xfrm>
            <a:off x="6551935" y="2996737"/>
            <a:ext cx="4610743" cy="3315163"/>
          </a:xfrm>
          <a:prstGeom prst="rect">
            <a:avLst/>
          </a:prstGeom>
        </p:spPr>
      </p:pic>
    </p:spTree>
    <p:extLst>
      <p:ext uri="{BB962C8B-B14F-4D97-AF65-F5344CB8AC3E}">
        <p14:creationId xmlns:p14="http://schemas.microsoft.com/office/powerpoint/2010/main" val="3139469377"/>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0CD02-9BD3-9DBE-4C5C-F52719701024}"/>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F06379EB-D30D-AC00-C2FA-444A9710C18E}"/>
              </a:ext>
            </a:extLst>
          </p:cNvPr>
          <p:cNvSpPr>
            <a:spLocks noGrp="1"/>
          </p:cNvSpPr>
          <p:nvPr>
            <p:ph type="title"/>
          </p:nvPr>
        </p:nvSpPr>
        <p:spPr/>
        <p:txBody>
          <a:bodyPr/>
          <a:lstStyle/>
          <a:p>
            <a:r>
              <a:rPr lang="hu-HU" dirty="0">
                <a:solidFill>
                  <a:schemeClr val="bg1">
                    <a:lumMod val="95000"/>
                  </a:schemeClr>
                </a:solidFill>
              </a:rPr>
              <a:t>DHCP</a:t>
            </a:r>
          </a:p>
        </p:txBody>
      </p:sp>
      <p:sp>
        <p:nvSpPr>
          <p:cNvPr id="3" name="Tartalom helye 2">
            <a:extLst>
              <a:ext uri="{FF2B5EF4-FFF2-40B4-BE49-F238E27FC236}">
                <a16:creationId xmlns:a16="http://schemas.microsoft.com/office/drawing/2014/main" id="{8B582D63-F593-90ED-C1B7-F7BFBFFFBF06}"/>
              </a:ext>
            </a:extLst>
          </p:cNvPr>
          <p:cNvSpPr>
            <a:spLocks noGrp="1"/>
          </p:cNvSpPr>
          <p:nvPr>
            <p:ph idx="1"/>
          </p:nvPr>
        </p:nvSpPr>
        <p:spPr/>
        <p:txBody>
          <a:bodyPr/>
          <a:lstStyle/>
          <a:p>
            <a:r>
              <a:rPr lang="hu-HU" dirty="0">
                <a:solidFill>
                  <a:schemeClr val="bg1">
                    <a:lumMod val="95000"/>
                  </a:schemeClr>
                </a:solidFill>
              </a:rPr>
              <a:t>hálózati címek, átjárók és DNS </a:t>
            </a:r>
            <a:br>
              <a:rPr lang="hu-HU" dirty="0">
                <a:solidFill>
                  <a:schemeClr val="bg1">
                    <a:lumMod val="95000"/>
                  </a:schemeClr>
                </a:solidFill>
              </a:rPr>
            </a:br>
            <a:r>
              <a:rPr lang="hu-HU" dirty="0">
                <a:solidFill>
                  <a:schemeClr val="bg1">
                    <a:lumMod val="95000"/>
                  </a:schemeClr>
                </a:solidFill>
              </a:rPr>
              <a:t>szerverek automatikus kisosztása</a:t>
            </a:r>
          </a:p>
          <a:p>
            <a:r>
              <a:rPr lang="hu-HU" dirty="0">
                <a:solidFill>
                  <a:schemeClr val="bg1">
                    <a:lumMod val="95000"/>
                  </a:schemeClr>
                </a:solidFill>
              </a:rPr>
              <a:t>jelentős időspórolás, </a:t>
            </a:r>
            <a:br>
              <a:rPr lang="hu-HU" dirty="0">
                <a:solidFill>
                  <a:schemeClr val="bg1">
                    <a:lumMod val="95000"/>
                  </a:schemeClr>
                </a:solidFill>
              </a:rPr>
            </a:br>
            <a:r>
              <a:rPr lang="hu-HU" dirty="0">
                <a:solidFill>
                  <a:schemeClr val="bg1">
                    <a:lumMod val="95000"/>
                  </a:schemeClr>
                </a:solidFill>
              </a:rPr>
              <a:t>és emberi hibalehetőség kiiktatása</a:t>
            </a: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5063F815-817A-A550-227D-B65003B619E0}"/>
              </a:ext>
            </a:extLst>
          </p:cNvPr>
          <p:cNvPicPr>
            <a:picLocks noChangeAspect="1"/>
          </p:cNvPicPr>
          <p:nvPr/>
        </p:nvPicPr>
        <p:blipFill>
          <a:blip r:embed="rId3"/>
          <a:stretch>
            <a:fillRect/>
          </a:stretch>
        </p:blipFill>
        <p:spPr>
          <a:xfrm>
            <a:off x="6867866" y="1447831"/>
            <a:ext cx="4843380" cy="5015620"/>
          </a:xfrm>
          <a:prstGeom prst="rect">
            <a:avLst/>
          </a:prstGeom>
        </p:spPr>
      </p:pic>
    </p:spTree>
    <p:extLst>
      <p:ext uri="{BB962C8B-B14F-4D97-AF65-F5344CB8AC3E}">
        <p14:creationId xmlns:p14="http://schemas.microsoft.com/office/powerpoint/2010/main" val="2372841003"/>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D2EB8-D3B7-649E-C0C0-8ADDF18591C4}"/>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46C864BC-3353-58E4-ACF2-19FB76927851}"/>
              </a:ext>
            </a:extLst>
          </p:cNvPr>
          <p:cNvSpPr>
            <a:spLocks noGrp="1"/>
          </p:cNvSpPr>
          <p:nvPr>
            <p:ph type="title"/>
          </p:nvPr>
        </p:nvSpPr>
        <p:spPr/>
        <p:txBody>
          <a:bodyPr/>
          <a:lstStyle/>
          <a:p>
            <a:r>
              <a:rPr lang="hu-HU" dirty="0">
                <a:solidFill>
                  <a:schemeClr val="bg1">
                    <a:lumMod val="95000"/>
                  </a:schemeClr>
                </a:solidFill>
              </a:rPr>
              <a:t>DHCP </a:t>
            </a:r>
            <a:r>
              <a:rPr lang="hu-HU" dirty="0" err="1">
                <a:solidFill>
                  <a:schemeClr val="bg1">
                    <a:lumMod val="95000"/>
                  </a:schemeClr>
                </a:solidFill>
              </a:rPr>
              <a:t>Snooping</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3BD31C7E-E614-9516-BD85-24CF66FA727F}"/>
              </a:ext>
            </a:extLst>
          </p:cNvPr>
          <p:cNvSpPr>
            <a:spLocks noGrp="1"/>
          </p:cNvSpPr>
          <p:nvPr>
            <p:ph idx="1"/>
          </p:nvPr>
        </p:nvSpPr>
        <p:spPr>
          <a:xfrm>
            <a:off x="838200" y="1825625"/>
            <a:ext cx="5381531" cy="4351338"/>
          </a:xfrm>
        </p:spPr>
        <p:txBody>
          <a:bodyPr/>
          <a:lstStyle/>
          <a:p>
            <a:r>
              <a:rPr lang="hu-HU" dirty="0">
                <a:solidFill>
                  <a:schemeClr val="bg1">
                    <a:lumMod val="95000"/>
                  </a:schemeClr>
                </a:solidFill>
              </a:rPr>
              <a:t>Megakadályozza, hogy illetéktelen </a:t>
            </a:r>
            <a:br>
              <a:rPr lang="hu-HU" dirty="0">
                <a:solidFill>
                  <a:schemeClr val="bg1">
                    <a:lumMod val="95000"/>
                  </a:schemeClr>
                </a:solidFill>
              </a:rPr>
            </a:br>
            <a:r>
              <a:rPr lang="hu-HU" dirty="0">
                <a:solidFill>
                  <a:schemeClr val="bg1">
                    <a:lumMod val="95000"/>
                  </a:schemeClr>
                </a:solidFill>
              </a:rPr>
              <a:t>személyek DHCP szerverként adják ki magukat</a:t>
            </a:r>
          </a:p>
          <a:p>
            <a:r>
              <a:rPr lang="en-US" dirty="0">
                <a:solidFill>
                  <a:schemeClr val="bg1">
                    <a:lumMod val="95000"/>
                  </a:schemeClr>
                </a:solidFill>
              </a:rPr>
              <a:t>„Man in the Middle” </a:t>
            </a:r>
            <a:r>
              <a:rPr lang="en-US" dirty="0" err="1">
                <a:solidFill>
                  <a:schemeClr val="bg1">
                    <a:lumMod val="95000"/>
                  </a:schemeClr>
                </a:solidFill>
              </a:rPr>
              <a:t>támad</a:t>
            </a:r>
            <a:r>
              <a:rPr lang="hu-HU" dirty="0">
                <a:solidFill>
                  <a:schemeClr val="bg1">
                    <a:lumMod val="95000"/>
                  </a:schemeClr>
                </a:solidFill>
              </a:rPr>
              <a:t>ások megakadályozása</a:t>
            </a:r>
          </a:p>
        </p:txBody>
      </p:sp>
      <p:pic>
        <p:nvPicPr>
          <p:cNvPr id="5" name="Kép 4">
            <a:extLst>
              <a:ext uri="{FF2B5EF4-FFF2-40B4-BE49-F238E27FC236}">
                <a16:creationId xmlns:a16="http://schemas.microsoft.com/office/drawing/2014/main" id="{74BDD246-62B6-ED3E-1254-2ED0BDA8063B}"/>
              </a:ext>
            </a:extLst>
          </p:cNvPr>
          <p:cNvPicPr>
            <a:picLocks noChangeAspect="1"/>
          </p:cNvPicPr>
          <p:nvPr/>
        </p:nvPicPr>
        <p:blipFill>
          <a:blip r:embed="rId3"/>
          <a:stretch>
            <a:fillRect/>
          </a:stretch>
        </p:blipFill>
        <p:spPr>
          <a:xfrm>
            <a:off x="6219731" y="1482458"/>
            <a:ext cx="5134069" cy="5050513"/>
          </a:xfrm>
          <a:prstGeom prst="rect">
            <a:avLst/>
          </a:prstGeom>
        </p:spPr>
      </p:pic>
    </p:spTree>
    <p:extLst>
      <p:ext uri="{BB962C8B-B14F-4D97-AF65-F5344CB8AC3E}">
        <p14:creationId xmlns:p14="http://schemas.microsoft.com/office/powerpoint/2010/main" val="1841609576"/>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8A31-829C-4DE6-9CDA-836FD0558462}"/>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3FDDBA1-5BCF-9E6D-78E1-842833D80150}"/>
              </a:ext>
            </a:extLst>
          </p:cNvPr>
          <p:cNvSpPr>
            <a:spLocks noGrp="1"/>
          </p:cNvSpPr>
          <p:nvPr>
            <p:ph type="title"/>
          </p:nvPr>
        </p:nvSpPr>
        <p:spPr/>
        <p:txBody>
          <a:bodyPr/>
          <a:lstStyle/>
          <a:p>
            <a:r>
              <a:rPr lang="hu-HU" dirty="0">
                <a:solidFill>
                  <a:schemeClr val="bg1">
                    <a:lumMod val="95000"/>
                  </a:schemeClr>
                </a:solidFill>
              </a:rPr>
              <a:t>GRE </a:t>
            </a:r>
            <a:r>
              <a:rPr lang="hu-HU" dirty="0" err="1">
                <a:solidFill>
                  <a:schemeClr val="bg1">
                    <a:lumMod val="95000"/>
                  </a:schemeClr>
                </a:solidFill>
              </a:rPr>
              <a:t>Tunnel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29FCEAED-F530-633F-10FE-0EF4F8CBA770}"/>
              </a:ext>
            </a:extLst>
          </p:cNvPr>
          <p:cNvSpPr>
            <a:spLocks noGrp="1"/>
          </p:cNvSpPr>
          <p:nvPr>
            <p:ph idx="1"/>
          </p:nvPr>
        </p:nvSpPr>
        <p:spPr>
          <a:xfrm>
            <a:off x="838200" y="1825625"/>
            <a:ext cx="4403103" cy="4351338"/>
          </a:xfrm>
        </p:spPr>
        <p:txBody>
          <a:bodyPr/>
          <a:lstStyle/>
          <a:p>
            <a:r>
              <a:rPr lang="hu-HU" dirty="0">
                <a:solidFill>
                  <a:schemeClr val="bg1">
                    <a:lumMod val="95000"/>
                  </a:schemeClr>
                </a:solidFill>
              </a:rPr>
              <a:t>Tökéletes megoldás a VPN kapcsolatok felállítására</a:t>
            </a:r>
          </a:p>
          <a:p>
            <a:r>
              <a:rPr lang="hu-HU" dirty="0">
                <a:solidFill>
                  <a:schemeClr val="bg1">
                    <a:lumMod val="95000"/>
                  </a:schemeClr>
                </a:solidFill>
              </a:rPr>
              <a:t>Forgalom biztonságos, titkosított mozgatása</a:t>
            </a:r>
          </a:p>
          <a:p>
            <a:r>
              <a:rPr lang="hu-HU" dirty="0">
                <a:solidFill>
                  <a:schemeClr val="bg1">
                    <a:lumMod val="95000"/>
                  </a:schemeClr>
                </a:solidFill>
              </a:rPr>
              <a:t>Logikai </a:t>
            </a:r>
            <a:r>
              <a:rPr lang="hu-HU" dirty="0" err="1">
                <a:solidFill>
                  <a:schemeClr val="bg1">
                    <a:lumMod val="95000"/>
                  </a:schemeClr>
                </a:solidFill>
              </a:rPr>
              <a:t>Point-to-Point</a:t>
            </a:r>
            <a:r>
              <a:rPr lang="hu-HU" dirty="0">
                <a:solidFill>
                  <a:schemeClr val="bg1">
                    <a:lumMod val="95000"/>
                  </a:schemeClr>
                </a:solidFill>
              </a:rPr>
              <a:t> kapcsolat</a:t>
            </a:r>
          </a:p>
        </p:txBody>
      </p:sp>
      <p:pic>
        <p:nvPicPr>
          <p:cNvPr id="5" name="Kép 4">
            <a:extLst>
              <a:ext uri="{FF2B5EF4-FFF2-40B4-BE49-F238E27FC236}">
                <a16:creationId xmlns:a16="http://schemas.microsoft.com/office/drawing/2014/main" id="{A6578C7A-CA40-3787-7E05-8C9D4F4F19EF}"/>
              </a:ext>
            </a:extLst>
          </p:cNvPr>
          <p:cNvPicPr>
            <a:picLocks noChangeAspect="1"/>
          </p:cNvPicPr>
          <p:nvPr/>
        </p:nvPicPr>
        <p:blipFill>
          <a:blip r:embed="rId3"/>
          <a:stretch>
            <a:fillRect/>
          </a:stretch>
        </p:blipFill>
        <p:spPr>
          <a:xfrm>
            <a:off x="5316334" y="1188162"/>
            <a:ext cx="6715008" cy="4920407"/>
          </a:xfrm>
          <a:prstGeom prst="rect">
            <a:avLst/>
          </a:prstGeom>
        </p:spPr>
      </p:pic>
    </p:spTree>
    <p:extLst>
      <p:ext uri="{BB962C8B-B14F-4D97-AF65-F5344CB8AC3E}">
        <p14:creationId xmlns:p14="http://schemas.microsoft.com/office/powerpoint/2010/main" val="445804138"/>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06BF-830A-2BA5-B40C-CC141AA89A7C}"/>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F9AFFB42-D26A-6FDE-1279-7B4A3B83EF71}"/>
              </a:ext>
            </a:extLst>
          </p:cNvPr>
          <p:cNvSpPr>
            <a:spLocks noGrp="1"/>
          </p:cNvSpPr>
          <p:nvPr>
            <p:ph type="title"/>
          </p:nvPr>
        </p:nvSpPr>
        <p:spPr/>
        <p:txBody>
          <a:bodyPr/>
          <a:lstStyle/>
          <a:p>
            <a:r>
              <a:rPr lang="hu-HU" dirty="0">
                <a:solidFill>
                  <a:schemeClr val="bg1">
                    <a:lumMod val="95000"/>
                  </a:schemeClr>
                </a:solidFill>
              </a:rPr>
              <a:t>Hot </a:t>
            </a:r>
            <a:r>
              <a:rPr lang="hu-HU" dirty="0" err="1">
                <a:solidFill>
                  <a:schemeClr val="bg1">
                    <a:lumMod val="95000"/>
                  </a:schemeClr>
                </a:solidFill>
              </a:rPr>
              <a:t>Standby</a:t>
            </a:r>
            <a:r>
              <a:rPr lang="hu-HU" dirty="0">
                <a:solidFill>
                  <a:schemeClr val="bg1">
                    <a:lumMod val="95000"/>
                  </a:schemeClr>
                </a:solidFill>
              </a:rPr>
              <a:t> </a:t>
            </a:r>
            <a:r>
              <a:rPr lang="hu-HU" dirty="0" err="1">
                <a:solidFill>
                  <a:schemeClr val="bg1">
                    <a:lumMod val="95000"/>
                  </a:schemeClr>
                </a:solidFill>
              </a:rPr>
              <a:t>Routing</a:t>
            </a:r>
            <a:r>
              <a:rPr lang="hu-HU" dirty="0">
                <a:solidFill>
                  <a:schemeClr val="bg1">
                    <a:lumMod val="95000"/>
                  </a:schemeClr>
                </a:solidFill>
              </a:rPr>
              <a:t> </a:t>
            </a:r>
            <a:r>
              <a:rPr lang="hu-HU" dirty="0" err="1">
                <a:solidFill>
                  <a:schemeClr val="bg1">
                    <a:lumMod val="95000"/>
                  </a:schemeClr>
                </a:solidFill>
              </a:rPr>
              <a:t>Protocol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A71B7721-344D-F527-CB58-8BE2E511C50F}"/>
              </a:ext>
            </a:extLst>
          </p:cNvPr>
          <p:cNvSpPr>
            <a:spLocks noGrp="1"/>
          </p:cNvSpPr>
          <p:nvPr>
            <p:ph idx="1"/>
          </p:nvPr>
        </p:nvSpPr>
        <p:spPr>
          <a:xfrm>
            <a:off x="838200" y="1825625"/>
            <a:ext cx="5100687" cy="4351338"/>
          </a:xfrm>
        </p:spPr>
        <p:txBody>
          <a:bodyPr/>
          <a:lstStyle/>
          <a:p>
            <a:r>
              <a:rPr lang="hu-HU" dirty="0">
                <a:solidFill>
                  <a:schemeClr val="bg1">
                    <a:lumMod val="95000"/>
                  </a:schemeClr>
                </a:solidFill>
              </a:rPr>
              <a:t>Redundáns alapátjáró kezelése</a:t>
            </a:r>
          </a:p>
          <a:p>
            <a:r>
              <a:rPr lang="hu-HU" dirty="0">
                <a:solidFill>
                  <a:schemeClr val="bg1">
                    <a:lumMod val="95000"/>
                  </a:schemeClr>
                </a:solidFill>
              </a:rPr>
              <a:t>Közös logikai kapcsolat</a:t>
            </a:r>
          </a:p>
          <a:p>
            <a:r>
              <a:rPr lang="hu-HU" dirty="0">
                <a:solidFill>
                  <a:schemeClr val="bg1">
                    <a:lumMod val="95000"/>
                  </a:schemeClr>
                </a:solidFill>
              </a:rPr>
              <a:t>Egymás fizikai állapotát figyelik</a:t>
            </a:r>
          </a:p>
          <a:p>
            <a:r>
              <a:rPr lang="hu-HU" dirty="0">
                <a:solidFill>
                  <a:schemeClr val="bg1">
                    <a:lumMod val="95000"/>
                  </a:schemeClr>
                </a:solidFill>
              </a:rPr>
              <a:t> A forgalom iránya változik, ha valamelyik fizikai link lekapcsol, vagy meghibásodik.</a:t>
            </a:r>
          </a:p>
          <a:p>
            <a:pPr marL="0" indent="0">
              <a:buNone/>
            </a:pPr>
            <a:endParaRPr lang="hu-HU" dirty="0">
              <a:solidFill>
                <a:schemeClr val="bg1">
                  <a:lumMod val="95000"/>
                </a:schemeClr>
              </a:solidFill>
            </a:endParaRPr>
          </a:p>
        </p:txBody>
      </p:sp>
      <p:pic>
        <p:nvPicPr>
          <p:cNvPr id="5" name="Kép 4">
            <a:extLst>
              <a:ext uri="{FF2B5EF4-FFF2-40B4-BE49-F238E27FC236}">
                <a16:creationId xmlns:a16="http://schemas.microsoft.com/office/drawing/2014/main" id="{5D61ECBD-0751-604D-470A-58F696B68A7B}"/>
              </a:ext>
            </a:extLst>
          </p:cNvPr>
          <p:cNvPicPr>
            <a:picLocks noChangeAspect="1"/>
          </p:cNvPicPr>
          <p:nvPr/>
        </p:nvPicPr>
        <p:blipFill>
          <a:blip r:embed="rId3"/>
          <a:stretch>
            <a:fillRect/>
          </a:stretch>
        </p:blipFill>
        <p:spPr>
          <a:xfrm>
            <a:off x="5185497" y="1530431"/>
            <a:ext cx="6625287" cy="2541947"/>
          </a:xfrm>
          <a:prstGeom prst="rect">
            <a:avLst/>
          </a:prstGeom>
        </p:spPr>
      </p:pic>
    </p:spTree>
    <p:extLst>
      <p:ext uri="{BB962C8B-B14F-4D97-AF65-F5344CB8AC3E}">
        <p14:creationId xmlns:p14="http://schemas.microsoft.com/office/powerpoint/2010/main" val="24587251"/>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E3B37-07E3-7A12-8EB5-90B7778C3B31}"/>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26004866-5428-F78C-DD69-B229732A6980}"/>
              </a:ext>
            </a:extLst>
          </p:cNvPr>
          <p:cNvSpPr>
            <a:spLocks noGrp="1"/>
          </p:cNvSpPr>
          <p:nvPr>
            <p:ph type="title"/>
          </p:nvPr>
        </p:nvSpPr>
        <p:spPr/>
        <p:txBody>
          <a:bodyPr>
            <a:normAutofit fontScale="90000"/>
          </a:bodyPr>
          <a:lstStyle/>
          <a:p>
            <a:r>
              <a:rPr lang="hu-HU" dirty="0">
                <a:solidFill>
                  <a:schemeClr val="bg1">
                    <a:lumMod val="95000"/>
                  </a:schemeClr>
                </a:solidFill>
              </a:rPr>
              <a:t>Network </a:t>
            </a:r>
            <a:r>
              <a:rPr lang="hu-HU" dirty="0" err="1">
                <a:solidFill>
                  <a:schemeClr val="bg1">
                    <a:lumMod val="95000"/>
                  </a:schemeClr>
                </a:solidFill>
              </a:rPr>
              <a:t>Address</a:t>
            </a:r>
            <a:r>
              <a:rPr lang="hu-HU" dirty="0">
                <a:solidFill>
                  <a:schemeClr val="bg1">
                    <a:lumMod val="95000"/>
                  </a:schemeClr>
                </a:solidFill>
              </a:rPr>
              <a:t> </a:t>
            </a:r>
            <a:r>
              <a:rPr lang="hu-HU" dirty="0" err="1">
                <a:solidFill>
                  <a:schemeClr val="bg1">
                    <a:lumMod val="95000"/>
                  </a:schemeClr>
                </a:solidFill>
              </a:rPr>
              <a:t>Translation</a:t>
            </a:r>
            <a:r>
              <a:rPr lang="hu-HU" dirty="0">
                <a:solidFill>
                  <a:schemeClr val="bg1">
                    <a:lumMod val="95000"/>
                  </a:schemeClr>
                </a:solidFill>
              </a:rPr>
              <a:t>, Port </a:t>
            </a:r>
            <a:r>
              <a:rPr lang="hu-HU" dirty="0" err="1">
                <a:solidFill>
                  <a:schemeClr val="bg1">
                    <a:lumMod val="95000"/>
                  </a:schemeClr>
                </a:solidFill>
              </a:rPr>
              <a:t>Address</a:t>
            </a:r>
            <a:r>
              <a:rPr lang="hu-HU" dirty="0">
                <a:solidFill>
                  <a:schemeClr val="bg1">
                    <a:lumMod val="95000"/>
                  </a:schemeClr>
                </a:solidFill>
              </a:rPr>
              <a:t> </a:t>
            </a:r>
            <a:r>
              <a:rPr lang="hu-HU" dirty="0" err="1">
                <a:solidFill>
                  <a:schemeClr val="bg1">
                    <a:lumMod val="95000"/>
                  </a:schemeClr>
                </a:solidFill>
              </a:rPr>
              <a:t>Translation</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08D9E3D9-5535-DE77-9DE6-CA1FF80BA009}"/>
              </a:ext>
            </a:extLst>
          </p:cNvPr>
          <p:cNvSpPr>
            <a:spLocks noGrp="1"/>
          </p:cNvSpPr>
          <p:nvPr>
            <p:ph idx="1"/>
          </p:nvPr>
        </p:nvSpPr>
        <p:spPr>
          <a:xfrm>
            <a:off x="838200" y="1825625"/>
            <a:ext cx="5469669" cy="4351338"/>
          </a:xfrm>
        </p:spPr>
        <p:txBody>
          <a:bodyPr/>
          <a:lstStyle/>
          <a:p>
            <a:r>
              <a:rPr lang="hu-HU" dirty="0">
                <a:solidFill>
                  <a:schemeClr val="bg1">
                    <a:lumMod val="95000"/>
                  </a:schemeClr>
                </a:solidFill>
              </a:rPr>
              <a:t>NAT-nál egy belső címet teszünk elérhetővé az internet számára</a:t>
            </a:r>
          </a:p>
          <a:p>
            <a:r>
              <a:rPr lang="hu-HU" dirty="0">
                <a:solidFill>
                  <a:schemeClr val="bg1">
                    <a:lumMod val="95000"/>
                  </a:schemeClr>
                </a:solidFill>
              </a:rPr>
              <a:t>PAT-</a:t>
            </a:r>
            <a:r>
              <a:rPr lang="hu-HU" dirty="0" err="1">
                <a:solidFill>
                  <a:schemeClr val="bg1">
                    <a:lumMod val="95000"/>
                  </a:schemeClr>
                </a:solidFill>
              </a:rPr>
              <a:t>nál</a:t>
            </a:r>
            <a:r>
              <a:rPr lang="hu-HU" dirty="0">
                <a:solidFill>
                  <a:schemeClr val="bg1">
                    <a:lumMod val="95000"/>
                  </a:schemeClr>
                </a:solidFill>
              </a:rPr>
              <a:t> a belső hálózat kimenő csomagjait a router külső </a:t>
            </a:r>
            <a:r>
              <a:rPr lang="hu-HU" dirty="0" err="1">
                <a:solidFill>
                  <a:schemeClr val="bg1">
                    <a:lumMod val="95000"/>
                  </a:schemeClr>
                </a:solidFill>
              </a:rPr>
              <a:t>portjához</a:t>
            </a:r>
            <a:r>
              <a:rPr lang="hu-HU" dirty="0">
                <a:solidFill>
                  <a:schemeClr val="bg1">
                    <a:lumMod val="95000"/>
                  </a:schemeClr>
                </a:solidFill>
              </a:rPr>
              <a:t> fűzzük</a:t>
            </a:r>
          </a:p>
          <a:p>
            <a:r>
              <a:rPr lang="hu-HU" dirty="0">
                <a:solidFill>
                  <a:schemeClr val="bg1">
                    <a:lumMod val="95000"/>
                  </a:schemeClr>
                </a:solidFill>
              </a:rPr>
              <a:t>Itt szükség lesz a fentebb említett </a:t>
            </a:r>
            <a:r>
              <a:rPr lang="hu-HU" dirty="0" err="1">
                <a:solidFill>
                  <a:schemeClr val="bg1">
                    <a:lumMod val="95000"/>
                  </a:schemeClr>
                </a:solidFill>
              </a:rPr>
              <a:t>access</a:t>
            </a:r>
            <a:r>
              <a:rPr lang="hu-HU" dirty="0">
                <a:solidFill>
                  <a:schemeClr val="bg1">
                    <a:lumMod val="95000"/>
                  </a:schemeClr>
                </a:solidFill>
              </a:rPr>
              <a:t> listákra, mert megmondják, mely belső IP tartományok fordíthatók le</a:t>
            </a:r>
          </a:p>
        </p:txBody>
      </p:sp>
      <p:pic>
        <p:nvPicPr>
          <p:cNvPr id="5" name="Kép 4">
            <a:extLst>
              <a:ext uri="{FF2B5EF4-FFF2-40B4-BE49-F238E27FC236}">
                <a16:creationId xmlns:a16="http://schemas.microsoft.com/office/drawing/2014/main" id="{8BE0F253-0B99-51A4-A601-F81D40C447C4}"/>
              </a:ext>
            </a:extLst>
          </p:cNvPr>
          <p:cNvPicPr>
            <a:picLocks noChangeAspect="1"/>
          </p:cNvPicPr>
          <p:nvPr/>
        </p:nvPicPr>
        <p:blipFill>
          <a:blip r:embed="rId3"/>
          <a:stretch>
            <a:fillRect/>
          </a:stretch>
        </p:blipFill>
        <p:spPr>
          <a:xfrm>
            <a:off x="6194748" y="1452340"/>
            <a:ext cx="5733898" cy="4646802"/>
          </a:xfrm>
          <a:prstGeom prst="rect">
            <a:avLst/>
          </a:prstGeom>
        </p:spPr>
      </p:pic>
    </p:spTree>
    <p:extLst>
      <p:ext uri="{BB962C8B-B14F-4D97-AF65-F5344CB8AC3E}">
        <p14:creationId xmlns:p14="http://schemas.microsoft.com/office/powerpoint/2010/main" val="2754314778"/>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41DB-AAA3-5C8D-C50B-3B29BD375EC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2F204B9-4A62-8C82-B6E8-0EB3A2AD62C9}"/>
              </a:ext>
            </a:extLst>
          </p:cNvPr>
          <p:cNvSpPr>
            <a:spLocks noGrp="1"/>
          </p:cNvSpPr>
          <p:nvPr>
            <p:ph type="title"/>
          </p:nvPr>
        </p:nvSpPr>
        <p:spPr/>
        <p:txBody>
          <a:bodyPr/>
          <a:lstStyle/>
          <a:p>
            <a:r>
              <a:rPr lang="hu-HU" dirty="0">
                <a:solidFill>
                  <a:schemeClr val="bg1">
                    <a:lumMod val="95000"/>
                  </a:schemeClr>
                </a:solidFill>
              </a:rPr>
              <a:t>EIGRP</a:t>
            </a:r>
          </a:p>
        </p:txBody>
      </p:sp>
      <p:sp>
        <p:nvSpPr>
          <p:cNvPr id="3" name="Tartalom helye 2">
            <a:extLst>
              <a:ext uri="{FF2B5EF4-FFF2-40B4-BE49-F238E27FC236}">
                <a16:creationId xmlns:a16="http://schemas.microsoft.com/office/drawing/2014/main" id="{9B862922-F4E5-3CAD-7DCE-9835F3BBF632}"/>
              </a:ext>
            </a:extLst>
          </p:cNvPr>
          <p:cNvSpPr>
            <a:spLocks noGrp="1"/>
          </p:cNvSpPr>
          <p:nvPr>
            <p:ph idx="1"/>
          </p:nvPr>
        </p:nvSpPr>
        <p:spPr>
          <a:xfrm>
            <a:off x="838200" y="1825625"/>
            <a:ext cx="4506798" cy="4351338"/>
          </a:xfrm>
        </p:spPr>
        <p:txBody>
          <a:bodyPr/>
          <a:lstStyle/>
          <a:p>
            <a:r>
              <a:rPr lang="hu-HU" dirty="0" err="1">
                <a:solidFill>
                  <a:schemeClr val="bg1">
                    <a:lumMod val="95000"/>
                  </a:schemeClr>
                </a:solidFill>
              </a:rPr>
              <a:t>Proprietary</a:t>
            </a:r>
            <a:r>
              <a:rPr lang="hu-HU" dirty="0">
                <a:solidFill>
                  <a:schemeClr val="bg1">
                    <a:lumMod val="95000"/>
                  </a:schemeClr>
                </a:solidFill>
              </a:rPr>
              <a:t> </a:t>
            </a:r>
            <a:r>
              <a:rPr lang="hu-HU" dirty="0" err="1">
                <a:solidFill>
                  <a:schemeClr val="bg1">
                    <a:lumMod val="95000"/>
                  </a:schemeClr>
                </a:solidFill>
              </a:rPr>
              <a:t>protocol</a:t>
            </a:r>
            <a:r>
              <a:rPr lang="hu-HU" dirty="0">
                <a:solidFill>
                  <a:schemeClr val="bg1">
                    <a:lumMod val="95000"/>
                  </a:schemeClr>
                </a:solidFill>
              </a:rPr>
              <a:t> </a:t>
            </a:r>
            <a:r>
              <a:rPr lang="hu-HU" dirty="0" err="1">
                <a:solidFill>
                  <a:schemeClr val="bg1">
                    <a:lumMod val="95000"/>
                  </a:schemeClr>
                </a:solidFill>
              </a:rPr>
              <a:t>developed</a:t>
            </a:r>
            <a:r>
              <a:rPr lang="hu-HU" dirty="0">
                <a:solidFill>
                  <a:schemeClr val="bg1">
                    <a:lumMod val="95000"/>
                  </a:schemeClr>
                </a:solidFill>
              </a:rPr>
              <a:t> </a:t>
            </a:r>
            <a:r>
              <a:rPr lang="hu-HU" dirty="0" err="1">
                <a:solidFill>
                  <a:schemeClr val="bg1">
                    <a:lumMod val="95000"/>
                  </a:schemeClr>
                </a:solidFill>
              </a:rPr>
              <a:t>by</a:t>
            </a:r>
            <a:r>
              <a:rPr lang="hu-HU" dirty="0">
                <a:solidFill>
                  <a:schemeClr val="bg1">
                    <a:lumMod val="95000"/>
                  </a:schemeClr>
                </a:solidFill>
              </a:rPr>
              <a:t> Cisco</a:t>
            </a:r>
          </a:p>
          <a:p>
            <a:r>
              <a:rPr lang="hu-HU" dirty="0">
                <a:solidFill>
                  <a:schemeClr val="bg1">
                    <a:lumMod val="95000"/>
                  </a:schemeClr>
                </a:solidFill>
              </a:rPr>
              <a:t>The most </a:t>
            </a:r>
            <a:r>
              <a:rPr lang="hu-HU" dirty="0" err="1">
                <a:solidFill>
                  <a:schemeClr val="bg1">
                    <a:lumMod val="95000"/>
                  </a:schemeClr>
                </a:solidFill>
              </a:rPr>
              <a:t>optimal</a:t>
            </a:r>
            <a:r>
              <a:rPr lang="hu-HU" dirty="0">
                <a:solidFill>
                  <a:schemeClr val="bg1">
                    <a:lumMod val="95000"/>
                  </a:schemeClr>
                </a:solidFill>
              </a:rPr>
              <a:t> </a:t>
            </a:r>
            <a:r>
              <a:rPr lang="hu-HU" dirty="0" err="1">
                <a:solidFill>
                  <a:schemeClr val="bg1">
                    <a:lumMod val="95000"/>
                  </a:schemeClr>
                </a:solidFill>
              </a:rPr>
              <a:t>solution</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a:t>
            </a:r>
            <a:r>
              <a:rPr lang="hu-HU" dirty="0" err="1">
                <a:solidFill>
                  <a:schemeClr val="bg1">
                    <a:lumMod val="95000"/>
                  </a:schemeClr>
                </a:solidFill>
              </a:rPr>
              <a:t>simulating</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Internet Service </a:t>
            </a:r>
            <a:r>
              <a:rPr lang="hu-HU" dirty="0" err="1">
                <a:solidFill>
                  <a:schemeClr val="bg1">
                    <a:lumMod val="95000"/>
                  </a:schemeClr>
                </a:solidFill>
              </a:rPr>
              <a:t>Provider</a:t>
            </a:r>
            <a:r>
              <a:rPr lang="hu-HU" dirty="0">
                <a:solidFill>
                  <a:schemeClr val="bg1">
                    <a:lumMod val="95000"/>
                  </a:schemeClr>
                </a:solidFill>
              </a:rPr>
              <a:t> </a:t>
            </a:r>
            <a:r>
              <a:rPr lang="hu-HU" dirty="0" err="1">
                <a:solidFill>
                  <a:schemeClr val="bg1">
                    <a:lumMod val="95000"/>
                  </a:schemeClr>
                </a:solidFill>
              </a:rPr>
              <a:t>network</a:t>
            </a:r>
            <a:r>
              <a:rPr lang="hu-HU" dirty="0">
                <a:solidFill>
                  <a:schemeClr val="bg1">
                    <a:lumMod val="95000"/>
                  </a:schemeClr>
                </a:solidFill>
              </a:rPr>
              <a:t>, </a:t>
            </a:r>
            <a:r>
              <a:rPr lang="hu-HU" dirty="0" err="1">
                <a:solidFill>
                  <a:schemeClr val="bg1">
                    <a:lumMod val="95000"/>
                  </a:schemeClr>
                </a:solidFill>
              </a:rPr>
              <a:t>due</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it’s</a:t>
            </a:r>
            <a:r>
              <a:rPr lang="hu-HU" dirty="0">
                <a:solidFill>
                  <a:schemeClr val="bg1">
                    <a:lumMod val="95000"/>
                  </a:schemeClr>
                </a:solidFill>
              </a:rPr>
              <a:t> </a:t>
            </a:r>
            <a:r>
              <a:rPr lang="hu-HU" dirty="0" err="1">
                <a:solidFill>
                  <a:schemeClr val="bg1">
                    <a:lumMod val="95000"/>
                  </a:schemeClr>
                </a:solidFill>
              </a:rPr>
              <a:t>low</a:t>
            </a:r>
            <a:r>
              <a:rPr lang="hu-HU" dirty="0">
                <a:solidFill>
                  <a:schemeClr val="bg1">
                    <a:lumMod val="95000"/>
                  </a:schemeClr>
                </a:solidFill>
              </a:rPr>
              <a:t> </a:t>
            </a:r>
            <a:r>
              <a:rPr lang="hu-HU" dirty="0" err="1">
                <a:solidFill>
                  <a:schemeClr val="bg1">
                    <a:lumMod val="95000"/>
                  </a:schemeClr>
                </a:solidFill>
              </a:rPr>
              <a:t>convergence</a:t>
            </a:r>
            <a:r>
              <a:rPr lang="hu-HU" dirty="0">
                <a:solidFill>
                  <a:schemeClr val="bg1">
                    <a:lumMod val="95000"/>
                  </a:schemeClr>
                </a:solidFill>
              </a:rPr>
              <a:t> </a:t>
            </a:r>
            <a:r>
              <a:rPr lang="hu-HU" dirty="0" err="1">
                <a:solidFill>
                  <a:schemeClr val="bg1">
                    <a:lumMod val="95000"/>
                  </a:schemeClr>
                </a:solidFill>
              </a:rPr>
              <a:t>time</a:t>
            </a:r>
            <a:r>
              <a:rPr lang="hu-HU" dirty="0">
                <a:solidFill>
                  <a:schemeClr val="bg1">
                    <a:lumMod val="95000"/>
                  </a:schemeClr>
                </a:solidFill>
              </a:rPr>
              <a:t> and </a:t>
            </a:r>
            <a:r>
              <a:rPr lang="hu-HU" dirty="0" err="1">
                <a:solidFill>
                  <a:schemeClr val="bg1">
                    <a:lumMod val="95000"/>
                  </a:schemeClr>
                </a:solidFill>
              </a:rPr>
              <a:t>scalability</a:t>
            </a:r>
            <a:endParaRPr lang="hu-HU" dirty="0">
              <a:solidFill>
                <a:schemeClr val="bg1">
                  <a:lumMod val="95000"/>
                </a:schemeClr>
              </a:solidFill>
            </a:endParaRPr>
          </a:p>
        </p:txBody>
      </p:sp>
      <p:pic>
        <p:nvPicPr>
          <p:cNvPr id="7" name="Kép 6">
            <a:extLst>
              <a:ext uri="{FF2B5EF4-FFF2-40B4-BE49-F238E27FC236}">
                <a16:creationId xmlns:a16="http://schemas.microsoft.com/office/drawing/2014/main" id="{5429DCC1-A86E-6A35-57A4-00EBB65BD503}"/>
              </a:ext>
            </a:extLst>
          </p:cNvPr>
          <p:cNvPicPr>
            <a:picLocks noChangeAspect="1"/>
          </p:cNvPicPr>
          <p:nvPr/>
        </p:nvPicPr>
        <p:blipFill>
          <a:blip r:embed="rId3"/>
          <a:stretch>
            <a:fillRect/>
          </a:stretch>
        </p:blipFill>
        <p:spPr>
          <a:xfrm>
            <a:off x="5344998" y="882285"/>
            <a:ext cx="6404067" cy="4745517"/>
          </a:xfrm>
          <a:prstGeom prst="rect">
            <a:avLst/>
          </a:prstGeom>
        </p:spPr>
      </p:pic>
    </p:spTree>
    <p:extLst>
      <p:ext uri="{BB962C8B-B14F-4D97-AF65-F5344CB8AC3E}">
        <p14:creationId xmlns:p14="http://schemas.microsoft.com/office/powerpoint/2010/main" val="1397518181"/>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22FBF29-6212-3FC0-6C7A-D98D116798F1}"/>
              </a:ext>
            </a:extLst>
          </p:cNvPr>
          <p:cNvSpPr>
            <a:spLocks noGrp="1"/>
          </p:cNvSpPr>
          <p:nvPr>
            <p:ph type="title"/>
          </p:nvPr>
        </p:nvSpPr>
        <p:spPr/>
        <p:txBody>
          <a:bodyPr/>
          <a:lstStyle/>
          <a:p>
            <a:r>
              <a:rPr lang="hu-HU" dirty="0" err="1">
                <a:solidFill>
                  <a:schemeClr val="bg1">
                    <a:lumMod val="95000"/>
                  </a:schemeClr>
                </a:solidFill>
              </a:rPr>
              <a:t>Spanning</a:t>
            </a:r>
            <a:r>
              <a:rPr lang="hu-HU" dirty="0">
                <a:solidFill>
                  <a:schemeClr val="bg1">
                    <a:lumMod val="95000"/>
                  </a:schemeClr>
                </a:solidFill>
              </a:rPr>
              <a:t> </a:t>
            </a:r>
            <a:r>
              <a:rPr lang="hu-HU" dirty="0" err="1">
                <a:solidFill>
                  <a:schemeClr val="bg1">
                    <a:lumMod val="95000"/>
                  </a:schemeClr>
                </a:solidFill>
              </a:rPr>
              <a:t>Tree</a:t>
            </a:r>
            <a:r>
              <a:rPr lang="hu-HU" dirty="0">
                <a:solidFill>
                  <a:schemeClr val="bg1">
                    <a:lumMod val="95000"/>
                  </a:schemeClr>
                </a:solidFill>
              </a:rPr>
              <a:t>, and </a:t>
            </a:r>
            <a:r>
              <a:rPr lang="hu-HU" dirty="0" err="1">
                <a:solidFill>
                  <a:schemeClr val="bg1">
                    <a:lumMod val="95000"/>
                  </a:schemeClr>
                </a:solidFill>
              </a:rPr>
              <a:t>EtherChannel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36238BE5-2C4D-2271-71DD-5E8A2CC96915}"/>
              </a:ext>
            </a:extLst>
          </p:cNvPr>
          <p:cNvSpPr>
            <a:spLocks noGrp="1"/>
          </p:cNvSpPr>
          <p:nvPr>
            <p:ph idx="1"/>
          </p:nvPr>
        </p:nvSpPr>
        <p:spPr>
          <a:xfrm>
            <a:off x="838200" y="1825625"/>
            <a:ext cx="5257800" cy="4351338"/>
          </a:xfrm>
        </p:spPr>
        <p:txBody>
          <a:bodyPr/>
          <a:lstStyle/>
          <a:p>
            <a:r>
              <a:rPr lang="hu-HU" dirty="0" err="1">
                <a:solidFill>
                  <a:schemeClr val="bg1">
                    <a:lumMod val="95000"/>
                  </a:schemeClr>
                </a:solidFill>
              </a:rPr>
              <a:t>Crucial</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a:t>
            </a:r>
            <a:r>
              <a:rPr lang="hu-HU" dirty="0" err="1">
                <a:solidFill>
                  <a:schemeClr val="bg1">
                    <a:lumMod val="95000"/>
                  </a:schemeClr>
                </a:solidFill>
              </a:rPr>
              <a:t>ensuring</a:t>
            </a:r>
            <a:r>
              <a:rPr lang="hu-HU" dirty="0">
                <a:solidFill>
                  <a:schemeClr val="bg1">
                    <a:lumMod val="95000"/>
                  </a:schemeClr>
                </a:solidFill>
              </a:rPr>
              <a:t> </a:t>
            </a:r>
            <a:r>
              <a:rPr lang="hu-HU" dirty="0" err="1">
                <a:solidFill>
                  <a:schemeClr val="bg1">
                    <a:lumMod val="95000"/>
                  </a:schemeClr>
                </a:solidFill>
              </a:rPr>
              <a:t>redundancy</a:t>
            </a:r>
            <a:r>
              <a:rPr lang="hu-HU" dirty="0">
                <a:solidFill>
                  <a:schemeClr val="bg1">
                    <a:lumMod val="95000"/>
                  </a:schemeClr>
                </a:solidFill>
              </a:rPr>
              <a:t> in </a:t>
            </a:r>
            <a:r>
              <a:rPr lang="hu-HU" dirty="0" err="1">
                <a:solidFill>
                  <a:schemeClr val="bg1">
                    <a:lumMod val="95000"/>
                  </a:schemeClr>
                </a:solidFill>
              </a:rPr>
              <a:t>Layer</a:t>
            </a:r>
            <a:r>
              <a:rPr lang="hu-HU" dirty="0">
                <a:solidFill>
                  <a:schemeClr val="bg1">
                    <a:lumMod val="95000"/>
                  </a:schemeClr>
                </a:solidFill>
              </a:rPr>
              <a:t> 2 </a:t>
            </a:r>
            <a:r>
              <a:rPr lang="hu-HU" dirty="0" err="1">
                <a:solidFill>
                  <a:schemeClr val="bg1">
                    <a:lumMod val="95000"/>
                  </a:schemeClr>
                </a:solidFill>
              </a:rPr>
              <a:t>communications</a:t>
            </a:r>
            <a:r>
              <a:rPr lang="hu-HU" dirty="0">
                <a:solidFill>
                  <a:schemeClr val="bg1">
                    <a:lumMod val="95000"/>
                  </a:schemeClr>
                </a:solidFill>
              </a:rPr>
              <a:t>. </a:t>
            </a:r>
          </a:p>
          <a:p>
            <a:r>
              <a:rPr lang="hu-HU" dirty="0" err="1">
                <a:solidFill>
                  <a:schemeClr val="bg1">
                    <a:lumMod val="95000"/>
                  </a:schemeClr>
                </a:solidFill>
              </a:rPr>
              <a:t>Automatically</a:t>
            </a:r>
            <a:r>
              <a:rPr lang="hu-HU" dirty="0">
                <a:solidFill>
                  <a:schemeClr val="bg1">
                    <a:lumMod val="95000"/>
                  </a:schemeClr>
                </a:solidFill>
              </a:rPr>
              <a:t> </a:t>
            </a:r>
            <a:r>
              <a:rPr lang="hu-HU" dirty="0" err="1">
                <a:solidFill>
                  <a:schemeClr val="bg1">
                    <a:lumMod val="95000"/>
                  </a:schemeClr>
                </a:solidFill>
              </a:rPr>
              <a:t>shuts</a:t>
            </a:r>
            <a:r>
              <a:rPr lang="hu-HU" dirty="0">
                <a:solidFill>
                  <a:schemeClr val="bg1">
                    <a:lumMod val="95000"/>
                  </a:schemeClr>
                </a:solidFill>
              </a:rPr>
              <a:t> down a </a:t>
            </a:r>
            <a:r>
              <a:rPr lang="hu-HU" dirty="0" err="1">
                <a:solidFill>
                  <a:schemeClr val="bg1">
                    <a:lumMod val="95000"/>
                  </a:schemeClr>
                </a:solidFill>
              </a:rPr>
              <a:t>pair</a:t>
            </a:r>
            <a:r>
              <a:rPr lang="hu-HU" dirty="0">
                <a:solidFill>
                  <a:schemeClr val="bg1">
                    <a:lumMod val="95000"/>
                  </a:schemeClr>
                </a:solidFill>
              </a:rPr>
              <a:t> of </a:t>
            </a:r>
            <a:r>
              <a:rPr lang="hu-HU" dirty="0" err="1">
                <a:solidFill>
                  <a:schemeClr val="bg1">
                    <a:lumMod val="95000"/>
                  </a:schemeClr>
                </a:solidFill>
              </a:rPr>
              <a:t>physical</a:t>
            </a:r>
            <a:r>
              <a:rPr lang="hu-HU" dirty="0">
                <a:solidFill>
                  <a:schemeClr val="bg1">
                    <a:lumMod val="95000"/>
                  </a:schemeClr>
                </a:solidFill>
              </a:rPr>
              <a:t> </a:t>
            </a:r>
            <a:r>
              <a:rPr lang="hu-HU" dirty="0" err="1">
                <a:solidFill>
                  <a:schemeClr val="bg1">
                    <a:lumMod val="95000"/>
                  </a:schemeClr>
                </a:solidFill>
              </a:rPr>
              <a:t>links</a:t>
            </a:r>
            <a:r>
              <a:rPr lang="hu-HU" dirty="0">
                <a:solidFill>
                  <a:schemeClr val="bg1">
                    <a:lumMod val="95000"/>
                  </a:schemeClr>
                </a:solidFill>
              </a:rPr>
              <a:t>, </a:t>
            </a:r>
            <a:r>
              <a:rPr lang="hu-HU" dirty="0" err="1">
                <a:solidFill>
                  <a:schemeClr val="bg1">
                    <a:lumMod val="95000"/>
                  </a:schemeClr>
                </a:solidFill>
              </a:rPr>
              <a:t>preventing</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3 </a:t>
            </a:r>
            <a:r>
              <a:rPr lang="hu-HU" dirty="0" err="1">
                <a:solidFill>
                  <a:schemeClr val="bg1">
                    <a:lumMod val="95000"/>
                  </a:schemeClr>
                </a:solidFill>
              </a:rPr>
              <a:t>interconnected</a:t>
            </a:r>
            <a:r>
              <a:rPr lang="hu-HU" dirty="0">
                <a:solidFill>
                  <a:schemeClr val="bg1">
                    <a:lumMod val="95000"/>
                  </a:schemeClr>
                </a:solidFill>
              </a:rPr>
              <a:t> </a:t>
            </a:r>
            <a:r>
              <a:rPr lang="hu-HU" dirty="0" err="1">
                <a:solidFill>
                  <a:schemeClr val="bg1">
                    <a:lumMod val="95000"/>
                  </a:schemeClr>
                </a:solidFill>
              </a:rPr>
              <a:t>switches</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cause</a:t>
            </a:r>
            <a:r>
              <a:rPr lang="hu-HU" dirty="0">
                <a:solidFill>
                  <a:schemeClr val="bg1">
                    <a:lumMod val="95000"/>
                  </a:schemeClr>
                </a:solidFill>
              </a:rPr>
              <a:t> a </a:t>
            </a:r>
            <a:r>
              <a:rPr lang="hu-HU" dirty="0" err="1">
                <a:solidFill>
                  <a:schemeClr val="bg1">
                    <a:lumMod val="95000"/>
                  </a:schemeClr>
                </a:solidFill>
              </a:rPr>
              <a:t>broadcast</a:t>
            </a:r>
            <a:r>
              <a:rPr lang="hu-HU" dirty="0">
                <a:solidFill>
                  <a:schemeClr val="bg1">
                    <a:lumMod val="95000"/>
                  </a:schemeClr>
                </a:solidFill>
              </a:rPr>
              <a:t> </a:t>
            </a:r>
            <a:r>
              <a:rPr lang="hu-HU" dirty="0" err="1">
                <a:solidFill>
                  <a:schemeClr val="bg1">
                    <a:lumMod val="95000"/>
                  </a:schemeClr>
                </a:solidFill>
              </a:rPr>
              <a:t>strom</a:t>
            </a:r>
            <a:endParaRPr lang="hu-HU" dirty="0">
              <a:solidFill>
                <a:schemeClr val="bg1">
                  <a:lumMod val="95000"/>
                </a:schemeClr>
              </a:solidFill>
            </a:endParaRPr>
          </a:p>
          <a:p>
            <a:r>
              <a:rPr lang="hu-HU" dirty="0" err="1">
                <a:solidFill>
                  <a:schemeClr val="bg1">
                    <a:lumMod val="95000"/>
                  </a:schemeClr>
                </a:solidFill>
              </a:rPr>
              <a:t>Combines</a:t>
            </a:r>
            <a:r>
              <a:rPr lang="hu-HU" dirty="0">
                <a:solidFill>
                  <a:schemeClr val="bg1">
                    <a:lumMod val="95000"/>
                  </a:schemeClr>
                </a:solidFill>
              </a:rPr>
              <a:t> 2 </a:t>
            </a:r>
            <a:r>
              <a:rPr lang="hu-HU" dirty="0" err="1">
                <a:solidFill>
                  <a:schemeClr val="bg1">
                    <a:lumMod val="95000"/>
                  </a:schemeClr>
                </a:solidFill>
              </a:rPr>
              <a:t>phisycal</a:t>
            </a:r>
            <a:r>
              <a:rPr lang="hu-HU" dirty="0">
                <a:solidFill>
                  <a:schemeClr val="bg1">
                    <a:lumMod val="95000"/>
                  </a:schemeClr>
                </a:solidFill>
              </a:rPr>
              <a:t> </a:t>
            </a:r>
            <a:r>
              <a:rPr lang="hu-HU" dirty="0" err="1">
                <a:solidFill>
                  <a:schemeClr val="bg1">
                    <a:lumMod val="95000"/>
                  </a:schemeClr>
                </a:solidFill>
              </a:rPr>
              <a:t>links</a:t>
            </a:r>
            <a:r>
              <a:rPr lang="hu-HU" dirty="0">
                <a:solidFill>
                  <a:schemeClr val="bg1">
                    <a:lumMod val="95000"/>
                  </a:schemeClr>
                </a:solidFill>
              </a:rPr>
              <a:t> </a:t>
            </a:r>
            <a:r>
              <a:rPr lang="hu-HU" dirty="0" err="1">
                <a:solidFill>
                  <a:schemeClr val="bg1">
                    <a:lumMod val="95000"/>
                  </a:schemeClr>
                </a:solidFill>
              </a:rPr>
              <a:t>into</a:t>
            </a:r>
            <a:r>
              <a:rPr lang="hu-HU" dirty="0">
                <a:solidFill>
                  <a:schemeClr val="bg1">
                    <a:lumMod val="95000"/>
                  </a:schemeClr>
                </a:solidFill>
              </a:rPr>
              <a:t> 1 </a:t>
            </a:r>
            <a:r>
              <a:rPr lang="hu-HU" dirty="0" err="1">
                <a:solidFill>
                  <a:schemeClr val="bg1">
                    <a:lumMod val="95000"/>
                  </a:schemeClr>
                </a:solidFill>
              </a:rPr>
              <a:t>logical</a:t>
            </a:r>
            <a:r>
              <a:rPr lang="hu-HU" dirty="0">
                <a:solidFill>
                  <a:schemeClr val="bg1">
                    <a:lumMod val="95000"/>
                  </a:schemeClr>
                </a:solidFill>
              </a:rPr>
              <a:t> link</a:t>
            </a:r>
          </a:p>
        </p:txBody>
      </p:sp>
      <p:pic>
        <p:nvPicPr>
          <p:cNvPr id="5" name="Kép 4">
            <a:extLst>
              <a:ext uri="{FF2B5EF4-FFF2-40B4-BE49-F238E27FC236}">
                <a16:creationId xmlns:a16="http://schemas.microsoft.com/office/drawing/2014/main" id="{1E0CA723-66FA-9E44-5B4B-33BE6C3830FA}"/>
              </a:ext>
            </a:extLst>
          </p:cNvPr>
          <p:cNvPicPr>
            <a:picLocks noChangeAspect="1"/>
          </p:cNvPicPr>
          <p:nvPr/>
        </p:nvPicPr>
        <p:blipFill>
          <a:blip r:embed="rId3"/>
          <a:stretch>
            <a:fillRect/>
          </a:stretch>
        </p:blipFill>
        <p:spPr>
          <a:xfrm>
            <a:off x="5792395" y="1339278"/>
            <a:ext cx="3097081" cy="2356153"/>
          </a:xfrm>
          <a:prstGeom prst="rect">
            <a:avLst/>
          </a:prstGeom>
        </p:spPr>
      </p:pic>
      <p:pic>
        <p:nvPicPr>
          <p:cNvPr id="7" name="Kép 6">
            <a:extLst>
              <a:ext uri="{FF2B5EF4-FFF2-40B4-BE49-F238E27FC236}">
                <a16:creationId xmlns:a16="http://schemas.microsoft.com/office/drawing/2014/main" id="{869ED919-47A0-C4CF-C887-C1B55F6486D1}"/>
              </a:ext>
            </a:extLst>
          </p:cNvPr>
          <p:cNvPicPr>
            <a:picLocks noChangeAspect="1"/>
          </p:cNvPicPr>
          <p:nvPr/>
        </p:nvPicPr>
        <p:blipFill>
          <a:blip r:embed="rId4"/>
          <a:stretch>
            <a:fillRect/>
          </a:stretch>
        </p:blipFill>
        <p:spPr>
          <a:xfrm>
            <a:off x="8616952" y="3828139"/>
            <a:ext cx="3097081" cy="2595709"/>
          </a:xfrm>
          <a:prstGeom prst="rect">
            <a:avLst/>
          </a:prstGeom>
        </p:spPr>
      </p:pic>
    </p:spTree>
    <p:extLst>
      <p:ext uri="{BB962C8B-B14F-4D97-AF65-F5344CB8AC3E}">
        <p14:creationId xmlns:p14="http://schemas.microsoft.com/office/powerpoint/2010/main" val="4227106662"/>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4C4EA90-AF44-A6A0-C43D-E1BCB13D1FAD}"/>
              </a:ext>
            </a:extLst>
          </p:cNvPr>
          <p:cNvSpPr>
            <a:spLocks noGrp="1"/>
          </p:cNvSpPr>
          <p:nvPr>
            <p:ph type="title"/>
          </p:nvPr>
        </p:nvSpPr>
        <p:spPr/>
        <p:txBody>
          <a:bodyPr/>
          <a:lstStyle/>
          <a:p>
            <a:r>
              <a:rPr lang="hu-HU" dirty="0" err="1">
                <a:solidFill>
                  <a:schemeClr val="bg1">
                    <a:lumMod val="95000"/>
                  </a:schemeClr>
                </a:solidFill>
              </a:rPr>
              <a:t>Secure</a:t>
            </a:r>
            <a:r>
              <a:rPr lang="hu-HU" dirty="0">
                <a:solidFill>
                  <a:schemeClr val="bg1">
                    <a:lumMod val="95000"/>
                  </a:schemeClr>
                </a:solidFill>
              </a:rPr>
              <a:t> Shell</a:t>
            </a:r>
          </a:p>
        </p:txBody>
      </p:sp>
      <p:sp>
        <p:nvSpPr>
          <p:cNvPr id="3" name="Tartalom helye 2">
            <a:extLst>
              <a:ext uri="{FF2B5EF4-FFF2-40B4-BE49-F238E27FC236}">
                <a16:creationId xmlns:a16="http://schemas.microsoft.com/office/drawing/2014/main" id="{0C5F63D8-5CF6-AAE9-4559-939A2AF8B9BE}"/>
              </a:ext>
            </a:extLst>
          </p:cNvPr>
          <p:cNvSpPr>
            <a:spLocks noGrp="1"/>
          </p:cNvSpPr>
          <p:nvPr>
            <p:ph idx="1"/>
          </p:nvPr>
        </p:nvSpPr>
        <p:spPr>
          <a:xfrm>
            <a:off x="838200" y="1825625"/>
            <a:ext cx="5110113" cy="4351338"/>
          </a:xfrm>
        </p:spPr>
        <p:txBody>
          <a:bodyPr/>
          <a:lstStyle/>
          <a:p>
            <a:r>
              <a:rPr lang="hu-HU" dirty="0" err="1">
                <a:solidFill>
                  <a:schemeClr val="bg1">
                    <a:lumMod val="95000"/>
                  </a:schemeClr>
                </a:solidFill>
              </a:rPr>
              <a:t>Essential</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a:t>
            </a:r>
            <a:r>
              <a:rPr lang="hu-HU" dirty="0" err="1">
                <a:solidFill>
                  <a:schemeClr val="bg1">
                    <a:lumMod val="95000"/>
                  </a:schemeClr>
                </a:solidFill>
              </a:rPr>
              <a:t>managing</a:t>
            </a:r>
            <a:r>
              <a:rPr lang="hu-HU" dirty="0">
                <a:solidFill>
                  <a:schemeClr val="bg1">
                    <a:lumMod val="95000"/>
                  </a:schemeClr>
                </a:solidFill>
              </a:rPr>
              <a:t> </a:t>
            </a:r>
            <a:r>
              <a:rPr lang="hu-HU" dirty="0" err="1">
                <a:solidFill>
                  <a:schemeClr val="bg1">
                    <a:lumMod val="95000"/>
                  </a:schemeClr>
                </a:solidFill>
              </a:rPr>
              <a:t>network</a:t>
            </a:r>
            <a:r>
              <a:rPr lang="hu-HU" dirty="0">
                <a:solidFill>
                  <a:schemeClr val="bg1">
                    <a:lumMod val="95000"/>
                  </a:schemeClr>
                </a:solidFill>
              </a:rPr>
              <a:t> </a:t>
            </a:r>
            <a:r>
              <a:rPr lang="hu-HU" dirty="0" err="1">
                <a:solidFill>
                  <a:schemeClr val="bg1">
                    <a:lumMod val="95000"/>
                  </a:schemeClr>
                </a:solidFill>
              </a:rPr>
              <a:t>devices</a:t>
            </a:r>
            <a:r>
              <a:rPr lang="hu-HU" dirty="0">
                <a:solidFill>
                  <a:schemeClr val="bg1">
                    <a:lumMod val="95000"/>
                  </a:schemeClr>
                </a:solidFill>
              </a:rPr>
              <a:t> </a:t>
            </a:r>
            <a:r>
              <a:rPr lang="hu-HU" dirty="0" err="1">
                <a:solidFill>
                  <a:schemeClr val="bg1">
                    <a:lumMod val="95000"/>
                  </a:schemeClr>
                </a:solidFill>
              </a:rPr>
              <a:t>through</a:t>
            </a:r>
            <a:r>
              <a:rPr lang="hu-HU" dirty="0">
                <a:solidFill>
                  <a:schemeClr val="bg1">
                    <a:lumMod val="95000"/>
                  </a:schemeClr>
                </a:solidFill>
              </a:rPr>
              <a:t> a </a:t>
            </a:r>
            <a:r>
              <a:rPr lang="hu-HU" dirty="0" err="1">
                <a:solidFill>
                  <a:schemeClr val="bg1">
                    <a:lumMod val="95000"/>
                  </a:schemeClr>
                </a:solidFill>
              </a:rPr>
              <a:t>secure</a:t>
            </a:r>
            <a:r>
              <a:rPr lang="hu-HU" dirty="0">
                <a:solidFill>
                  <a:schemeClr val="bg1">
                    <a:lumMod val="95000"/>
                  </a:schemeClr>
                </a:solidFill>
              </a:rPr>
              <a:t> </a:t>
            </a:r>
            <a:r>
              <a:rPr lang="hu-HU" dirty="0" err="1">
                <a:solidFill>
                  <a:schemeClr val="bg1">
                    <a:lumMod val="95000"/>
                  </a:schemeClr>
                </a:solidFill>
              </a:rPr>
              <a:t>channel</a:t>
            </a:r>
            <a:endParaRPr lang="hu-HU" dirty="0">
              <a:solidFill>
                <a:schemeClr val="bg1">
                  <a:lumMod val="95000"/>
                </a:schemeClr>
              </a:solidFill>
            </a:endParaRPr>
          </a:p>
          <a:p>
            <a:r>
              <a:rPr lang="hu-HU" dirty="0" err="1">
                <a:solidFill>
                  <a:schemeClr val="bg1">
                    <a:lumMod val="95000"/>
                  </a:schemeClr>
                </a:solidFill>
              </a:rPr>
              <a:t>prevents</a:t>
            </a:r>
            <a:r>
              <a:rPr lang="hu-HU" dirty="0">
                <a:solidFill>
                  <a:schemeClr val="bg1">
                    <a:lumMod val="95000"/>
                  </a:schemeClr>
                </a:solidFill>
              </a:rPr>
              <a:t> Man-in-</a:t>
            </a:r>
            <a:r>
              <a:rPr lang="hu-HU" dirty="0" err="1">
                <a:solidFill>
                  <a:schemeClr val="bg1">
                    <a:lumMod val="95000"/>
                  </a:schemeClr>
                </a:solidFill>
              </a:rPr>
              <a:t>the</a:t>
            </a:r>
            <a:r>
              <a:rPr lang="hu-HU" dirty="0">
                <a:solidFill>
                  <a:schemeClr val="bg1">
                    <a:lumMod val="95000"/>
                  </a:schemeClr>
                </a:solidFill>
              </a:rPr>
              <a:t>-</a:t>
            </a:r>
            <a:r>
              <a:rPr lang="hu-HU" dirty="0" err="1">
                <a:solidFill>
                  <a:schemeClr val="bg1">
                    <a:lumMod val="95000"/>
                  </a:schemeClr>
                </a:solidFill>
              </a:rPr>
              <a:t>middle</a:t>
            </a:r>
            <a:r>
              <a:rPr lang="hu-HU" dirty="0">
                <a:solidFill>
                  <a:schemeClr val="bg1">
                    <a:lumMod val="95000"/>
                  </a:schemeClr>
                </a:solidFill>
              </a:rPr>
              <a:t> </a:t>
            </a:r>
            <a:r>
              <a:rPr lang="hu-HU" dirty="0" err="1">
                <a:solidFill>
                  <a:schemeClr val="bg1">
                    <a:lumMod val="95000"/>
                  </a:schemeClr>
                </a:solidFill>
              </a:rPr>
              <a:t>attacks</a:t>
            </a:r>
            <a:r>
              <a:rPr lang="hu-HU" dirty="0">
                <a:solidFill>
                  <a:schemeClr val="bg1">
                    <a:lumMod val="95000"/>
                  </a:schemeClr>
                </a:solidFill>
              </a:rPr>
              <a:t> </a:t>
            </a:r>
            <a:r>
              <a:rPr lang="hu-HU" dirty="0" err="1">
                <a:solidFill>
                  <a:schemeClr val="bg1">
                    <a:lumMod val="95000"/>
                  </a:schemeClr>
                </a:solidFill>
              </a:rPr>
              <a:t>from</a:t>
            </a:r>
            <a:r>
              <a:rPr lang="hu-HU" dirty="0">
                <a:solidFill>
                  <a:schemeClr val="bg1">
                    <a:lumMod val="95000"/>
                  </a:schemeClr>
                </a:solidFill>
              </a:rPr>
              <a:t> </a:t>
            </a:r>
            <a:r>
              <a:rPr lang="hu-HU" dirty="0" err="1">
                <a:solidFill>
                  <a:schemeClr val="bg1">
                    <a:lumMod val="95000"/>
                  </a:schemeClr>
                </a:solidFill>
              </a:rPr>
              <a:t>occouring</a:t>
            </a:r>
            <a:endParaRPr lang="hu-HU" dirty="0">
              <a:solidFill>
                <a:schemeClr val="bg1">
                  <a:lumMod val="95000"/>
                </a:schemeClr>
              </a:solidFill>
            </a:endParaRPr>
          </a:p>
          <a:p>
            <a:r>
              <a:rPr lang="hu-HU" dirty="0" err="1">
                <a:solidFill>
                  <a:schemeClr val="bg1">
                    <a:lumMod val="95000"/>
                  </a:schemeClr>
                </a:solidFill>
              </a:rPr>
              <a:t>On</a:t>
            </a:r>
            <a:r>
              <a:rPr lang="hu-HU" dirty="0">
                <a:solidFill>
                  <a:schemeClr val="bg1">
                    <a:lumMod val="95000"/>
                  </a:schemeClr>
                </a:solidFill>
              </a:rPr>
              <a:t> </a:t>
            </a:r>
            <a:r>
              <a:rPr lang="hu-HU" dirty="0" err="1">
                <a:solidFill>
                  <a:schemeClr val="bg1">
                    <a:lumMod val="95000"/>
                  </a:schemeClr>
                </a:solidFill>
              </a:rPr>
              <a:t>routers</a:t>
            </a:r>
            <a:r>
              <a:rPr lang="hu-HU" dirty="0">
                <a:solidFill>
                  <a:schemeClr val="bg1">
                    <a:lumMod val="95000"/>
                  </a:schemeClr>
                </a:solidFill>
              </a:rPr>
              <a:t>, </a:t>
            </a:r>
            <a:r>
              <a:rPr lang="hu-HU" dirty="0" err="1">
                <a:solidFill>
                  <a:schemeClr val="bg1">
                    <a:lumMod val="95000"/>
                  </a:schemeClr>
                </a:solidFill>
              </a:rPr>
              <a:t>this</a:t>
            </a:r>
            <a:r>
              <a:rPr lang="hu-HU" dirty="0">
                <a:solidFill>
                  <a:schemeClr val="bg1">
                    <a:lumMod val="95000"/>
                  </a:schemeClr>
                </a:solidFill>
              </a:rPr>
              <a:t> </a:t>
            </a:r>
            <a:r>
              <a:rPr lang="hu-HU" dirty="0" err="1">
                <a:solidFill>
                  <a:schemeClr val="bg1">
                    <a:lumMod val="95000"/>
                  </a:schemeClr>
                </a:solidFill>
              </a:rPr>
              <a:t>can</a:t>
            </a:r>
            <a:r>
              <a:rPr lang="hu-HU" dirty="0">
                <a:solidFill>
                  <a:schemeClr val="bg1">
                    <a:lumMod val="95000"/>
                  </a:schemeClr>
                </a:solidFill>
              </a:rPr>
              <a:t> be </a:t>
            </a:r>
            <a:r>
              <a:rPr lang="hu-HU" dirty="0" err="1">
                <a:solidFill>
                  <a:schemeClr val="bg1">
                    <a:lumMod val="95000"/>
                  </a:schemeClr>
                </a:solidFill>
              </a:rPr>
              <a:t>used</a:t>
            </a:r>
            <a:r>
              <a:rPr lang="hu-HU" dirty="0">
                <a:solidFill>
                  <a:schemeClr val="bg1">
                    <a:lumMod val="95000"/>
                  </a:schemeClr>
                </a:solidFill>
              </a:rPr>
              <a:t> </a:t>
            </a:r>
            <a:r>
              <a:rPr lang="hu-HU" dirty="0" err="1">
                <a:solidFill>
                  <a:schemeClr val="bg1">
                    <a:lumMod val="95000"/>
                  </a:schemeClr>
                </a:solidFill>
              </a:rPr>
              <a:t>on</a:t>
            </a:r>
            <a:r>
              <a:rPr lang="hu-HU" dirty="0">
                <a:solidFill>
                  <a:schemeClr val="bg1">
                    <a:lumMod val="95000"/>
                  </a:schemeClr>
                </a:solidFill>
              </a:rPr>
              <a:t> </a:t>
            </a:r>
            <a:r>
              <a:rPr lang="hu-HU" dirty="0" err="1">
                <a:solidFill>
                  <a:schemeClr val="bg1">
                    <a:lumMod val="95000"/>
                  </a:schemeClr>
                </a:solidFill>
              </a:rPr>
              <a:t>existing</a:t>
            </a:r>
            <a:r>
              <a:rPr lang="hu-HU" dirty="0">
                <a:solidFill>
                  <a:schemeClr val="bg1">
                    <a:lumMod val="95000"/>
                  </a:schemeClr>
                </a:solidFill>
              </a:rPr>
              <a:t> </a:t>
            </a:r>
            <a:r>
              <a:rPr lang="hu-HU" dirty="0" err="1">
                <a:solidFill>
                  <a:schemeClr val="bg1">
                    <a:lumMod val="95000"/>
                  </a:schemeClr>
                </a:solidFill>
              </a:rPr>
              <a:t>ports</a:t>
            </a:r>
            <a:r>
              <a:rPr lang="hu-HU" dirty="0">
                <a:solidFill>
                  <a:schemeClr val="bg1">
                    <a:lumMod val="95000"/>
                  </a:schemeClr>
                </a:solidFill>
              </a:rPr>
              <a:t>. </a:t>
            </a:r>
            <a:r>
              <a:rPr lang="hu-HU" dirty="0" err="1">
                <a:solidFill>
                  <a:schemeClr val="bg1">
                    <a:lumMod val="95000"/>
                  </a:schemeClr>
                </a:solidFill>
              </a:rPr>
              <a:t>On</a:t>
            </a:r>
            <a:r>
              <a:rPr lang="hu-HU" dirty="0">
                <a:solidFill>
                  <a:schemeClr val="bg1">
                    <a:lumMod val="95000"/>
                  </a:schemeClr>
                </a:solidFill>
              </a:rPr>
              <a:t> </a:t>
            </a:r>
            <a:r>
              <a:rPr lang="hu-HU" dirty="0" err="1">
                <a:solidFill>
                  <a:schemeClr val="bg1">
                    <a:lumMod val="95000"/>
                  </a:schemeClr>
                </a:solidFill>
              </a:rPr>
              <a:t>switches</a:t>
            </a:r>
            <a:r>
              <a:rPr lang="hu-HU" dirty="0">
                <a:solidFill>
                  <a:schemeClr val="bg1">
                    <a:lumMod val="95000"/>
                  </a:schemeClr>
                </a:solidFill>
              </a:rPr>
              <a:t>, </a:t>
            </a:r>
            <a:r>
              <a:rPr lang="hu-HU" dirty="0" err="1">
                <a:solidFill>
                  <a:schemeClr val="bg1">
                    <a:lumMod val="95000"/>
                  </a:schemeClr>
                </a:solidFill>
              </a:rPr>
              <a:t>there</a:t>
            </a:r>
            <a:r>
              <a:rPr lang="hu-HU" dirty="0">
                <a:solidFill>
                  <a:schemeClr val="bg1">
                    <a:lumMod val="95000"/>
                  </a:schemeClr>
                </a:solidFill>
              </a:rPr>
              <a:t> </a:t>
            </a:r>
            <a:r>
              <a:rPr lang="hu-HU" dirty="0" err="1">
                <a:solidFill>
                  <a:schemeClr val="bg1">
                    <a:lumMod val="95000"/>
                  </a:schemeClr>
                </a:solidFill>
              </a:rPr>
              <a:t>are</a:t>
            </a:r>
            <a:r>
              <a:rPr lang="hu-HU" dirty="0">
                <a:solidFill>
                  <a:schemeClr val="bg1">
                    <a:lumMod val="95000"/>
                  </a:schemeClr>
                </a:solidFill>
              </a:rPr>
              <a:t> </a:t>
            </a:r>
            <a:r>
              <a:rPr lang="hu-HU" dirty="0" err="1">
                <a:solidFill>
                  <a:schemeClr val="bg1">
                    <a:lumMod val="95000"/>
                  </a:schemeClr>
                </a:solidFill>
              </a:rPr>
              <a:t>virtual</a:t>
            </a:r>
            <a:r>
              <a:rPr lang="hu-HU" dirty="0">
                <a:solidFill>
                  <a:schemeClr val="bg1">
                    <a:lumMod val="95000"/>
                  </a:schemeClr>
                </a:solidFill>
              </a:rPr>
              <a:t> </a:t>
            </a:r>
            <a:r>
              <a:rPr lang="hu-HU" dirty="0" err="1">
                <a:solidFill>
                  <a:schemeClr val="bg1">
                    <a:lumMod val="95000"/>
                  </a:schemeClr>
                </a:solidFill>
              </a:rPr>
              <a:t>interfaces</a:t>
            </a:r>
            <a:r>
              <a:rPr lang="hu-HU" dirty="0">
                <a:solidFill>
                  <a:schemeClr val="bg1">
                    <a:lumMod val="95000"/>
                  </a:schemeClr>
                </a:solidFill>
              </a:rPr>
              <a:t> </a:t>
            </a:r>
            <a:r>
              <a:rPr lang="hu-HU" dirty="0" err="1">
                <a:solidFill>
                  <a:schemeClr val="bg1">
                    <a:lumMod val="95000"/>
                  </a:schemeClr>
                </a:solidFill>
              </a:rPr>
              <a:t>that</a:t>
            </a:r>
            <a:r>
              <a:rPr lang="hu-HU" dirty="0">
                <a:solidFill>
                  <a:schemeClr val="bg1">
                    <a:lumMod val="95000"/>
                  </a:schemeClr>
                </a:solidFill>
              </a:rPr>
              <a:t> </a:t>
            </a:r>
            <a:r>
              <a:rPr lang="hu-HU" dirty="0" err="1">
                <a:solidFill>
                  <a:schemeClr val="bg1">
                    <a:lumMod val="95000"/>
                  </a:schemeClr>
                </a:solidFill>
              </a:rPr>
              <a:t>can</a:t>
            </a:r>
            <a:r>
              <a:rPr lang="hu-HU" dirty="0">
                <a:solidFill>
                  <a:schemeClr val="bg1">
                    <a:lumMod val="95000"/>
                  </a:schemeClr>
                </a:solidFill>
              </a:rPr>
              <a:t> be </a:t>
            </a:r>
            <a:r>
              <a:rPr lang="hu-HU" dirty="0" err="1">
                <a:solidFill>
                  <a:schemeClr val="bg1">
                    <a:lumMod val="95000"/>
                  </a:schemeClr>
                </a:solidFill>
              </a:rPr>
              <a:t>used</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SSH </a:t>
            </a:r>
            <a:r>
              <a:rPr lang="hu-HU" dirty="0" err="1">
                <a:solidFill>
                  <a:schemeClr val="bg1">
                    <a:lumMod val="95000"/>
                  </a:schemeClr>
                </a:solidFill>
              </a:rPr>
              <a:t>connection</a:t>
            </a:r>
            <a:endParaRPr lang="hu-HU" dirty="0">
              <a:solidFill>
                <a:schemeClr val="bg1">
                  <a:lumMod val="95000"/>
                </a:schemeClr>
              </a:solidFill>
            </a:endParaRP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A82EAD1B-FE9B-9E60-4793-03BE746A924E}"/>
              </a:ext>
            </a:extLst>
          </p:cNvPr>
          <p:cNvPicPr>
            <a:picLocks noChangeAspect="1"/>
          </p:cNvPicPr>
          <p:nvPr/>
        </p:nvPicPr>
        <p:blipFill>
          <a:blip r:embed="rId3"/>
          <a:stretch>
            <a:fillRect/>
          </a:stretch>
        </p:blipFill>
        <p:spPr>
          <a:xfrm>
            <a:off x="6336249" y="1825625"/>
            <a:ext cx="5439534" cy="2381582"/>
          </a:xfrm>
          <a:prstGeom prst="rect">
            <a:avLst/>
          </a:prstGeom>
        </p:spPr>
      </p:pic>
    </p:spTree>
    <p:extLst>
      <p:ext uri="{BB962C8B-B14F-4D97-AF65-F5344CB8AC3E}">
        <p14:creationId xmlns:p14="http://schemas.microsoft.com/office/powerpoint/2010/main" val="2609442572"/>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6EFB8DB-42C6-5FFA-2DFA-5EC118F5B1DF}"/>
              </a:ext>
            </a:extLst>
          </p:cNvPr>
          <p:cNvSpPr>
            <a:spLocks noGrp="1"/>
          </p:cNvSpPr>
          <p:nvPr>
            <p:ph type="title"/>
          </p:nvPr>
        </p:nvSpPr>
        <p:spPr/>
        <p:txBody>
          <a:bodyPr/>
          <a:lstStyle/>
          <a:p>
            <a:r>
              <a:rPr lang="hu-HU" dirty="0" err="1">
                <a:solidFill>
                  <a:schemeClr val="bg1">
                    <a:lumMod val="95000"/>
                  </a:schemeClr>
                </a:solidFill>
              </a:rPr>
              <a:t>Switchport</a:t>
            </a:r>
            <a:r>
              <a:rPr lang="hu-HU" dirty="0">
                <a:solidFill>
                  <a:schemeClr val="bg1">
                    <a:lumMod val="95000"/>
                  </a:schemeClr>
                </a:solidFill>
              </a:rPr>
              <a:t> </a:t>
            </a:r>
            <a:r>
              <a:rPr lang="hu-HU" dirty="0" err="1">
                <a:solidFill>
                  <a:schemeClr val="bg1">
                    <a:lumMod val="95000"/>
                  </a:schemeClr>
                </a:solidFill>
              </a:rPr>
              <a:t>security</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3E64C39F-0E20-557F-082F-922DAFA64A14}"/>
              </a:ext>
            </a:extLst>
          </p:cNvPr>
          <p:cNvSpPr>
            <a:spLocks noGrp="1"/>
          </p:cNvSpPr>
          <p:nvPr>
            <p:ph idx="1"/>
          </p:nvPr>
        </p:nvSpPr>
        <p:spPr>
          <a:xfrm>
            <a:off x="630811" y="1760187"/>
            <a:ext cx="5034698" cy="4351338"/>
          </a:xfrm>
        </p:spPr>
        <p:txBody>
          <a:bodyPr/>
          <a:lstStyle/>
          <a:p>
            <a:r>
              <a:rPr lang="hu-HU" dirty="0" err="1">
                <a:solidFill>
                  <a:schemeClr val="bg1">
                    <a:lumMod val="95000"/>
                  </a:schemeClr>
                </a:solidFill>
              </a:rPr>
              <a:t>This</a:t>
            </a:r>
            <a:r>
              <a:rPr lang="hu-HU" dirty="0">
                <a:solidFill>
                  <a:schemeClr val="bg1">
                    <a:lumMod val="95000"/>
                  </a:schemeClr>
                </a:solidFill>
              </a:rPr>
              <a:t> </a:t>
            </a:r>
            <a:r>
              <a:rPr lang="hu-HU" dirty="0" err="1">
                <a:solidFill>
                  <a:schemeClr val="bg1">
                    <a:lumMod val="95000"/>
                  </a:schemeClr>
                </a:solidFill>
              </a:rPr>
              <a:t>section</a:t>
            </a:r>
            <a:r>
              <a:rPr lang="hu-HU" dirty="0">
                <a:solidFill>
                  <a:schemeClr val="bg1">
                    <a:lumMod val="95000"/>
                  </a:schemeClr>
                </a:solidFill>
              </a:rPr>
              <a:t> </a:t>
            </a:r>
            <a:r>
              <a:rPr lang="hu-HU" dirty="0" err="1">
                <a:solidFill>
                  <a:schemeClr val="bg1">
                    <a:lumMod val="95000"/>
                  </a:schemeClr>
                </a:solidFill>
              </a:rPr>
              <a:t>introduces</a:t>
            </a:r>
            <a:r>
              <a:rPr lang="hu-HU" dirty="0">
                <a:solidFill>
                  <a:schemeClr val="bg1">
                    <a:lumMod val="95000"/>
                  </a:schemeClr>
                </a:solidFill>
              </a:rPr>
              <a:t> a </a:t>
            </a:r>
            <a:r>
              <a:rPr lang="hu-HU" dirty="0" err="1">
                <a:solidFill>
                  <a:schemeClr val="bg1">
                    <a:lumMod val="95000"/>
                  </a:schemeClr>
                </a:solidFill>
              </a:rPr>
              <a:t>series</a:t>
            </a:r>
            <a:r>
              <a:rPr lang="hu-HU" dirty="0">
                <a:solidFill>
                  <a:schemeClr val="bg1">
                    <a:lumMod val="95000"/>
                  </a:schemeClr>
                </a:solidFill>
              </a:rPr>
              <a:t> of </a:t>
            </a:r>
            <a:r>
              <a:rPr lang="hu-HU" dirty="0" err="1">
                <a:solidFill>
                  <a:schemeClr val="bg1">
                    <a:lumMod val="95000"/>
                  </a:schemeClr>
                </a:solidFill>
              </a:rPr>
              <a:t>baseline</a:t>
            </a:r>
            <a:r>
              <a:rPr lang="hu-HU" dirty="0">
                <a:solidFill>
                  <a:schemeClr val="bg1">
                    <a:lumMod val="95000"/>
                  </a:schemeClr>
                </a:solidFill>
              </a:rPr>
              <a:t> </a:t>
            </a:r>
            <a:r>
              <a:rPr lang="hu-HU" dirty="0" err="1">
                <a:solidFill>
                  <a:schemeClr val="bg1">
                    <a:lumMod val="95000"/>
                  </a:schemeClr>
                </a:solidFill>
              </a:rPr>
              <a:t>endpoint</a:t>
            </a:r>
            <a:r>
              <a:rPr lang="hu-HU" dirty="0">
                <a:solidFill>
                  <a:schemeClr val="bg1">
                    <a:lumMod val="95000"/>
                  </a:schemeClr>
                </a:solidFill>
              </a:rPr>
              <a:t> </a:t>
            </a:r>
            <a:r>
              <a:rPr lang="hu-HU" dirty="0" err="1">
                <a:solidFill>
                  <a:schemeClr val="bg1">
                    <a:lumMod val="95000"/>
                  </a:schemeClr>
                </a:solidFill>
              </a:rPr>
              <a:t>protection</a:t>
            </a:r>
            <a:r>
              <a:rPr lang="hu-HU" dirty="0">
                <a:solidFill>
                  <a:schemeClr val="bg1">
                    <a:lumMod val="95000"/>
                  </a:schemeClr>
                </a:solidFill>
              </a:rPr>
              <a:t> </a:t>
            </a:r>
            <a:r>
              <a:rPr lang="hu-HU" dirty="0" err="1">
                <a:solidFill>
                  <a:schemeClr val="bg1">
                    <a:lumMod val="95000"/>
                  </a:schemeClr>
                </a:solidFill>
              </a:rPr>
              <a:t>protocols</a:t>
            </a:r>
            <a:r>
              <a:rPr lang="hu-HU" dirty="0">
                <a:solidFill>
                  <a:schemeClr val="bg1">
                    <a:lumMod val="95000"/>
                  </a:schemeClr>
                </a:solidFill>
              </a:rPr>
              <a:t>, </a:t>
            </a:r>
            <a:r>
              <a:rPr lang="hu-HU" dirty="0" err="1">
                <a:solidFill>
                  <a:schemeClr val="bg1">
                    <a:lumMod val="95000"/>
                  </a:schemeClr>
                </a:solidFill>
              </a:rPr>
              <a:t>that</a:t>
            </a:r>
            <a:r>
              <a:rPr lang="hu-HU" dirty="0">
                <a:solidFill>
                  <a:schemeClr val="bg1">
                    <a:lumMod val="95000"/>
                  </a:schemeClr>
                </a:solidFill>
              </a:rPr>
              <a:t> </a:t>
            </a:r>
            <a:r>
              <a:rPr lang="hu-HU" dirty="0" err="1">
                <a:solidFill>
                  <a:schemeClr val="bg1">
                    <a:lumMod val="95000"/>
                  </a:schemeClr>
                </a:solidFill>
              </a:rPr>
              <a:t>prevent</a:t>
            </a:r>
            <a:r>
              <a:rPr lang="hu-HU" dirty="0">
                <a:solidFill>
                  <a:schemeClr val="bg1">
                    <a:lumMod val="95000"/>
                  </a:schemeClr>
                </a:solidFill>
              </a:rPr>
              <a:t> </a:t>
            </a:r>
            <a:r>
              <a:rPr lang="hu-HU" dirty="0" err="1">
                <a:solidFill>
                  <a:schemeClr val="bg1">
                    <a:lumMod val="95000"/>
                  </a:schemeClr>
                </a:solidFill>
              </a:rPr>
              <a:t>rouge</a:t>
            </a:r>
            <a:r>
              <a:rPr lang="hu-HU" dirty="0">
                <a:solidFill>
                  <a:schemeClr val="bg1">
                    <a:lumMod val="95000"/>
                  </a:schemeClr>
                </a:solidFill>
              </a:rPr>
              <a:t> end </a:t>
            </a:r>
            <a:r>
              <a:rPr lang="hu-HU" dirty="0" err="1">
                <a:solidFill>
                  <a:schemeClr val="bg1">
                    <a:lumMod val="95000"/>
                  </a:schemeClr>
                </a:solidFill>
              </a:rPr>
              <a:t>users</a:t>
            </a:r>
            <a:r>
              <a:rPr lang="hu-HU" dirty="0">
                <a:solidFill>
                  <a:schemeClr val="bg1">
                    <a:lumMod val="95000"/>
                  </a:schemeClr>
                </a:solidFill>
              </a:rPr>
              <a:t> </a:t>
            </a:r>
            <a:r>
              <a:rPr lang="hu-HU" dirty="0" err="1">
                <a:solidFill>
                  <a:schemeClr val="bg1">
                    <a:lumMod val="95000"/>
                  </a:schemeClr>
                </a:solidFill>
              </a:rPr>
              <a:t>from</a:t>
            </a:r>
            <a:r>
              <a:rPr lang="hu-HU" dirty="0">
                <a:solidFill>
                  <a:schemeClr val="bg1">
                    <a:lumMod val="95000"/>
                  </a:schemeClr>
                </a:solidFill>
              </a:rPr>
              <a:t> </a:t>
            </a:r>
            <a:r>
              <a:rPr lang="hu-HU" dirty="0" err="1">
                <a:solidFill>
                  <a:schemeClr val="bg1">
                    <a:lumMod val="95000"/>
                  </a:schemeClr>
                </a:solidFill>
              </a:rPr>
              <a:t>connecting</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a:t>
            </a:r>
            <a:r>
              <a:rPr lang="hu-HU" dirty="0" err="1">
                <a:solidFill>
                  <a:schemeClr val="bg1">
                    <a:lumMod val="95000"/>
                  </a:schemeClr>
                </a:solidFill>
              </a:rPr>
              <a:t>network</a:t>
            </a:r>
            <a:r>
              <a:rPr lang="hu-HU" dirty="0">
                <a:solidFill>
                  <a:schemeClr val="bg1">
                    <a:lumMod val="95000"/>
                  </a:schemeClr>
                </a:solidFill>
              </a:rPr>
              <a:t>.</a:t>
            </a:r>
          </a:p>
          <a:p>
            <a:r>
              <a:rPr lang="hu-HU" dirty="0">
                <a:solidFill>
                  <a:schemeClr val="bg1">
                    <a:lumMod val="95000"/>
                  </a:schemeClr>
                </a:solidFill>
              </a:rPr>
              <a:t>Max 1 MAC </a:t>
            </a:r>
            <a:r>
              <a:rPr lang="hu-HU" dirty="0" err="1">
                <a:solidFill>
                  <a:schemeClr val="bg1">
                    <a:lumMod val="95000"/>
                  </a:schemeClr>
                </a:solidFill>
              </a:rPr>
              <a:t>Address</a:t>
            </a:r>
            <a:endParaRPr lang="hu-HU" dirty="0">
              <a:solidFill>
                <a:schemeClr val="bg1">
                  <a:lumMod val="95000"/>
                </a:schemeClr>
              </a:solidFill>
            </a:endParaRPr>
          </a:p>
          <a:p>
            <a:r>
              <a:rPr lang="hu-HU" dirty="0" err="1">
                <a:solidFill>
                  <a:schemeClr val="bg1">
                    <a:lumMod val="95000"/>
                  </a:schemeClr>
                </a:solidFill>
              </a:rPr>
              <a:t>Violation</a:t>
            </a:r>
            <a:r>
              <a:rPr lang="hu-HU" dirty="0">
                <a:solidFill>
                  <a:schemeClr val="bg1">
                    <a:lumMod val="95000"/>
                  </a:schemeClr>
                </a:solidFill>
              </a:rPr>
              <a:t>: </a:t>
            </a:r>
            <a:r>
              <a:rPr lang="hu-HU" dirty="0" err="1">
                <a:solidFill>
                  <a:schemeClr val="bg1">
                    <a:lumMod val="95000"/>
                  </a:schemeClr>
                </a:solidFill>
              </a:rPr>
              <a:t>shutdown</a:t>
            </a:r>
            <a:endParaRPr lang="hu-HU" dirty="0">
              <a:solidFill>
                <a:schemeClr val="bg1">
                  <a:lumMod val="95000"/>
                </a:schemeClr>
              </a:solidFill>
            </a:endParaRPr>
          </a:p>
        </p:txBody>
      </p:sp>
      <p:pic>
        <p:nvPicPr>
          <p:cNvPr id="5" name="Kép 4">
            <a:extLst>
              <a:ext uri="{FF2B5EF4-FFF2-40B4-BE49-F238E27FC236}">
                <a16:creationId xmlns:a16="http://schemas.microsoft.com/office/drawing/2014/main" id="{B2369852-28B6-E38D-015D-CDD5636E7292}"/>
              </a:ext>
            </a:extLst>
          </p:cNvPr>
          <p:cNvPicPr>
            <a:picLocks noChangeAspect="1"/>
          </p:cNvPicPr>
          <p:nvPr/>
        </p:nvPicPr>
        <p:blipFill>
          <a:blip r:embed="rId3"/>
          <a:stretch>
            <a:fillRect/>
          </a:stretch>
        </p:blipFill>
        <p:spPr>
          <a:xfrm>
            <a:off x="6273719" y="1378838"/>
            <a:ext cx="4806703" cy="5114037"/>
          </a:xfrm>
          <a:prstGeom prst="rect">
            <a:avLst/>
          </a:prstGeom>
        </p:spPr>
      </p:pic>
    </p:spTree>
    <p:extLst>
      <p:ext uri="{BB962C8B-B14F-4D97-AF65-F5344CB8AC3E}">
        <p14:creationId xmlns:p14="http://schemas.microsoft.com/office/powerpoint/2010/main" val="650529762"/>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10B1AE6-CAFE-9405-176A-02D982DE2A92}"/>
              </a:ext>
            </a:extLst>
          </p:cNvPr>
          <p:cNvSpPr>
            <a:spLocks noGrp="1"/>
          </p:cNvSpPr>
          <p:nvPr>
            <p:ph type="title"/>
          </p:nvPr>
        </p:nvSpPr>
        <p:spPr/>
        <p:txBody>
          <a:bodyPr/>
          <a:lstStyle/>
          <a:p>
            <a:r>
              <a:rPr lang="hu-HU" dirty="0">
                <a:solidFill>
                  <a:schemeClr val="bg1">
                    <a:lumMod val="95000"/>
                  </a:schemeClr>
                </a:solidFill>
              </a:rPr>
              <a:t>ASA Hardware </a:t>
            </a:r>
            <a:r>
              <a:rPr lang="hu-HU" dirty="0" err="1">
                <a:solidFill>
                  <a:schemeClr val="bg1">
                    <a:lumMod val="95000"/>
                  </a:schemeClr>
                </a:solidFill>
              </a:rPr>
              <a:t>Firewall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E8205119-1C37-1A20-727B-A55180BD7C81}"/>
              </a:ext>
            </a:extLst>
          </p:cNvPr>
          <p:cNvSpPr>
            <a:spLocks noGrp="1"/>
          </p:cNvSpPr>
          <p:nvPr>
            <p:ph idx="1"/>
          </p:nvPr>
        </p:nvSpPr>
        <p:spPr>
          <a:xfrm>
            <a:off x="838200" y="1825625"/>
            <a:ext cx="3780934" cy="4351338"/>
          </a:xfrm>
        </p:spPr>
        <p:txBody>
          <a:bodyPr/>
          <a:lstStyle/>
          <a:p>
            <a:r>
              <a:rPr lang="hu-HU" dirty="0">
                <a:solidFill>
                  <a:schemeClr val="bg1">
                    <a:lumMod val="95000"/>
                  </a:schemeClr>
                </a:solidFill>
              </a:rPr>
              <a:t>The </a:t>
            </a:r>
            <a:r>
              <a:rPr lang="hu-HU" dirty="0" err="1">
                <a:solidFill>
                  <a:schemeClr val="bg1">
                    <a:lumMod val="95000"/>
                  </a:schemeClr>
                </a:solidFill>
              </a:rPr>
              <a:t>firewall</a:t>
            </a:r>
            <a:r>
              <a:rPr lang="hu-HU" dirty="0">
                <a:solidFill>
                  <a:schemeClr val="bg1">
                    <a:lumMod val="95000"/>
                  </a:schemeClr>
                </a:solidFill>
              </a:rPr>
              <a:t> </a:t>
            </a:r>
            <a:r>
              <a:rPr lang="hu-HU" dirty="0" err="1">
                <a:solidFill>
                  <a:schemeClr val="bg1">
                    <a:lumMod val="95000"/>
                  </a:schemeClr>
                </a:solidFill>
              </a:rPr>
              <a:t>only</a:t>
            </a:r>
            <a:r>
              <a:rPr lang="hu-HU" dirty="0">
                <a:solidFill>
                  <a:schemeClr val="bg1">
                    <a:lumMod val="95000"/>
                  </a:schemeClr>
                </a:solidFill>
              </a:rPr>
              <a:t> </a:t>
            </a:r>
            <a:r>
              <a:rPr lang="hu-HU" dirty="0" err="1">
                <a:solidFill>
                  <a:schemeClr val="bg1">
                    <a:lumMod val="95000"/>
                  </a:schemeClr>
                </a:solidFill>
              </a:rPr>
              <a:t>allows</a:t>
            </a:r>
            <a:r>
              <a:rPr lang="hu-HU" dirty="0">
                <a:solidFill>
                  <a:schemeClr val="bg1">
                    <a:lumMod val="95000"/>
                  </a:schemeClr>
                </a:solidFill>
              </a:rPr>
              <a:t> a </a:t>
            </a:r>
            <a:r>
              <a:rPr lang="hu-HU" dirty="0" err="1">
                <a:solidFill>
                  <a:schemeClr val="bg1">
                    <a:lumMod val="95000"/>
                  </a:schemeClr>
                </a:solidFill>
              </a:rPr>
              <a:t>handful</a:t>
            </a:r>
            <a:r>
              <a:rPr lang="hu-HU" dirty="0">
                <a:solidFill>
                  <a:schemeClr val="bg1">
                    <a:lumMod val="95000"/>
                  </a:schemeClr>
                </a:solidFill>
              </a:rPr>
              <a:t> of </a:t>
            </a:r>
            <a:r>
              <a:rPr lang="hu-HU" dirty="0" err="1">
                <a:solidFill>
                  <a:schemeClr val="bg1">
                    <a:lumMod val="95000"/>
                  </a:schemeClr>
                </a:solidFill>
              </a:rPr>
              <a:t>manually</a:t>
            </a:r>
            <a:r>
              <a:rPr lang="hu-HU" dirty="0">
                <a:solidFill>
                  <a:schemeClr val="bg1">
                    <a:lumMod val="95000"/>
                  </a:schemeClr>
                </a:solidFill>
              </a:rPr>
              <a:t> </a:t>
            </a:r>
            <a:r>
              <a:rPr lang="hu-HU" dirty="0" err="1">
                <a:solidFill>
                  <a:schemeClr val="bg1">
                    <a:lumMod val="95000"/>
                  </a:schemeClr>
                </a:solidFill>
              </a:rPr>
              <a:t>picked</a:t>
            </a:r>
            <a:r>
              <a:rPr lang="hu-HU" dirty="0">
                <a:solidFill>
                  <a:schemeClr val="bg1">
                    <a:lumMod val="95000"/>
                  </a:schemeClr>
                </a:solidFill>
              </a:rPr>
              <a:t> </a:t>
            </a:r>
            <a:r>
              <a:rPr lang="hu-HU" dirty="0" err="1">
                <a:solidFill>
                  <a:schemeClr val="bg1">
                    <a:lumMod val="95000"/>
                  </a:schemeClr>
                </a:solidFill>
              </a:rPr>
              <a:t>hosts</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access</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server, and </a:t>
            </a:r>
            <a:r>
              <a:rPr lang="hu-HU" dirty="0" err="1">
                <a:solidFill>
                  <a:schemeClr val="bg1">
                    <a:lumMod val="95000"/>
                  </a:schemeClr>
                </a:solidFill>
              </a:rPr>
              <a:t>only</a:t>
            </a:r>
            <a:r>
              <a:rPr lang="hu-HU" dirty="0">
                <a:solidFill>
                  <a:schemeClr val="bg1">
                    <a:lumMod val="95000"/>
                  </a:schemeClr>
                </a:solidFill>
              </a:rPr>
              <a:t> </a:t>
            </a:r>
            <a:r>
              <a:rPr lang="hu-HU" dirty="0" err="1">
                <a:solidFill>
                  <a:schemeClr val="bg1">
                    <a:lumMod val="95000"/>
                  </a:schemeClr>
                </a:solidFill>
              </a:rPr>
              <a:t>alllows</a:t>
            </a:r>
            <a:r>
              <a:rPr lang="hu-HU" dirty="0">
                <a:solidFill>
                  <a:schemeClr val="bg1">
                    <a:lumMod val="95000"/>
                  </a:schemeClr>
                </a:solidFill>
              </a:rPr>
              <a:t> </a:t>
            </a:r>
            <a:r>
              <a:rPr lang="hu-HU" dirty="0" err="1">
                <a:solidFill>
                  <a:schemeClr val="bg1">
                    <a:lumMod val="95000"/>
                  </a:schemeClr>
                </a:solidFill>
              </a:rPr>
              <a:t>encrypted</a:t>
            </a:r>
            <a:r>
              <a:rPr lang="hu-HU" dirty="0">
                <a:solidFill>
                  <a:schemeClr val="bg1">
                    <a:lumMod val="95000"/>
                  </a:schemeClr>
                </a:solidFill>
              </a:rPr>
              <a:t> </a:t>
            </a:r>
            <a:r>
              <a:rPr lang="hu-HU" dirty="0" err="1">
                <a:solidFill>
                  <a:schemeClr val="bg1">
                    <a:lumMod val="95000"/>
                  </a:schemeClr>
                </a:solidFill>
              </a:rPr>
              <a:t>protocols</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be </a:t>
            </a:r>
            <a:r>
              <a:rPr lang="hu-HU" dirty="0" err="1">
                <a:solidFill>
                  <a:schemeClr val="bg1">
                    <a:lumMod val="95000"/>
                  </a:schemeClr>
                </a:solidFill>
              </a:rPr>
              <a:t>used</a:t>
            </a:r>
            <a:r>
              <a:rPr lang="hu-HU" dirty="0">
                <a:solidFill>
                  <a:schemeClr val="bg1">
                    <a:lumMod val="95000"/>
                  </a:schemeClr>
                </a:solidFill>
              </a:rPr>
              <a:t> </a:t>
            </a:r>
            <a:r>
              <a:rPr lang="hu-HU" dirty="0" err="1">
                <a:solidFill>
                  <a:schemeClr val="bg1">
                    <a:lumMod val="95000"/>
                  </a:schemeClr>
                </a:solidFill>
              </a:rPr>
              <a:t>during</a:t>
            </a:r>
            <a:r>
              <a:rPr lang="hu-HU" dirty="0">
                <a:solidFill>
                  <a:schemeClr val="bg1">
                    <a:lumMod val="95000"/>
                  </a:schemeClr>
                </a:solidFill>
              </a:rPr>
              <a:t> </a:t>
            </a:r>
            <a:r>
              <a:rPr lang="hu-HU" dirty="0" err="1">
                <a:solidFill>
                  <a:schemeClr val="bg1">
                    <a:lumMod val="95000"/>
                  </a:schemeClr>
                </a:solidFill>
              </a:rPr>
              <a:t>communication</a:t>
            </a:r>
            <a:endParaRPr lang="hu-HU" dirty="0">
              <a:solidFill>
                <a:schemeClr val="bg1">
                  <a:lumMod val="95000"/>
                </a:schemeClr>
              </a:solidFill>
            </a:endParaRPr>
          </a:p>
        </p:txBody>
      </p:sp>
      <p:pic>
        <p:nvPicPr>
          <p:cNvPr id="7" name="Kép 6">
            <a:extLst>
              <a:ext uri="{FF2B5EF4-FFF2-40B4-BE49-F238E27FC236}">
                <a16:creationId xmlns:a16="http://schemas.microsoft.com/office/drawing/2014/main" id="{8EECDEED-7EB6-76C5-3D9F-4A0E5E3DA290}"/>
              </a:ext>
            </a:extLst>
          </p:cNvPr>
          <p:cNvPicPr>
            <a:picLocks noChangeAspect="1"/>
          </p:cNvPicPr>
          <p:nvPr/>
        </p:nvPicPr>
        <p:blipFill>
          <a:blip r:embed="rId3"/>
          <a:stretch>
            <a:fillRect/>
          </a:stretch>
        </p:blipFill>
        <p:spPr>
          <a:xfrm>
            <a:off x="4619134" y="2058334"/>
            <a:ext cx="7262598" cy="2560800"/>
          </a:xfrm>
          <a:prstGeom prst="rect">
            <a:avLst/>
          </a:prstGeom>
        </p:spPr>
      </p:pic>
    </p:spTree>
    <p:extLst>
      <p:ext uri="{BB962C8B-B14F-4D97-AF65-F5344CB8AC3E}">
        <p14:creationId xmlns:p14="http://schemas.microsoft.com/office/powerpoint/2010/main" val="4038400212"/>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2B9A219-4382-140F-713C-DBAFAF76DD28}"/>
              </a:ext>
            </a:extLst>
          </p:cNvPr>
          <p:cNvSpPr>
            <a:spLocks noGrp="1"/>
          </p:cNvSpPr>
          <p:nvPr>
            <p:ph type="title"/>
          </p:nvPr>
        </p:nvSpPr>
        <p:spPr/>
        <p:txBody>
          <a:bodyPr/>
          <a:lstStyle/>
          <a:p>
            <a:r>
              <a:rPr lang="hu-HU" dirty="0" err="1">
                <a:solidFill>
                  <a:schemeClr val="bg1"/>
                </a:solidFill>
              </a:rPr>
              <a:t>Possible</a:t>
            </a:r>
            <a:r>
              <a:rPr lang="hu-HU" dirty="0">
                <a:solidFill>
                  <a:schemeClr val="bg1"/>
                </a:solidFill>
              </a:rPr>
              <a:t> </a:t>
            </a:r>
            <a:r>
              <a:rPr lang="hu-HU" dirty="0" err="1">
                <a:solidFill>
                  <a:schemeClr val="bg1"/>
                </a:solidFill>
              </a:rPr>
              <a:t>Advancements</a:t>
            </a:r>
            <a:r>
              <a:rPr lang="hu-HU" dirty="0">
                <a:solidFill>
                  <a:schemeClr val="bg1"/>
                </a:solidFill>
              </a:rPr>
              <a:t> In The </a:t>
            </a:r>
            <a:r>
              <a:rPr lang="hu-HU" dirty="0" err="1">
                <a:solidFill>
                  <a:schemeClr val="bg1"/>
                </a:solidFill>
              </a:rPr>
              <a:t>Near</a:t>
            </a:r>
            <a:r>
              <a:rPr lang="hu-HU" dirty="0">
                <a:solidFill>
                  <a:schemeClr val="bg1"/>
                </a:solidFill>
              </a:rPr>
              <a:t> </a:t>
            </a:r>
            <a:r>
              <a:rPr lang="hu-HU" dirty="0" err="1">
                <a:solidFill>
                  <a:schemeClr val="bg1"/>
                </a:solidFill>
              </a:rPr>
              <a:t>Future</a:t>
            </a:r>
            <a:endParaRPr lang="hu-HU" dirty="0">
              <a:solidFill>
                <a:schemeClr val="bg1"/>
              </a:solidFill>
            </a:endParaRPr>
          </a:p>
        </p:txBody>
      </p:sp>
      <p:sp>
        <p:nvSpPr>
          <p:cNvPr id="3" name="Tartalom helye 2">
            <a:extLst>
              <a:ext uri="{FF2B5EF4-FFF2-40B4-BE49-F238E27FC236}">
                <a16:creationId xmlns:a16="http://schemas.microsoft.com/office/drawing/2014/main" id="{7C8BBDE8-8E58-F0D9-1877-55B695B58D20}"/>
              </a:ext>
            </a:extLst>
          </p:cNvPr>
          <p:cNvSpPr>
            <a:spLocks noGrp="1"/>
          </p:cNvSpPr>
          <p:nvPr>
            <p:ph idx="1"/>
          </p:nvPr>
        </p:nvSpPr>
        <p:spPr>
          <a:xfrm>
            <a:off x="838200" y="1859492"/>
            <a:ext cx="10515600" cy="4351338"/>
          </a:xfrm>
        </p:spPr>
        <p:txBody>
          <a:bodyPr/>
          <a:lstStyle/>
          <a:p>
            <a:pPr>
              <a:lnSpc>
                <a:spcPct val="150000"/>
              </a:lnSpc>
            </a:pPr>
            <a:r>
              <a:rPr lang="hu-HU" dirty="0" err="1">
                <a:solidFill>
                  <a:schemeClr val="bg1"/>
                </a:solidFill>
              </a:rPr>
              <a:t>Auction</a:t>
            </a:r>
            <a:r>
              <a:rPr lang="hu-HU" dirty="0">
                <a:solidFill>
                  <a:schemeClr val="bg1"/>
                </a:solidFill>
              </a:rPr>
              <a:t> site </a:t>
            </a:r>
            <a:r>
              <a:rPr lang="hu-HU" dirty="0" err="1">
                <a:solidFill>
                  <a:schemeClr val="bg1"/>
                </a:solidFill>
              </a:rPr>
              <a:t>for</a:t>
            </a:r>
            <a:r>
              <a:rPr lang="hu-HU" dirty="0">
                <a:solidFill>
                  <a:schemeClr val="bg1"/>
                </a:solidFill>
              </a:rPr>
              <a:t> </a:t>
            </a:r>
            <a:r>
              <a:rPr lang="hu-HU" dirty="0" err="1">
                <a:solidFill>
                  <a:schemeClr val="bg1"/>
                </a:solidFill>
              </a:rPr>
              <a:t>employees</a:t>
            </a:r>
            <a:r>
              <a:rPr lang="hu-HU" dirty="0">
                <a:solidFill>
                  <a:schemeClr val="bg1"/>
                </a:solidFill>
              </a:rPr>
              <a:t>, </a:t>
            </a:r>
            <a:r>
              <a:rPr lang="hu-HU" dirty="0" err="1">
                <a:solidFill>
                  <a:schemeClr val="bg1"/>
                </a:solidFill>
              </a:rPr>
              <a:t>to</a:t>
            </a:r>
            <a:r>
              <a:rPr lang="hu-HU" dirty="0">
                <a:solidFill>
                  <a:schemeClr val="bg1"/>
                </a:solidFill>
              </a:rPr>
              <a:t> </a:t>
            </a:r>
            <a:r>
              <a:rPr lang="hu-HU" dirty="0" err="1">
                <a:solidFill>
                  <a:schemeClr val="bg1"/>
                </a:solidFill>
              </a:rPr>
              <a:t>reduce</a:t>
            </a:r>
            <a:r>
              <a:rPr lang="hu-HU" dirty="0">
                <a:solidFill>
                  <a:schemeClr val="bg1"/>
                </a:solidFill>
              </a:rPr>
              <a:t> e-</a:t>
            </a:r>
            <a:r>
              <a:rPr lang="hu-HU" dirty="0" err="1">
                <a:solidFill>
                  <a:schemeClr val="bg1"/>
                </a:solidFill>
              </a:rPr>
              <a:t>waste</a:t>
            </a:r>
            <a:endParaRPr lang="hu-HU" dirty="0">
              <a:solidFill>
                <a:schemeClr val="bg1"/>
              </a:solidFill>
            </a:endParaRPr>
          </a:p>
          <a:p>
            <a:pPr>
              <a:lnSpc>
                <a:spcPct val="150000"/>
              </a:lnSpc>
            </a:pPr>
            <a:r>
              <a:rPr lang="hu-HU" dirty="0" err="1">
                <a:solidFill>
                  <a:schemeClr val="bg1"/>
                </a:solidFill>
              </a:rPr>
              <a:t>Introduce</a:t>
            </a:r>
            <a:r>
              <a:rPr lang="hu-HU" dirty="0">
                <a:solidFill>
                  <a:schemeClr val="bg1"/>
                </a:solidFill>
              </a:rPr>
              <a:t> IPv6 </a:t>
            </a:r>
            <a:r>
              <a:rPr lang="hu-HU" dirty="0" err="1">
                <a:solidFill>
                  <a:schemeClr val="bg1"/>
                </a:solidFill>
              </a:rPr>
              <a:t>for</a:t>
            </a:r>
            <a:r>
              <a:rPr lang="hu-HU" dirty="0">
                <a:solidFill>
                  <a:schemeClr val="bg1"/>
                </a:solidFill>
              </a:rPr>
              <a:t> </a:t>
            </a:r>
            <a:r>
              <a:rPr lang="hu-HU" dirty="0" err="1">
                <a:solidFill>
                  <a:schemeClr val="bg1"/>
                </a:solidFill>
              </a:rPr>
              <a:t>other</a:t>
            </a:r>
            <a:r>
              <a:rPr lang="hu-HU" dirty="0">
                <a:solidFill>
                  <a:schemeClr val="bg1"/>
                </a:solidFill>
              </a:rPr>
              <a:t> </a:t>
            </a:r>
            <a:r>
              <a:rPr lang="hu-HU" dirty="0" err="1">
                <a:solidFill>
                  <a:schemeClr val="bg1"/>
                </a:solidFill>
              </a:rPr>
              <a:t>company</a:t>
            </a:r>
            <a:r>
              <a:rPr lang="hu-HU" dirty="0">
                <a:solidFill>
                  <a:schemeClr val="bg1"/>
                </a:solidFill>
              </a:rPr>
              <a:t> </a:t>
            </a:r>
            <a:r>
              <a:rPr lang="hu-HU" dirty="0" err="1">
                <a:solidFill>
                  <a:schemeClr val="bg1"/>
                </a:solidFill>
              </a:rPr>
              <a:t>sites</a:t>
            </a:r>
            <a:endParaRPr lang="hu-HU" dirty="0">
              <a:solidFill>
                <a:schemeClr val="bg1"/>
              </a:solidFill>
            </a:endParaRPr>
          </a:p>
          <a:p>
            <a:pPr>
              <a:lnSpc>
                <a:spcPct val="150000"/>
              </a:lnSpc>
            </a:pPr>
            <a:r>
              <a:rPr lang="hu-HU" dirty="0" err="1">
                <a:solidFill>
                  <a:schemeClr val="bg1"/>
                </a:solidFill>
              </a:rPr>
              <a:t>Introduce</a:t>
            </a:r>
            <a:r>
              <a:rPr lang="hu-HU" dirty="0">
                <a:solidFill>
                  <a:schemeClr val="bg1"/>
                </a:solidFill>
              </a:rPr>
              <a:t> a </a:t>
            </a:r>
            <a:r>
              <a:rPr lang="hu-HU" dirty="0" err="1">
                <a:solidFill>
                  <a:schemeClr val="bg1"/>
                </a:solidFill>
              </a:rPr>
              <a:t>Token-based</a:t>
            </a:r>
            <a:r>
              <a:rPr lang="hu-HU" dirty="0">
                <a:solidFill>
                  <a:schemeClr val="bg1"/>
                </a:solidFill>
              </a:rPr>
              <a:t> </a:t>
            </a:r>
            <a:r>
              <a:rPr lang="hu-HU" dirty="0" err="1">
                <a:solidFill>
                  <a:schemeClr val="bg1"/>
                </a:solidFill>
              </a:rPr>
              <a:t>authentication</a:t>
            </a:r>
            <a:r>
              <a:rPr lang="hu-HU" dirty="0">
                <a:solidFill>
                  <a:schemeClr val="bg1"/>
                </a:solidFill>
              </a:rPr>
              <a:t> </a:t>
            </a:r>
            <a:r>
              <a:rPr lang="hu-HU" dirty="0" err="1">
                <a:solidFill>
                  <a:schemeClr val="bg1"/>
                </a:solidFill>
              </a:rPr>
              <a:t>system</a:t>
            </a:r>
            <a:r>
              <a:rPr lang="hu-HU" dirty="0">
                <a:solidFill>
                  <a:schemeClr val="bg1"/>
                </a:solidFill>
              </a:rPr>
              <a:t> </a:t>
            </a:r>
            <a:r>
              <a:rPr lang="hu-HU" dirty="0" err="1">
                <a:solidFill>
                  <a:schemeClr val="bg1"/>
                </a:solidFill>
              </a:rPr>
              <a:t>for</a:t>
            </a:r>
            <a:r>
              <a:rPr lang="hu-HU" dirty="0">
                <a:solidFill>
                  <a:schemeClr val="bg1"/>
                </a:solidFill>
              </a:rPr>
              <a:t> </a:t>
            </a:r>
            <a:r>
              <a:rPr lang="hu-HU" dirty="0" err="1">
                <a:solidFill>
                  <a:schemeClr val="bg1"/>
                </a:solidFill>
              </a:rPr>
              <a:t>external</a:t>
            </a:r>
            <a:r>
              <a:rPr lang="hu-HU" dirty="0">
                <a:solidFill>
                  <a:schemeClr val="bg1"/>
                </a:solidFill>
              </a:rPr>
              <a:t> </a:t>
            </a:r>
            <a:r>
              <a:rPr lang="hu-HU" dirty="0" err="1">
                <a:solidFill>
                  <a:schemeClr val="bg1"/>
                </a:solidFill>
              </a:rPr>
              <a:t>partners</a:t>
            </a:r>
            <a:endParaRPr lang="hu-HU" dirty="0">
              <a:solidFill>
                <a:schemeClr val="bg1"/>
              </a:solidFill>
            </a:endParaRPr>
          </a:p>
        </p:txBody>
      </p:sp>
    </p:spTree>
    <p:extLst>
      <p:ext uri="{BB962C8B-B14F-4D97-AF65-F5344CB8AC3E}">
        <p14:creationId xmlns:p14="http://schemas.microsoft.com/office/powerpoint/2010/main" val="598547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30ADD49-6333-4730-CF1D-C4F7DA0F9564}"/>
              </a:ext>
            </a:extLst>
          </p:cNvPr>
          <p:cNvSpPr>
            <a:spLocks noGrp="1"/>
          </p:cNvSpPr>
          <p:nvPr>
            <p:ph type="title"/>
          </p:nvPr>
        </p:nvSpPr>
        <p:spPr/>
        <p:txBody>
          <a:bodyPr/>
          <a:lstStyle/>
          <a:p>
            <a:r>
              <a:rPr lang="hu-HU" b="1" dirty="0" err="1">
                <a:solidFill>
                  <a:schemeClr val="bg1"/>
                </a:solidFill>
              </a:rPr>
              <a:t>Active</a:t>
            </a:r>
            <a:r>
              <a:rPr lang="hu-HU" b="1" dirty="0">
                <a:solidFill>
                  <a:schemeClr val="bg1"/>
                </a:solidFill>
              </a:rPr>
              <a:t> </a:t>
            </a:r>
            <a:r>
              <a:rPr lang="hu-HU" b="1" dirty="0" err="1">
                <a:solidFill>
                  <a:schemeClr val="bg1"/>
                </a:solidFill>
              </a:rPr>
              <a:t>Directory</a:t>
            </a:r>
            <a:r>
              <a:rPr lang="hu-HU" b="1" dirty="0">
                <a:solidFill>
                  <a:schemeClr val="bg1"/>
                </a:solidFill>
              </a:rPr>
              <a:t> szerepe</a:t>
            </a:r>
          </a:p>
        </p:txBody>
      </p:sp>
      <p:sp>
        <p:nvSpPr>
          <p:cNvPr id="3" name="Tartalom helye 2">
            <a:extLst>
              <a:ext uri="{FF2B5EF4-FFF2-40B4-BE49-F238E27FC236}">
                <a16:creationId xmlns:a16="http://schemas.microsoft.com/office/drawing/2014/main" id="{205EDD9C-CE08-7B91-8D18-FA01D3A2F699}"/>
              </a:ext>
            </a:extLst>
          </p:cNvPr>
          <p:cNvSpPr>
            <a:spLocks noGrp="1"/>
          </p:cNvSpPr>
          <p:nvPr>
            <p:ph idx="1"/>
          </p:nvPr>
        </p:nvSpPr>
        <p:spPr/>
        <p:txBody>
          <a:bodyPr/>
          <a:lstStyle/>
          <a:p>
            <a:pPr>
              <a:lnSpc>
                <a:spcPct val="150000"/>
              </a:lnSpc>
            </a:pPr>
            <a:r>
              <a:rPr lang="hu-HU" dirty="0">
                <a:solidFill>
                  <a:schemeClr val="bg1"/>
                </a:solidFill>
              </a:rPr>
              <a:t>Központi hitelesítés</a:t>
            </a:r>
          </a:p>
          <a:p>
            <a:pPr>
              <a:lnSpc>
                <a:spcPct val="150000"/>
              </a:lnSpc>
            </a:pPr>
            <a:r>
              <a:rPr lang="hu-HU" dirty="0">
                <a:solidFill>
                  <a:schemeClr val="bg1"/>
                </a:solidFill>
              </a:rPr>
              <a:t>Felhasználókezelés</a:t>
            </a:r>
          </a:p>
          <a:p>
            <a:pPr>
              <a:lnSpc>
                <a:spcPct val="150000"/>
              </a:lnSpc>
            </a:pPr>
            <a:r>
              <a:rPr lang="hu-HU" dirty="0">
                <a:solidFill>
                  <a:schemeClr val="bg1"/>
                </a:solidFill>
              </a:rPr>
              <a:t>Csoportalapú jogosultság</a:t>
            </a:r>
          </a:p>
          <a:p>
            <a:pPr>
              <a:lnSpc>
                <a:spcPct val="150000"/>
              </a:lnSpc>
            </a:pPr>
            <a:r>
              <a:rPr lang="hu-HU" dirty="0">
                <a:solidFill>
                  <a:schemeClr val="bg1"/>
                </a:solidFill>
              </a:rPr>
              <a:t>Erőforrás-hozzáférés szabályozása</a:t>
            </a:r>
          </a:p>
        </p:txBody>
      </p:sp>
    </p:spTree>
    <p:extLst>
      <p:ext uri="{BB962C8B-B14F-4D97-AF65-F5344CB8AC3E}">
        <p14:creationId xmlns:p14="http://schemas.microsoft.com/office/powerpoint/2010/main" val="3111721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A057299-C548-8DC3-55D8-9B66C76EE640}"/>
              </a:ext>
            </a:extLst>
          </p:cNvPr>
          <p:cNvSpPr>
            <a:spLocks noGrp="1"/>
          </p:cNvSpPr>
          <p:nvPr>
            <p:ph type="title"/>
          </p:nvPr>
        </p:nvSpPr>
        <p:spPr/>
        <p:txBody>
          <a:bodyPr/>
          <a:lstStyle/>
          <a:p>
            <a:r>
              <a:rPr lang="hu-HU" b="1" dirty="0" err="1">
                <a:solidFill>
                  <a:schemeClr val="bg1"/>
                </a:solidFill>
              </a:rPr>
              <a:t>Domain</a:t>
            </a:r>
            <a:r>
              <a:rPr lang="hu-HU" b="1" dirty="0">
                <a:solidFill>
                  <a:schemeClr val="bg1"/>
                </a:solidFill>
              </a:rPr>
              <a:t> struktúra</a:t>
            </a:r>
          </a:p>
        </p:txBody>
      </p:sp>
      <p:sp>
        <p:nvSpPr>
          <p:cNvPr id="3" name="Tartalom helye 2">
            <a:extLst>
              <a:ext uri="{FF2B5EF4-FFF2-40B4-BE49-F238E27FC236}">
                <a16:creationId xmlns:a16="http://schemas.microsoft.com/office/drawing/2014/main" id="{DADB65EA-2206-9F6E-1B34-8A188FF61ECB}"/>
              </a:ext>
            </a:extLst>
          </p:cNvPr>
          <p:cNvSpPr>
            <a:spLocks noGrp="1"/>
          </p:cNvSpPr>
          <p:nvPr>
            <p:ph sz="half" idx="1"/>
          </p:nvPr>
        </p:nvSpPr>
        <p:spPr>
          <a:xfrm>
            <a:off x="838200" y="1825625"/>
            <a:ext cx="6358128" cy="4351338"/>
          </a:xfrm>
        </p:spPr>
        <p:txBody>
          <a:bodyPr/>
          <a:lstStyle/>
          <a:p>
            <a:pPr>
              <a:lnSpc>
                <a:spcPct val="150000"/>
              </a:lnSpc>
            </a:pPr>
            <a:r>
              <a:rPr lang="hu-HU" dirty="0" err="1">
                <a:solidFill>
                  <a:schemeClr val="bg1"/>
                </a:solidFill>
              </a:rPr>
              <a:t>Egydomaines</a:t>
            </a:r>
            <a:r>
              <a:rPr lang="hu-HU" dirty="0">
                <a:solidFill>
                  <a:schemeClr val="bg1"/>
                </a:solidFill>
              </a:rPr>
              <a:t> környezet</a:t>
            </a:r>
          </a:p>
          <a:p>
            <a:pPr>
              <a:lnSpc>
                <a:spcPct val="150000"/>
              </a:lnSpc>
            </a:pPr>
            <a:r>
              <a:rPr lang="hu-HU" dirty="0">
                <a:solidFill>
                  <a:schemeClr val="bg1"/>
                </a:solidFill>
              </a:rPr>
              <a:t>Részleg alapú OU-struktúra</a:t>
            </a:r>
          </a:p>
          <a:p>
            <a:pPr>
              <a:lnSpc>
                <a:spcPct val="150000"/>
              </a:lnSpc>
            </a:pPr>
            <a:r>
              <a:rPr lang="hu-HU" dirty="0">
                <a:solidFill>
                  <a:schemeClr val="bg1"/>
                </a:solidFill>
              </a:rPr>
              <a:t>Külön Service </a:t>
            </a:r>
            <a:r>
              <a:rPr lang="hu-HU" dirty="0" err="1">
                <a:solidFill>
                  <a:schemeClr val="bg1"/>
                </a:solidFill>
              </a:rPr>
              <a:t>Accounts</a:t>
            </a:r>
            <a:r>
              <a:rPr lang="hu-HU" dirty="0">
                <a:solidFill>
                  <a:schemeClr val="bg1"/>
                </a:solidFill>
              </a:rPr>
              <a:t> tároló</a:t>
            </a:r>
          </a:p>
          <a:p>
            <a:pPr>
              <a:lnSpc>
                <a:spcPct val="150000"/>
              </a:lnSpc>
            </a:pPr>
            <a:r>
              <a:rPr lang="hu-HU" dirty="0">
                <a:solidFill>
                  <a:schemeClr val="bg1"/>
                </a:solidFill>
              </a:rPr>
              <a:t>Célzott GPO alkalmazás OU szinten</a:t>
            </a:r>
          </a:p>
        </p:txBody>
      </p:sp>
      <p:pic>
        <p:nvPicPr>
          <p:cNvPr id="6" name="Tartalom helye 5" descr="A képen szöveg, képernyőkép, Betűtípus, szám látható&#10;&#10;Előfordulhat, hogy az AI által létrehozott tartalom helytelen.">
            <a:extLst>
              <a:ext uri="{FF2B5EF4-FFF2-40B4-BE49-F238E27FC236}">
                <a16:creationId xmlns:a16="http://schemas.microsoft.com/office/drawing/2014/main" id="{94C0D490-9886-09E7-1E26-FF27F8A2B888}"/>
              </a:ext>
            </a:extLst>
          </p:cNvPr>
          <p:cNvPicPr>
            <a:picLocks noGrp="1" noChangeAspect="1"/>
          </p:cNvPicPr>
          <p:nvPr>
            <p:ph sz="half" idx="2"/>
          </p:nvPr>
        </p:nvPicPr>
        <p:blipFill>
          <a:blip r:embed="rId3"/>
          <a:stretch>
            <a:fillRect/>
          </a:stretch>
        </p:blipFill>
        <p:spPr>
          <a:xfrm>
            <a:off x="8104700" y="678846"/>
            <a:ext cx="2246308" cy="5500307"/>
          </a:xfrm>
          <a:prstGeom prst="rect">
            <a:avLst/>
          </a:prstGeom>
        </p:spPr>
      </p:pic>
    </p:spTree>
    <p:extLst>
      <p:ext uri="{BB962C8B-B14F-4D97-AF65-F5344CB8AC3E}">
        <p14:creationId xmlns:p14="http://schemas.microsoft.com/office/powerpoint/2010/main" val="1757055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0230E53-9566-10F7-FBA9-D8EB79CDC3D2}"/>
              </a:ext>
            </a:extLst>
          </p:cNvPr>
          <p:cNvSpPr>
            <a:spLocks noGrp="1"/>
          </p:cNvSpPr>
          <p:nvPr>
            <p:ph type="title"/>
          </p:nvPr>
        </p:nvSpPr>
        <p:spPr/>
        <p:txBody>
          <a:bodyPr/>
          <a:lstStyle/>
          <a:p>
            <a:r>
              <a:rPr lang="hu-HU" b="1" dirty="0">
                <a:solidFill>
                  <a:schemeClr val="bg1"/>
                </a:solidFill>
              </a:rPr>
              <a:t>Jelszóházirend</a:t>
            </a:r>
          </a:p>
        </p:txBody>
      </p:sp>
      <p:sp>
        <p:nvSpPr>
          <p:cNvPr id="3" name="Tartalom helye 2">
            <a:extLst>
              <a:ext uri="{FF2B5EF4-FFF2-40B4-BE49-F238E27FC236}">
                <a16:creationId xmlns:a16="http://schemas.microsoft.com/office/drawing/2014/main" id="{DE58BD7A-C4EA-0DAB-BAF9-44D2CC152C9B}"/>
              </a:ext>
            </a:extLst>
          </p:cNvPr>
          <p:cNvSpPr>
            <a:spLocks noGrp="1"/>
          </p:cNvSpPr>
          <p:nvPr>
            <p:ph sz="half" idx="1"/>
          </p:nvPr>
        </p:nvSpPr>
        <p:spPr>
          <a:xfrm>
            <a:off x="838200" y="1825625"/>
            <a:ext cx="3203448" cy="4351338"/>
          </a:xfrm>
        </p:spPr>
        <p:txBody>
          <a:bodyPr/>
          <a:lstStyle/>
          <a:p>
            <a:pPr>
              <a:lnSpc>
                <a:spcPct val="150000"/>
              </a:lnSpc>
            </a:pPr>
            <a:r>
              <a:rPr lang="hu-HU" dirty="0">
                <a:solidFill>
                  <a:schemeClr val="bg1"/>
                </a:solidFill>
              </a:rPr>
              <a:t>Kötelező jelszócsere első bejelentkezéskor</a:t>
            </a:r>
          </a:p>
          <a:p>
            <a:pPr>
              <a:lnSpc>
                <a:spcPct val="150000"/>
              </a:lnSpc>
            </a:pPr>
            <a:r>
              <a:rPr lang="hu-HU" dirty="0">
                <a:solidFill>
                  <a:schemeClr val="bg1"/>
                </a:solidFill>
              </a:rPr>
              <a:t>90 napos lejárat</a:t>
            </a:r>
          </a:p>
          <a:p>
            <a:pPr>
              <a:lnSpc>
                <a:spcPct val="150000"/>
              </a:lnSpc>
            </a:pPr>
            <a:r>
              <a:rPr lang="hu-HU" dirty="0">
                <a:solidFill>
                  <a:schemeClr val="bg1"/>
                </a:solidFill>
              </a:rPr>
              <a:t>5 korábbi jelszó megjegyzése</a:t>
            </a:r>
          </a:p>
        </p:txBody>
      </p:sp>
      <p:pic>
        <p:nvPicPr>
          <p:cNvPr id="6" name="Tartalom helye 5" descr="A képen szöveg, képernyőkép, szoftver, Weblap látható&#10;&#10;Előfordulhat, hogy az AI által létrehozott tartalom helytelen.">
            <a:extLst>
              <a:ext uri="{FF2B5EF4-FFF2-40B4-BE49-F238E27FC236}">
                <a16:creationId xmlns:a16="http://schemas.microsoft.com/office/drawing/2014/main" id="{C251F1FB-3960-EA67-3D44-EF2AAEA841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279392" y="1807952"/>
            <a:ext cx="7074408" cy="4369011"/>
          </a:xfrm>
          <a:prstGeom prst="rect">
            <a:avLst/>
          </a:prstGeom>
        </p:spPr>
      </p:pic>
    </p:spTree>
    <p:extLst>
      <p:ext uri="{BB962C8B-B14F-4D97-AF65-F5344CB8AC3E}">
        <p14:creationId xmlns:p14="http://schemas.microsoft.com/office/powerpoint/2010/main" val="545465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B342DDE-1E0E-26A9-5A31-24EFBDEEA78C}"/>
              </a:ext>
            </a:extLst>
          </p:cNvPr>
          <p:cNvSpPr>
            <a:spLocks noGrp="1"/>
          </p:cNvSpPr>
          <p:nvPr>
            <p:ph type="title"/>
          </p:nvPr>
        </p:nvSpPr>
        <p:spPr/>
        <p:txBody>
          <a:bodyPr/>
          <a:lstStyle/>
          <a:p>
            <a:r>
              <a:rPr lang="hu-HU" b="1" dirty="0">
                <a:solidFill>
                  <a:schemeClr val="bg1"/>
                </a:solidFill>
              </a:rPr>
              <a:t>Csoportalapú jogosultságkezelés</a:t>
            </a:r>
          </a:p>
        </p:txBody>
      </p:sp>
      <p:sp>
        <p:nvSpPr>
          <p:cNvPr id="3" name="Tartalom helye 2">
            <a:extLst>
              <a:ext uri="{FF2B5EF4-FFF2-40B4-BE49-F238E27FC236}">
                <a16:creationId xmlns:a16="http://schemas.microsoft.com/office/drawing/2014/main" id="{81ADA089-55CD-F1CF-758F-71CE24B0631F}"/>
              </a:ext>
            </a:extLst>
          </p:cNvPr>
          <p:cNvSpPr>
            <a:spLocks noGrp="1"/>
          </p:cNvSpPr>
          <p:nvPr>
            <p:ph sz="half" idx="1"/>
          </p:nvPr>
        </p:nvSpPr>
        <p:spPr/>
        <p:txBody>
          <a:bodyPr/>
          <a:lstStyle/>
          <a:p>
            <a:pPr>
              <a:lnSpc>
                <a:spcPct val="150000"/>
              </a:lnSpc>
            </a:pPr>
            <a:r>
              <a:rPr lang="hu-HU" dirty="0" err="1">
                <a:solidFill>
                  <a:schemeClr val="bg1"/>
                </a:solidFill>
              </a:rPr>
              <a:t>Security</a:t>
            </a:r>
            <a:r>
              <a:rPr lang="hu-HU" dirty="0">
                <a:solidFill>
                  <a:schemeClr val="bg1"/>
                </a:solidFill>
              </a:rPr>
              <a:t> Group alapú modell</a:t>
            </a:r>
          </a:p>
          <a:p>
            <a:pPr>
              <a:lnSpc>
                <a:spcPct val="150000"/>
              </a:lnSpc>
            </a:pPr>
            <a:r>
              <a:rPr lang="hu-HU" dirty="0">
                <a:solidFill>
                  <a:schemeClr val="bg1"/>
                </a:solidFill>
              </a:rPr>
              <a:t>Jogosultságok csoporthoz rendelve</a:t>
            </a:r>
          </a:p>
          <a:p>
            <a:pPr>
              <a:lnSpc>
                <a:spcPct val="150000"/>
              </a:lnSpc>
            </a:pPr>
            <a:r>
              <a:rPr lang="hu-HU" dirty="0">
                <a:solidFill>
                  <a:schemeClr val="bg1"/>
                </a:solidFill>
              </a:rPr>
              <a:t>Nem egyéni felhasználókhoz</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7E7EF6B3-AA6B-EC70-BCF9-6C0BC967A14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48260" y="1867396"/>
            <a:ext cx="3429479" cy="4267796"/>
          </a:xfrm>
          <a:prstGeom prst="rect">
            <a:avLst/>
          </a:prstGeom>
        </p:spPr>
      </p:pic>
    </p:spTree>
    <p:extLst>
      <p:ext uri="{BB962C8B-B14F-4D97-AF65-F5344CB8AC3E}">
        <p14:creationId xmlns:p14="http://schemas.microsoft.com/office/powerpoint/2010/main" val="2188283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B01367A-A795-C8D0-B4D6-69823641D98A}"/>
              </a:ext>
            </a:extLst>
          </p:cNvPr>
          <p:cNvSpPr>
            <a:spLocks noGrp="1"/>
          </p:cNvSpPr>
          <p:nvPr>
            <p:ph type="title"/>
          </p:nvPr>
        </p:nvSpPr>
        <p:spPr/>
        <p:txBody>
          <a:bodyPr/>
          <a:lstStyle/>
          <a:p>
            <a:r>
              <a:rPr lang="hu-HU" b="1" dirty="0" err="1">
                <a:solidFill>
                  <a:schemeClr val="bg1"/>
                </a:solidFill>
              </a:rPr>
              <a:t>Domain</a:t>
            </a:r>
            <a:r>
              <a:rPr lang="hu-HU" b="1" dirty="0">
                <a:solidFill>
                  <a:schemeClr val="bg1"/>
                </a:solidFill>
              </a:rPr>
              <a:t> </a:t>
            </a:r>
            <a:r>
              <a:rPr lang="hu-HU" b="1" dirty="0" err="1">
                <a:solidFill>
                  <a:schemeClr val="bg1"/>
                </a:solidFill>
              </a:rPr>
              <a:t>Controller</a:t>
            </a:r>
            <a:r>
              <a:rPr lang="hu-HU" b="1" dirty="0">
                <a:solidFill>
                  <a:schemeClr val="bg1"/>
                </a:solidFill>
              </a:rPr>
              <a:t> architektúra</a:t>
            </a:r>
          </a:p>
        </p:txBody>
      </p:sp>
      <p:sp>
        <p:nvSpPr>
          <p:cNvPr id="3" name="Tartalom helye 2">
            <a:extLst>
              <a:ext uri="{FF2B5EF4-FFF2-40B4-BE49-F238E27FC236}">
                <a16:creationId xmlns:a16="http://schemas.microsoft.com/office/drawing/2014/main" id="{27ED034E-2EB3-5CE3-8D7B-60BCE9CAC879}"/>
              </a:ext>
            </a:extLst>
          </p:cNvPr>
          <p:cNvSpPr>
            <a:spLocks noGrp="1"/>
          </p:cNvSpPr>
          <p:nvPr>
            <p:ph sz="half" idx="1"/>
          </p:nvPr>
        </p:nvSpPr>
        <p:spPr>
          <a:xfrm>
            <a:off x="838200" y="1825625"/>
            <a:ext cx="4035552" cy="4351338"/>
          </a:xfrm>
        </p:spPr>
        <p:txBody>
          <a:bodyPr/>
          <a:lstStyle/>
          <a:p>
            <a:pPr>
              <a:lnSpc>
                <a:spcPct val="150000"/>
              </a:lnSpc>
            </a:pPr>
            <a:r>
              <a:rPr lang="hu-HU" dirty="0">
                <a:solidFill>
                  <a:schemeClr val="bg1"/>
                </a:solidFill>
              </a:rPr>
              <a:t>2 </a:t>
            </a:r>
            <a:r>
              <a:rPr lang="hu-HU" dirty="0" err="1">
                <a:solidFill>
                  <a:schemeClr val="bg1"/>
                </a:solidFill>
              </a:rPr>
              <a:t>Domain</a:t>
            </a:r>
            <a:r>
              <a:rPr lang="hu-HU" dirty="0">
                <a:solidFill>
                  <a:schemeClr val="bg1"/>
                </a:solidFill>
              </a:rPr>
              <a:t> </a:t>
            </a:r>
            <a:r>
              <a:rPr lang="hu-HU" dirty="0" err="1">
                <a:solidFill>
                  <a:schemeClr val="bg1"/>
                </a:solidFill>
              </a:rPr>
              <a:t>Controller</a:t>
            </a:r>
            <a:endParaRPr lang="hu-HU" dirty="0">
              <a:solidFill>
                <a:schemeClr val="bg1"/>
              </a:solidFill>
            </a:endParaRPr>
          </a:p>
          <a:p>
            <a:pPr>
              <a:lnSpc>
                <a:spcPct val="150000"/>
              </a:lnSpc>
            </a:pPr>
            <a:r>
              <a:rPr lang="hu-HU" dirty="0">
                <a:solidFill>
                  <a:schemeClr val="bg1"/>
                </a:solidFill>
              </a:rPr>
              <a:t>AD-integrált DNS</a:t>
            </a:r>
          </a:p>
          <a:p>
            <a:pPr>
              <a:lnSpc>
                <a:spcPct val="150000"/>
              </a:lnSpc>
            </a:pPr>
            <a:r>
              <a:rPr lang="hu-HU" dirty="0">
                <a:solidFill>
                  <a:schemeClr val="bg1"/>
                </a:solidFill>
              </a:rPr>
              <a:t>Replikáció</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4940AAF1-6FB2-97B9-D4FC-D305A2D3CE6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4648" y="1991423"/>
            <a:ext cx="6166772" cy="4111181"/>
          </a:xfrm>
          <a:prstGeom prst="rect">
            <a:avLst/>
          </a:prstGeom>
        </p:spPr>
      </p:pic>
    </p:spTree>
    <p:extLst>
      <p:ext uri="{BB962C8B-B14F-4D97-AF65-F5344CB8AC3E}">
        <p14:creationId xmlns:p14="http://schemas.microsoft.com/office/powerpoint/2010/main" val="2533039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6AFB73D-4EDB-73B7-8B6B-E37111DE659C}"/>
              </a:ext>
            </a:extLst>
          </p:cNvPr>
          <p:cNvSpPr>
            <a:spLocks noGrp="1"/>
          </p:cNvSpPr>
          <p:nvPr>
            <p:ph type="title"/>
          </p:nvPr>
        </p:nvSpPr>
        <p:spPr/>
        <p:txBody>
          <a:bodyPr/>
          <a:lstStyle/>
          <a:p>
            <a:r>
              <a:rPr lang="hu-HU" b="1" dirty="0">
                <a:solidFill>
                  <a:schemeClr val="bg1"/>
                </a:solidFill>
              </a:rPr>
              <a:t>DNS szerepe és redundancia</a:t>
            </a:r>
          </a:p>
        </p:txBody>
      </p:sp>
      <p:sp>
        <p:nvSpPr>
          <p:cNvPr id="3" name="Tartalom helye 2">
            <a:extLst>
              <a:ext uri="{FF2B5EF4-FFF2-40B4-BE49-F238E27FC236}">
                <a16:creationId xmlns:a16="http://schemas.microsoft.com/office/drawing/2014/main" id="{2128C9EF-1AA1-EDDD-78D9-9B36F7AFD475}"/>
              </a:ext>
            </a:extLst>
          </p:cNvPr>
          <p:cNvSpPr>
            <a:spLocks noGrp="1"/>
          </p:cNvSpPr>
          <p:nvPr>
            <p:ph sz="half" idx="1"/>
          </p:nvPr>
        </p:nvSpPr>
        <p:spPr>
          <a:xfrm>
            <a:off x="838200" y="1825625"/>
            <a:ext cx="4209288" cy="4351338"/>
          </a:xfrm>
        </p:spPr>
        <p:txBody>
          <a:bodyPr/>
          <a:lstStyle/>
          <a:p>
            <a:pPr>
              <a:lnSpc>
                <a:spcPct val="150000"/>
              </a:lnSpc>
            </a:pPr>
            <a:r>
              <a:rPr lang="hu-HU" dirty="0">
                <a:solidFill>
                  <a:schemeClr val="bg1"/>
                </a:solidFill>
              </a:rPr>
              <a:t>AD működés alapja</a:t>
            </a:r>
          </a:p>
          <a:p>
            <a:pPr>
              <a:lnSpc>
                <a:spcPct val="150000"/>
              </a:lnSpc>
            </a:pPr>
            <a:r>
              <a:rPr lang="hu-HU" dirty="0" err="1">
                <a:solidFill>
                  <a:schemeClr val="bg1"/>
                </a:solidFill>
              </a:rPr>
              <a:t>Forward</a:t>
            </a:r>
            <a:r>
              <a:rPr lang="hu-HU" dirty="0">
                <a:solidFill>
                  <a:schemeClr val="bg1"/>
                </a:solidFill>
              </a:rPr>
              <a:t> és </a:t>
            </a:r>
            <a:r>
              <a:rPr lang="hu-HU" dirty="0" err="1">
                <a:solidFill>
                  <a:schemeClr val="bg1"/>
                </a:solidFill>
              </a:rPr>
              <a:t>Reverse</a:t>
            </a:r>
            <a:r>
              <a:rPr lang="hu-HU" dirty="0">
                <a:solidFill>
                  <a:schemeClr val="bg1"/>
                </a:solidFill>
              </a:rPr>
              <a:t> zóna</a:t>
            </a:r>
          </a:p>
          <a:p>
            <a:pPr>
              <a:lnSpc>
                <a:spcPct val="150000"/>
              </a:lnSpc>
            </a:pPr>
            <a:r>
              <a:rPr lang="hu-HU" dirty="0">
                <a:solidFill>
                  <a:schemeClr val="bg1"/>
                </a:solidFill>
              </a:rPr>
              <a:t>Mindkét DC DNS szerver</a:t>
            </a:r>
          </a:p>
          <a:p>
            <a:pPr>
              <a:lnSpc>
                <a:spcPct val="150000"/>
              </a:lnSpc>
            </a:pPr>
            <a:r>
              <a:rPr lang="hu-HU" dirty="0">
                <a:solidFill>
                  <a:schemeClr val="bg1"/>
                </a:solidFill>
              </a:rPr>
              <a:t>Automatikus replikáció</a:t>
            </a:r>
          </a:p>
        </p:txBody>
      </p:sp>
      <p:pic>
        <p:nvPicPr>
          <p:cNvPr id="8" name="Tartalom helye 7" descr="A képen szöveg, képernyőkép, szoftver, szám látható&#10;&#10;Előfordulhat, hogy az AI által létrehozott tartalom helytelen.">
            <a:extLst>
              <a:ext uri="{FF2B5EF4-FFF2-40B4-BE49-F238E27FC236}">
                <a16:creationId xmlns:a16="http://schemas.microsoft.com/office/drawing/2014/main" id="{BFE2F8A5-2803-D4EB-092E-0077C3EEB59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302265" y="2133536"/>
            <a:ext cx="6051535" cy="3735515"/>
          </a:xfrm>
          <a:prstGeom prst="rect">
            <a:avLst/>
          </a:prstGeom>
        </p:spPr>
      </p:pic>
    </p:spTree>
    <p:extLst>
      <p:ext uri="{BB962C8B-B14F-4D97-AF65-F5344CB8AC3E}">
        <p14:creationId xmlns:p14="http://schemas.microsoft.com/office/powerpoint/2010/main" val="1597060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CC9DB32-DFDF-24F5-1593-ED5FE8747F17}"/>
              </a:ext>
            </a:extLst>
          </p:cNvPr>
          <p:cNvSpPr>
            <a:spLocks noGrp="1"/>
          </p:cNvSpPr>
          <p:nvPr>
            <p:ph type="title"/>
          </p:nvPr>
        </p:nvSpPr>
        <p:spPr/>
        <p:txBody>
          <a:bodyPr/>
          <a:lstStyle/>
          <a:p>
            <a:r>
              <a:rPr lang="hu-HU" b="1" dirty="0">
                <a:solidFill>
                  <a:schemeClr val="bg1"/>
                </a:solidFill>
              </a:rPr>
              <a:t>GPO szerepe</a:t>
            </a:r>
          </a:p>
        </p:txBody>
      </p:sp>
      <p:sp>
        <p:nvSpPr>
          <p:cNvPr id="3" name="Tartalom helye 2">
            <a:extLst>
              <a:ext uri="{FF2B5EF4-FFF2-40B4-BE49-F238E27FC236}">
                <a16:creationId xmlns:a16="http://schemas.microsoft.com/office/drawing/2014/main" id="{316F35FB-A8FA-8EAC-CB24-E513D8583D52}"/>
              </a:ext>
            </a:extLst>
          </p:cNvPr>
          <p:cNvSpPr>
            <a:spLocks noGrp="1"/>
          </p:cNvSpPr>
          <p:nvPr>
            <p:ph idx="1"/>
          </p:nvPr>
        </p:nvSpPr>
        <p:spPr/>
        <p:txBody>
          <a:bodyPr/>
          <a:lstStyle/>
          <a:p>
            <a:pPr>
              <a:lnSpc>
                <a:spcPct val="150000"/>
              </a:lnSpc>
            </a:pPr>
            <a:r>
              <a:rPr lang="hu-HU" dirty="0">
                <a:solidFill>
                  <a:schemeClr val="bg1"/>
                </a:solidFill>
              </a:rPr>
              <a:t>Meghajtócsatolás</a:t>
            </a:r>
          </a:p>
          <a:p>
            <a:pPr>
              <a:lnSpc>
                <a:spcPct val="150000"/>
              </a:lnSpc>
            </a:pPr>
            <a:r>
              <a:rPr lang="hu-HU" dirty="0">
                <a:solidFill>
                  <a:schemeClr val="bg1"/>
                </a:solidFill>
              </a:rPr>
              <a:t>Vállalati arculat</a:t>
            </a:r>
          </a:p>
          <a:p>
            <a:pPr>
              <a:lnSpc>
                <a:spcPct val="150000"/>
              </a:lnSpc>
            </a:pPr>
            <a:r>
              <a:rPr lang="hu-HU" dirty="0">
                <a:solidFill>
                  <a:schemeClr val="bg1"/>
                </a:solidFill>
              </a:rPr>
              <a:t>Szoftvertelepítés</a:t>
            </a:r>
          </a:p>
        </p:txBody>
      </p:sp>
    </p:spTree>
    <p:extLst>
      <p:ext uri="{BB962C8B-B14F-4D97-AF65-F5344CB8AC3E}">
        <p14:creationId xmlns:p14="http://schemas.microsoft.com/office/powerpoint/2010/main" val="69866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EFEB8C7-86F6-5001-DEC5-7C88B891D685}"/>
              </a:ext>
            </a:extLst>
          </p:cNvPr>
          <p:cNvSpPr>
            <a:spLocks noGrp="1"/>
          </p:cNvSpPr>
          <p:nvPr>
            <p:ph type="title"/>
          </p:nvPr>
        </p:nvSpPr>
        <p:spPr/>
        <p:txBody>
          <a:bodyPr/>
          <a:lstStyle/>
          <a:p>
            <a:r>
              <a:rPr lang="hu-HU" b="1" dirty="0">
                <a:solidFill>
                  <a:schemeClr val="bg1"/>
                </a:solidFill>
              </a:rPr>
              <a:t>Közös meghajtó</a:t>
            </a:r>
          </a:p>
        </p:txBody>
      </p:sp>
      <p:sp>
        <p:nvSpPr>
          <p:cNvPr id="3" name="Tartalom helye 2">
            <a:extLst>
              <a:ext uri="{FF2B5EF4-FFF2-40B4-BE49-F238E27FC236}">
                <a16:creationId xmlns:a16="http://schemas.microsoft.com/office/drawing/2014/main" id="{A6D8BE0E-C3DB-5FC0-7DD9-AA657DE7FA41}"/>
              </a:ext>
            </a:extLst>
          </p:cNvPr>
          <p:cNvSpPr>
            <a:spLocks noGrp="1"/>
          </p:cNvSpPr>
          <p:nvPr>
            <p:ph sz="half" idx="1"/>
          </p:nvPr>
        </p:nvSpPr>
        <p:spPr/>
        <p:txBody>
          <a:bodyPr/>
          <a:lstStyle/>
          <a:p>
            <a:pPr>
              <a:lnSpc>
                <a:spcPct val="150000"/>
              </a:lnSpc>
            </a:pPr>
            <a:r>
              <a:rPr lang="hu-HU" dirty="0">
                <a:solidFill>
                  <a:schemeClr val="bg1"/>
                </a:solidFill>
              </a:rPr>
              <a:t>Minden dolgozó számára</a:t>
            </a:r>
          </a:p>
          <a:p>
            <a:pPr>
              <a:lnSpc>
                <a:spcPct val="150000"/>
              </a:lnSpc>
            </a:pPr>
            <a:r>
              <a:rPr lang="hu-HU" dirty="0">
                <a:solidFill>
                  <a:schemeClr val="bg1"/>
                </a:solidFill>
              </a:rPr>
              <a:t>Céges dokumentáció</a:t>
            </a:r>
          </a:p>
          <a:p>
            <a:pPr>
              <a:lnSpc>
                <a:spcPct val="150000"/>
              </a:lnSpc>
            </a:pPr>
            <a:r>
              <a:rPr lang="hu-HU" dirty="0">
                <a:solidFill>
                  <a:schemeClr val="bg1"/>
                </a:solidFill>
              </a:rPr>
              <a:t>Szabályzatok</a:t>
            </a:r>
          </a:p>
        </p:txBody>
      </p:sp>
      <p:pic>
        <p:nvPicPr>
          <p:cNvPr id="7" name="Tartalom helye 6" descr="A képen szöveg, képernyőkép, szoftver, Számítógépes ikon látható&#10;&#10;Előfordulhat, hogy az AI által létrehozott tartalom helytelen.">
            <a:extLst>
              <a:ext uri="{FF2B5EF4-FFF2-40B4-BE49-F238E27FC236}">
                <a16:creationId xmlns:a16="http://schemas.microsoft.com/office/drawing/2014/main" id="{5061CEC7-7B6F-CD07-0D41-96F54D9046F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23560" y="1874875"/>
            <a:ext cx="5730240" cy="4122264"/>
          </a:xfrm>
          <a:prstGeom prst="rect">
            <a:avLst/>
          </a:prstGeom>
        </p:spPr>
      </p:pic>
    </p:spTree>
    <p:extLst>
      <p:ext uri="{BB962C8B-B14F-4D97-AF65-F5344CB8AC3E}">
        <p14:creationId xmlns:p14="http://schemas.microsoft.com/office/powerpoint/2010/main" val="1850421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F75959-92AB-C6E3-DC9F-1F48773F88A8}"/>
              </a:ext>
            </a:extLst>
          </p:cNvPr>
          <p:cNvSpPr>
            <a:spLocks noGrp="1"/>
          </p:cNvSpPr>
          <p:nvPr>
            <p:ph type="title"/>
          </p:nvPr>
        </p:nvSpPr>
        <p:spPr/>
        <p:txBody>
          <a:bodyPr/>
          <a:lstStyle/>
          <a:p>
            <a:r>
              <a:rPr lang="hu-HU" b="1" dirty="0">
                <a:solidFill>
                  <a:schemeClr val="bg1"/>
                </a:solidFill>
              </a:rPr>
              <a:t>Részlegmeghajtók</a:t>
            </a:r>
          </a:p>
        </p:txBody>
      </p:sp>
      <p:sp>
        <p:nvSpPr>
          <p:cNvPr id="3" name="Tartalom helye 2">
            <a:extLst>
              <a:ext uri="{FF2B5EF4-FFF2-40B4-BE49-F238E27FC236}">
                <a16:creationId xmlns:a16="http://schemas.microsoft.com/office/drawing/2014/main" id="{577521CC-B57D-5529-FBA4-A3A740B31266}"/>
              </a:ext>
            </a:extLst>
          </p:cNvPr>
          <p:cNvSpPr>
            <a:spLocks noGrp="1"/>
          </p:cNvSpPr>
          <p:nvPr>
            <p:ph sz="half" idx="1"/>
          </p:nvPr>
        </p:nvSpPr>
        <p:spPr>
          <a:xfrm>
            <a:off x="838200" y="1825625"/>
            <a:ext cx="3578352" cy="4351338"/>
          </a:xfrm>
        </p:spPr>
        <p:txBody>
          <a:bodyPr>
            <a:normAutofit/>
          </a:bodyPr>
          <a:lstStyle/>
          <a:p>
            <a:pPr>
              <a:lnSpc>
                <a:spcPct val="150000"/>
              </a:lnSpc>
            </a:pPr>
            <a:r>
              <a:rPr lang="hu-HU" dirty="0">
                <a:solidFill>
                  <a:schemeClr val="bg1"/>
                </a:solidFill>
              </a:rPr>
              <a:t>Csak megfelelő </a:t>
            </a:r>
            <a:r>
              <a:rPr lang="hu-HU" dirty="0" err="1">
                <a:solidFill>
                  <a:schemeClr val="bg1"/>
                </a:solidFill>
              </a:rPr>
              <a:t>Security</a:t>
            </a:r>
            <a:r>
              <a:rPr lang="hu-HU" dirty="0">
                <a:solidFill>
                  <a:schemeClr val="bg1"/>
                </a:solidFill>
              </a:rPr>
              <a:t> Group tagjai</a:t>
            </a:r>
          </a:p>
          <a:p>
            <a:pPr>
              <a:lnSpc>
                <a:spcPct val="150000"/>
              </a:lnSpc>
            </a:pPr>
            <a:r>
              <a:rPr lang="hu-HU" dirty="0">
                <a:solidFill>
                  <a:schemeClr val="bg1"/>
                </a:solidFill>
              </a:rPr>
              <a:t>Üzleti indok esetén olvasási jog más részlegeknek</a:t>
            </a:r>
          </a:p>
          <a:p>
            <a:pPr>
              <a:lnSpc>
                <a:spcPct val="150000"/>
              </a:lnSpc>
            </a:pPr>
            <a:r>
              <a:rPr lang="hu-HU" dirty="0">
                <a:solidFill>
                  <a:schemeClr val="bg1"/>
                </a:solidFill>
              </a:rPr>
              <a:t>Legkisebb jogosultság elve</a:t>
            </a:r>
          </a:p>
        </p:txBody>
      </p:sp>
      <p:pic>
        <p:nvPicPr>
          <p:cNvPr id="6" name="Tartalom helye 5" descr="A képen szöveg, képernyőkép, képernyő, szoftver látható&#10;&#10;Előfordulhat, hogy az AI által létrehozott tartalom helytelen.">
            <a:extLst>
              <a:ext uri="{FF2B5EF4-FFF2-40B4-BE49-F238E27FC236}">
                <a16:creationId xmlns:a16="http://schemas.microsoft.com/office/drawing/2014/main" id="{B3C55AA7-4E09-F98A-D4AB-E290B7BF3D8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702800" y="1825624"/>
            <a:ext cx="3429479" cy="4258269"/>
          </a:xfrm>
          <a:prstGeom prst="rect">
            <a:avLst/>
          </a:prstGeom>
        </p:spPr>
      </p:pic>
      <p:pic>
        <p:nvPicPr>
          <p:cNvPr id="11" name="Kép 10" descr="A képen szöveg, képernyőkép, képernyő, szoftver látható&#10;&#10;Előfordulhat, hogy az AI által létrehozott tartalom helytelen.">
            <a:extLst>
              <a:ext uri="{FF2B5EF4-FFF2-40B4-BE49-F238E27FC236}">
                <a16:creationId xmlns:a16="http://schemas.microsoft.com/office/drawing/2014/main" id="{C803D3A1-35A0-1BFE-E381-FA946971F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6504" y="1825623"/>
            <a:ext cx="3419952" cy="4258269"/>
          </a:xfrm>
          <a:prstGeom prst="rect">
            <a:avLst/>
          </a:prstGeom>
        </p:spPr>
      </p:pic>
    </p:spTree>
    <p:extLst>
      <p:ext uri="{BB962C8B-B14F-4D97-AF65-F5344CB8AC3E}">
        <p14:creationId xmlns:p14="http://schemas.microsoft.com/office/powerpoint/2010/main" val="2640960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5F6B2A4-545F-E3E7-75A7-740D9885C475}"/>
              </a:ext>
            </a:extLst>
          </p:cNvPr>
          <p:cNvSpPr>
            <a:spLocks noGrp="1"/>
          </p:cNvSpPr>
          <p:nvPr>
            <p:ph type="title"/>
          </p:nvPr>
        </p:nvSpPr>
        <p:spPr/>
        <p:txBody>
          <a:bodyPr/>
          <a:lstStyle/>
          <a:p>
            <a:r>
              <a:rPr lang="hu-HU" b="1" dirty="0" err="1">
                <a:solidFill>
                  <a:schemeClr val="bg1"/>
                </a:solidFill>
              </a:rPr>
              <a:t>Domain</a:t>
            </a:r>
            <a:r>
              <a:rPr lang="hu-HU" b="1" dirty="0">
                <a:solidFill>
                  <a:schemeClr val="bg1"/>
                </a:solidFill>
              </a:rPr>
              <a:t> háttérkép</a:t>
            </a:r>
          </a:p>
        </p:txBody>
      </p:sp>
      <p:sp>
        <p:nvSpPr>
          <p:cNvPr id="3" name="Tartalom helye 2">
            <a:extLst>
              <a:ext uri="{FF2B5EF4-FFF2-40B4-BE49-F238E27FC236}">
                <a16:creationId xmlns:a16="http://schemas.microsoft.com/office/drawing/2014/main" id="{7F78962F-1D46-794A-C3E2-30F5E20331EE}"/>
              </a:ext>
            </a:extLst>
          </p:cNvPr>
          <p:cNvSpPr>
            <a:spLocks noGrp="1"/>
          </p:cNvSpPr>
          <p:nvPr>
            <p:ph sz="half" idx="1"/>
          </p:nvPr>
        </p:nvSpPr>
        <p:spPr/>
        <p:txBody>
          <a:bodyPr/>
          <a:lstStyle/>
          <a:p>
            <a:pPr>
              <a:lnSpc>
                <a:spcPct val="150000"/>
              </a:lnSpc>
            </a:pPr>
            <a:r>
              <a:rPr lang="hu-HU" dirty="0">
                <a:solidFill>
                  <a:schemeClr val="bg1"/>
                </a:solidFill>
              </a:rPr>
              <a:t>Egységes vállalati arculat</a:t>
            </a:r>
          </a:p>
          <a:p>
            <a:pPr>
              <a:lnSpc>
                <a:spcPct val="150000"/>
              </a:lnSpc>
            </a:pPr>
            <a:r>
              <a:rPr lang="hu-HU" dirty="0">
                <a:solidFill>
                  <a:schemeClr val="bg1"/>
                </a:solidFill>
              </a:rPr>
              <a:t>Management exkluzív háttér</a:t>
            </a:r>
          </a:p>
        </p:txBody>
      </p:sp>
      <p:pic>
        <p:nvPicPr>
          <p:cNvPr id="8" name="Tartalom helye 7">
            <a:extLst>
              <a:ext uri="{FF2B5EF4-FFF2-40B4-BE49-F238E27FC236}">
                <a16:creationId xmlns:a16="http://schemas.microsoft.com/office/drawing/2014/main" id="{FD81EC13-86DC-9B71-4E90-05B88071935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18914" y="1825625"/>
            <a:ext cx="4688171" cy="4351338"/>
          </a:xfrm>
          <a:prstGeom prst="rect">
            <a:avLst/>
          </a:prstGeom>
        </p:spPr>
      </p:pic>
    </p:spTree>
    <p:extLst>
      <p:ext uri="{BB962C8B-B14F-4D97-AF65-F5344CB8AC3E}">
        <p14:creationId xmlns:p14="http://schemas.microsoft.com/office/powerpoint/2010/main" val="3340046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D358E3E-A774-A605-DD44-FEDFFF9486B5}"/>
              </a:ext>
            </a:extLst>
          </p:cNvPr>
          <p:cNvSpPr>
            <a:spLocks noGrp="1"/>
          </p:cNvSpPr>
          <p:nvPr>
            <p:ph type="title"/>
          </p:nvPr>
        </p:nvSpPr>
        <p:spPr/>
        <p:txBody>
          <a:bodyPr/>
          <a:lstStyle/>
          <a:p>
            <a:r>
              <a:rPr lang="hu-HU" b="1" dirty="0">
                <a:solidFill>
                  <a:schemeClr val="bg1"/>
                </a:solidFill>
              </a:rPr>
              <a:t>IT részleg GPO</a:t>
            </a:r>
          </a:p>
        </p:txBody>
      </p:sp>
      <p:sp>
        <p:nvSpPr>
          <p:cNvPr id="3" name="Tartalom helye 2">
            <a:extLst>
              <a:ext uri="{FF2B5EF4-FFF2-40B4-BE49-F238E27FC236}">
                <a16:creationId xmlns:a16="http://schemas.microsoft.com/office/drawing/2014/main" id="{E867CC6E-F9F9-E629-1893-6810391DE1B9}"/>
              </a:ext>
            </a:extLst>
          </p:cNvPr>
          <p:cNvSpPr>
            <a:spLocks noGrp="1"/>
          </p:cNvSpPr>
          <p:nvPr>
            <p:ph sz="half" idx="1"/>
          </p:nvPr>
        </p:nvSpPr>
        <p:spPr/>
        <p:txBody>
          <a:bodyPr/>
          <a:lstStyle/>
          <a:p>
            <a:pPr>
              <a:lnSpc>
                <a:spcPct val="150000"/>
              </a:lnSpc>
            </a:pPr>
            <a:r>
              <a:rPr lang="fi-FI" dirty="0">
                <a:solidFill>
                  <a:schemeClr val="bg1"/>
                </a:solidFill>
              </a:rPr>
              <a:t>WinSCP telepítés</a:t>
            </a:r>
            <a:endParaRPr lang="hu-HU" dirty="0">
              <a:solidFill>
                <a:schemeClr val="bg1"/>
              </a:solidFill>
            </a:endParaRPr>
          </a:p>
          <a:p>
            <a:pPr>
              <a:lnSpc>
                <a:spcPct val="150000"/>
              </a:lnSpc>
            </a:pPr>
            <a:r>
              <a:rPr lang="fi-FI" dirty="0">
                <a:solidFill>
                  <a:schemeClr val="bg1"/>
                </a:solidFill>
              </a:rPr>
              <a:t>PuTTY telepítés</a:t>
            </a:r>
            <a:endParaRPr lang="hu-HU" dirty="0">
              <a:solidFill>
                <a:schemeClr val="bg1"/>
              </a:solidFill>
            </a:endParaRPr>
          </a:p>
          <a:p>
            <a:pPr>
              <a:lnSpc>
                <a:spcPct val="150000"/>
              </a:lnSpc>
            </a:pPr>
            <a:r>
              <a:rPr lang="hu-HU" dirty="0">
                <a:solidFill>
                  <a:schemeClr val="bg1"/>
                </a:solidFill>
              </a:rPr>
              <a:t>Előre jóváhagyott csomagok kézzel indított telepítése</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36A61F77-F60E-1E22-2EE8-2AE60920D83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80016" y="2093976"/>
            <a:ext cx="5373784" cy="3682923"/>
          </a:xfrm>
          <a:prstGeom prst="rect">
            <a:avLst/>
          </a:prstGeom>
        </p:spPr>
      </p:pic>
    </p:spTree>
    <p:extLst>
      <p:ext uri="{BB962C8B-B14F-4D97-AF65-F5344CB8AC3E}">
        <p14:creationId xmlns:p14="http://schemas.microsoft.com/office/powerpoint/2010/main" val="2559301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0F7CBD3-B211-2E00-873C-212BDE89891F}"/>
              </a:ext>
            </a:extLst>
          </p:cNvPr>
          <p:cNvSpPr>
            <a:spLocks noGrp="1"/>
          </p:cNvSpPr>
          <p:nvPr>
            <p:ph type="title"/>
          </p:nvPr>
        </p:nvSpPr>
        <p:spPr/>
        <p:txBody>
          <a:bodyPr/>
          <a:lstStyle/>
          <a:p>
            <a:r>
              <a:rPr lang="hu-HU" b="1" dirty="0">
                <a:solidFill>
                  <a:schemeClr val="bg1"/>
                </a:solidFill>
              </a:rPr>
              <a:t>MSSQL </a:t>
            </a:r>
            <a:r>
              <a:rPr lang="hu-HU" b="1" dirty="0" err="1">
                <a:solidFill>
                  <a:schemeClr val="bg1"/>
                </a:solidFill>
              </a:rPr>
              <a:t>Always</a:t>
            </a:r>
            <a:r>
              <a:rPr lang="hu-HU" b="1" dirty="0">
                <a:solidFill>
                  <a:schemeClr val="bg1"/>
                </a:solidFill>
              </a:rPr>
              <a:t> </a:t>
            </a:r>
            <a:r>
              <a:rPr lang="hu-HU" b="1" dirty="0" err="1">
                <a:solidFill>
                  <a:schemeClr val="bg1"/>
                </a:solidFill>
              </a:rPr>
              <a:t>On</a:t>
            </a:r>
            <a:r>
              <a:rPr lang="hu-HU" b="1" dirty="0">
                <a:solidFill>
                  <a:schemeClr val="bg1"/>
                </a:solidFill>
              </a:rPr>
              <a:t> </a:t>
            </a:r>
            <a:r>
              <a:rPr lang="hu-HU" b="1" dirty="0" err="1">
                <a:solidFill>
                  <a:schemeClr val="bg1"/>
                </a:solidFill>
              </a:rPr>
              <a:t>High</a:t>
            </a:r>
            <a:r>
              <a:rPr lang="hu-HU" b="1" dirty="0">
                <a:solidFill>
                  <a:schemeClr val="bg1"/>
                </a:solidFill>
              </a:rPr>
              <a:t> </a:t>
            </a:r>
            <a:r>
              <a:rPr lang="hu-HU" b="1" dirty="0" err="1">
                <a:solidFill>
                  <a:schemeClr val="bg1"/>
                </a:solidFill>
              </a:rPr>
              <a:t>Availability</a:t>
            </a:r>
            <a:endParaRPr lang="hu-HU" b="1" dirty="0">
              <a:solidFill>
                <a:schemeClr val="bg1"/>
              </a:solidFill>
            </a:endParaRPr>
          </a:p>
        </p:txBody>
      </p:sp>
      <p:sp>
        <p:nvSpPr>
          <p:cNvPr id="3" name="Tartalom helye 2">
            <a:extLst>
              <a:ext uri="{FF2B5EF4-FFF2-40B4-BE49-F238E27FC236}">
                <a16:creationId xmlns:a16="http://schemas.microsoft.com/office/drawing/2014/main" id="{68397D94-FE7E-0DD4-0C1B-B17B005DF3A3}"/>
              </a:ext>
            </a:extLst>
          </p:cNvPr>
          <p:cNvSpPr>
            <a:spLocks noGrp="1"/>
          </p:cNvSpPr>
          <p:nvPr>
            <p:ph idx="1"/>
          </p:nvPr>
        </p:nvSpPr>
        <p:spPr/>
        <p:txBody>
          <a:bodyPr/>
          <a:lstStyle/>
          <a:p>
            <a:pPr>
              <a:lnSpc>
                <a:spcPct val="150000"/>
              </a:lnSpc>
            </a:pPr>
            <a:r>
              <a:rPr lang="hu-HU" dirty="0">
                <a:solidFill>
                  <a:schemeClr val="bg1"/>
                </a:solidFill>
              </a:rPr>
              <a:t>Üzleti szempontból kritikus adatbázisok</a:t>
            </a:r>
          </a:p>
          <a:p>
            <a:pPr>
              <a:lnSpc>
                <a:spcPct val="150000"/>
              </a:lnSpc>
            </a:pPr>
            <a:r>
              <a:rPr lang="hu-HU" dirty="0">
                <a:solidFill>
                  <a:schemeClr val="bg1"/>
                </a:solidFill>
              </a:rPr>
              <a:t>24/7 működés</a:t>
            </a:r>
          </a:p>
          <a:p>
            <a:pPr>
              <a:lnSpc>
                <a:spcPct val="150000"/>
              </a:lnSpc>
            </a:pPr>
            <a:r>
              <a:rPr lang="hu-HU" dirty="0">
                <a:solidFill>
                  <a:schemeClr val="bg1"/>
                </a:solidFill>
              </a:rPr>
              <a:t>Adatvesztés nem megengedett</a:t>
            </a:r>
          </a:p>
        </p:txBody>
      </p:sp>
    </p:spTree>
    <p:extLst>
      <p:ext uri="{BB962C8B-B14F-4D97-AF65-F5344CB8AC3E}">
        <p14:creationId xmlns:p14="http://schemas.microsoft.com/office/powerpoint/2010/main" val="25851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98558B-E10D-351C-D965-D104BFFF2A69}"/>
              </a:ext>
            </a:extLst>
          </p:cNvPr>
          <p:cNvSpPr>
            <a:spLocks noGrp="1"/>
          </p:cNvSpPr>
          <p:nvPr>
            <p:ph type="title"/>
          </p:nvPr>
        </p:nvSpPr>
        <p:spPr/>
        <p:txBody>
          <a:bodyPr/>
          <a:lstStyle/>
          <a:p>
            <a:r>
              <a:rPr lang="hu-HU" b="1" dirty="0">
                <a:solidFill>
                  <a:schemeClr val="bg1"/>
                </a:solidFill>
              </a:rPr>
              <a:t>Architektúra</a:t>
            </a:r>
          </a:p>
        </p:txBody>
      </p:sp>
      <p:sp>
        <p:nvSpPr>
          <p:cNvPr id="3" name="Tartalom helye 2">
            <a:extLst>
              <a:ext uri="{FF2B5EF4-FFF2-40B4-BE49-F238E27FC236}">
                <a16:creationId xmlns:a16="http://schemas.microsoft.com/office/drawing/2014/main" id="{6396CD03-181E-F6C9-1D3C-C255C4316744}"/>
              </a:ext>
            </a:extLst>
          </p:cNvPr>
          <p:cNvSpPr>
            <a:spLocks noGrp="1"/>
          </p:cNvSpPr>
          <p:nvPr>
            <p:ph sz="half" idx="1"/>
          </p:nvPr>
        </p:nvSpPr>
        <p:spPr>
          <a:xfrm>
            <a:off x="838200" y="1825624"/>
            <a:ext cx="5181600" cy="4575175"/>
          </a:xfrm>
        </p:spPr>
        <p:txBody>
          <a:bodyPr>
            <a:normAutofit/>
          </a:bodyPr>
          <a:lstStyle/>
          <a:p>
            <a:pPr>
              <a:lnSpc>
                <a:spcPct val="150000"/>
              </a:lnSpc>
            </a:pPr>
            <a:r>
              <a:rPr lang="en-US" dirty="0">
                <a:solidFill>
                  <a:schemeClr val="bg1"/>
                </a:solidFill>
              </a:rPr>
              <a:t>2 SQL node</a:t>
            </a:r>
            <a:endParaRPr lang="hu-HU" dirty="0">
              <a:solidFill>
                <a:schemeClr val="bg1"/>
              </a:solidFill>
            </a:endParaRPr>
          </a:p>
          <a:p>
            <a:pPr>
              <a:lnSpc>
                <a:spcPct val="150000"/>
              </a:lnSpc>
            </a:pPr>
            <a:r>
              <a:rPr lang="en-US" dirty="0">
                <a:solidFill>
                  <a:schemeClr val="bg1"/>
                </a:solidFill>
              </a:rPr>
              <a:t>Windows Server Failover Cluster</a:t>
            </a:r>
            <a:endParaRPr lang="hu-HU" dirty="0">
              <a:solidFill>
                <a:schemeClr val="bg1"/>
              </a:solidFill>
            </a:endParaRPr>
          </a:p>
          <a:p>
            <a:pPr>
              <a:lnSpc>
                <a:spcPct val="150000"/>
              </a:lnSpc>
            </a:pPr>
            <a:r>
              <a:rPr lang="en-US" dirty="0">
                <a:solidFill>
                  <a:schemeClr val="bg1"/>
                </a:solidFill>
              </a:rPr>
              <a:t>Availability Group</a:t>
            </a:r>
            <a:endParaRPr lang="hu-HU" dirty="0">
              <a:solidFill>
                <a:schemeClr val="bg1"/>
              </a:solidFill>
            </a:endParaRPr>
          </a:p>
          <a:p>
            <a:pPr>
              <a:lnSpc>
                <a:spcPct val="150000"/>
              </a:lnSpc>
            </a:pPr>
            <a:r>
              <a:rPr lang="en-US" dirty="0">
                <a:solidFill>
                  <a:schemeClr val="bg1"/>
                </a:solidFill>
              </a:rPr>
              <a:t>Listener</a:t>
            </a:r>
            <a:endParaRPr lang="hu-HU" dirty="0">
              <a:solidFill>
                <a:schemeClr val="bg1"/>
              </a:solidFill>
            </a:endParaRPr>
          </a:p>
          <a:p>
            <a:pPr>
              <a:lnSpc>
                <a:spcPct val="150000"/>
              </a:lnSpc>
            </a:pPr>
            <a:r>
              <a:rPr lang="hu-HU" dirty="0">
                <a:solidFill>
                  <a:schemeClr val="bg1"/>
                </a:solidFill>
              </a:rPr>
              <a:t>File </a:t>
            </a:r>
            <a:r>
              <a:rPr lang="hu-HU" dirty="0" err="1">
                <a:solidFill>
                  <a:schemeClr val="bg1"/>
                </a:solidFill>
              </a:rPr>
              <a:t>Share</a:t>
            </a:r>
            <a:r>
              <a:rPr lang="hu-HU" dirty="0">
                <a:solidFill>
                  <a:schemeClr val="bg1"/>
                </a:solidFill>
              </a:rPr>
              <a:t> </a:t>
            </a:r>
            <a:r>
              <a:rPr lang="hu-HU" dirty="0" err="1">
                <a:solidFill>
                  <a:schemeClr val="bg1"/>
                </a:solidFill>
              </a:rPr>
              <a:t>Witness</a:t>
            </a:r>
            <a:endParaRPr lang="hu-HU" dirty="0">
              <a:solidFill>
                <a:schemeClr val="bg1"/>
              </a:solidFill>
            </a:endParaRPr>
          </a:p>
        </p:txBody>
      </p:sp>
      <p:pic>
        <p:nvPicPr>
          <p:cNvPr id="7" name="Tartalom helye 6" descr="A képen szöveg, szoftver, képernyőkép, Számítógépes ikon látható&#10;&#10;Előfordulhat, hogy az AI által létrehozott tartalom helytelen.">
            <a:extLst>
              <a:ext uri="{FF2B5EF4-FFF2-40B4-BE49-F238E27FC236}">
                <a16:creationId xmlns:a16="http://schemas.microsoft.com/office/drawing/2014/main" id="{9FE50502-CB52-CBDD-772B-EE6EE399E9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337790" y="1027906"/>
            <a:ext cx="5869703" cy="2008975"/>
          </a:xfrm>
          <a:prstGeom prst="rect">
            <a:avLst/>
          </a:prstGeom>
        </p:spPr>
      </p:pic>
      <p:pic>
        <p:nvPicPr>
          <p:cNvPr id="13" name="Kép 12" descr="A képen szöveg, képernyőkép, szoftver, Számítógépes ikon látható&#10;&#10;Előfordulhat, hogy az AI által létrehozott tartalom helytelen.">
            <a:extLst>
              <a:ext uri="{FF2B5EF4-FFF2-40B4-BE49-F238E27FC236}">
                <a16:creationId xmlns:a16="http://schemas.microsoft.com/office/drawing/2014/main" id="{7A68B0AB-726F-74B3-0CE5-59139D231C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7790" y="3195153"/>
            <a:ext cx="5869703" cy="2981810"/>
          </a:xfrm>
          <a:prstGeom prst="rect">
            <a:avLst/>
          </a:prstGeom>
        </p:spPr>
      </p:pic>
    </p:spTree>
    <p:extLst>
      <p:ext uri="{BB962C8B-B14F-4D97-AF65-F5344CB8AC3E}">
        <p14:creationId xmlns:p14="http://schemas.microsoft.com/office/powerpoint/2010/main" val="3960847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D82287E-A13C-B8F3-C901-68E2664AD1A2}"/>
              </a:ext>
            </a:extLst>
          </p:cNvPr>
          <p:cNvSpPr>
            <a:spLocks noGrp="1"/>
          </p:cNvSpPr>
          <p:nvPr>
            <p:ph type="title"/>
          </p:nvPr>
        </p:nvSpPr>
        <p:spPr/>
        <p:txBody>
          <a:bodyPr/>
          <a:lstStyle/>
          <a:p>
            <a:r>
              <a:rPr lang="hu-HU" b="1" dirty="0">
                <a:solidFill>
                  <a:schemeClr val="bg1"/>
                </a:solidFill>
              </a:rPr>
              <a:t>Működés</a:t>
            </a:r>
          </a:p>
        </p:txBody>
      </p:sp>
      <p:sp>
        <p:nvSpPr>
          <p:cNvPr id="3" name="Tartalom helye 2">
            <a:extLst>
              <a:ext uri="{FF2B5EF4-FFF2-40B4-BE49-F238E27FC236}">
                <a16:creationId xmlns:a16="http://schemas.microsoft.com/office/drawing/2014/main" id="{063F7A80-03CF-B27D-A5A6-1E47275850CC}"/>
              </a:ext>
            </a:extLst>
          </p:cNvPr>
          <p:cNvSpPr>
            <a:spLocks noGrp="1"/>
          </p:cNvSpPr>
          <p:nvPr>
            <p:ph sz="half" idx="1"/>
          </p:nvPr>
        </p:nvSpPr>
        <p:spPr/>
        <p:txBody>
          <a:bodyPr/>
          <a:lstStyle/>
          <a:p>
            <a:pPr>
              <a:lnSpc>
                <a:spcPct val="150000"/>
              </a:lnSpc>
            </a:pPr>
            <a:r>
              <a:rPr lang="hu-HU" dirty="0">
                <a:solidFill>
                  <a:schemeClr val="bg1"/>
                </a:solidFill>
              </a:rPr>
              <a:t>Szinkron replikáció</a:t>
            </a:r>
          </a:p>
          <a:p>
            <a:pPr>
              <a:lnSpc>
                <a:spcPct val="150000"/>
              </a:lnSpc>
            </a:pPr>
            <a:r>
              <a:rPr lang="hu-HU" dirty="0" err="1">
                <a:solidFill>
                  <a:schemeClr val="bg1"/>
                </a:solidFill>
              </a:rPr>
              <a:t>Automatic</a:t>
            </a:r>
            <a:r>
              <a:rPr lang="hu-HU" dirty="0">
                <a:solidFill>
                  <a:schemeClr val="bg1"/>
                </a:solidFill>
              </a:rPr>
              <a:t> </a:t>
            </a:r>
            <a:r>
              <a:rPr lang="hu-HU" dirty="0" err="1">
                <a:solidFill>
                  <a:schemeClr val="bg1"/>
                </a:solidFill>
              </a:rPr>
              <a:t>failover</a:t>
            </a:r>
            <a:endParaRPr lang="hu-HU" dirty="0">
              <a:solidFill>
                <a:schemeClr val="bg1"/>
              </a:solidFill>
            </a:endParaRPr>
          </a:p>
          <a:p>
            <a:pPr>
              <a:lnSpc>
                <a:spcPct val="150000"/>
              </a:lnSpc>
            </a:pPr>
            <a:r>
              <a:rPr lang="hu-HU" dirty="0" err="1">
                <a:solidFill>
                  <a:schemeClr val="bg1"/>
                </a:solidFill>
              </a:rPr>
              <a:t>Automatic</a:t>
            </a:r>
            <a:r>
              <a:rPr lang="hu-HU" dirty="0">
                <a:solidFill>
                  <a:schemeClr val="bg1"/>
                </a:solidFill>
              </a:rPr>
              <a:t> </a:t>
            </a:r>
            <a:r>
              <a:rPr lang="hu-HU" dirty="0" err="1">
                <a:solidFill>
                  <a:schemeClr val="bg1"/>
                </a:solidFill>
              </a:rPr>
              <a:t>seeding</a:t>
            </a:r>
            <a:endParaRPr lang="hu-HU" dirty="0">
              <a:solidFill>
                <a:schemeClr val="bg1"/>
              </a:solidFill>
            </a:endParaRPr>
          </a:p>
          <a:p>
            <a:pPr>
              <a:lnSpc>
                <a:spcPct val="150000"/>
              </a:lnSpc>
            </a:pPr>
            <a:r>
              <a:rPr lang="hu-HU" dirty="0" err="1">
                <a:solidFill>
                  <a:schemeClr val="bg1"/>
                </a:solidFill>
              </a:rPr>
              <a:t>Listener</a:t>
            </a:r>
            <a:r>
              <a:rPr lang="hu-HU" dirty="0">
                <a:solidFill>
                  <a:schemeClr val="bg1"/>
                </a:solidFill>
              </a:rPr>
              <a:t> IP</a:t>
            </a:r>
          </a:p>
        </p:txBody>
      </p:sp>
      <p:pic>
        <p:nvPicPr>
          <p:cNvPr id="7" name="Tartalom helye 6" descr="A képen szöveg, képernyőkép, Betűtípus, szám látható&#10;&#10;Előfordulhat, hogy az AI által létrehozott tartalom helytelen.">
            <a:extLst>
              <a:ext uri="{FF2B5EF4-FFF2-40B4-BE49-F238E27FC236}">
                <a16:creationId xmlns:a16="http://schemas.microsoft.com/office/drawing/2014/main" id="{169774EF-06AB-8748-3478-9087CCB5CB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436608" y="311659"/>
            <a:ext cx="2392377" cy="6234681"/>
          </a:xfrm>
          <a:prstGeom prst="rect">
            <a:avLst/>
          </a:prstGeom>
        </p:spPr>
      </p:pic>
      <p:pic>
        <p:nvPicPr>
          <p:cNvPr id="9" name="Kép 8" descr="A képen szöveg, képernyőkép, szoftver, Számítógépes ikon látható&#10;&#10;Előfordulhat, hogy az AI által létrehozott tartalom helytelen.">
            <a:extLst>
              <a:ext uri="{FF2B5EF4-FFF2-40B4-BE49-F238E27FC236}">
                <a16:creationId xmlns:a16="http://schemas.microsoft.com/office/drawing/2014/main" id="{C49C6E86-B3E8-489B-932A-6F4C858487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8726" y="1690688"/>
            <a:ext cx="4615111" cy="4280778"/>
          </a:xfrm>
          <a:prstGeom prst="rect">
            <a:avLst/>
          </a:prstGeom>
        </p:spPr>
      </p:pic>
    </p:spTree>
    <p:extLst>
      <p:ext uri="{BB962C8B-B14F-4D97-AF65-F5344CB8AC3E}">
        <p14:creationId xmlns:p14="http://schemas.microsoft.com/office/powerpoint/2010/main" val="733097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0CBFA45-3B6C-66EC-B471-4725A98AEDFF}"/>
              </a:ext>
            </a:extLst>
          </p:cNvPr>
          <p:cNvSpPr>
            <a:spLocks noGrp="1"/>
          </p:cNvSpPr>
          <p:nvPr>
            <p:ph type="title"/>
          </p:nvPr>
        </p:nvSpPr>
        <p:spPr/>
        <p:txBody>
          <a:bodyPr/>
          <a:lstStyle/>
          <a:p>
            <a:r>
              <a:rPr lang="hu-HU" b="1" dirty="0">
                <a:solidFill>
                  <a:schemeClr val="bg1"/>
                </a:solidFill>
              </a:rPr>
              <a:t>File </a:t>
            </a:r>
            <a:r>
              <a:rPr lang="hu-HU" b="1" dirty="0" err="1">
                <a:solidFill>
                  <a:schemeClr val="bg1"/>
                </a:solidFill>
              </a:rPr>
              <a:t>Share</a:t>
            </a:r>
            <a:r>
              <a:rPr lang="hu-HU" b="1" dirty="0">
                <a:solidFill>
                  <a:schemeClr val="bg1"/>
                </a:solidFill>
              </a:rPr>
              <a:t> </a:t>
            </a:r>
            <a:r>
              <a:rPr lang="hu-HU" b="1" dirty="0" err="1">
                <a:solidFill>
                  <a:schemeClr val="bg1"/>
                </a:solidFill>
              </a:rPr>
              <a:t>Witness</a:t>
            </a:r>
            <a:r>
              <a:rPr lang="hu-HU" b="1" dirty="0">
                <a:solidFill>
                  <a:schemeClr val="bg1"/>
                </a:solidFill>
              </a:rPr>
              <a:t> és </a:t>
            </a:r>
            <a:r>
              <a:rPr lang="hu-HU" b="1" dirty="0" err="1">
                <a:solidFill>
                  <a:schemeClr val="bg1"/>
                </a:solidFill>
              </a:rPr>
              <a:t>Quorum</a:t>
            </a:r>
            <a:endParaRPr lang="hu-HU" b="1" dirty="0">
              <a:solidFill>
                <a:schemeClr val="bg1"/>
              </a:solidFill>
            </a:endParaRPr>
          </a:p>
        </p:txBody>
      </p:sp>
      <p:sp>
        <p:nvSpPr>
          <p:cNvPr id="3" name="Tartalom helye 2">
            <a:extLst>
              <a:ext uri="{FF2B5EF4-FFF2-40B4-BE49-F238E27FC236}">
                <a16:creationId xmlns:a16="http://schemas.microsoft.com/office/drawing/2014/main" id="{BA08E473-C893-3546-E3BC-6A0B564A99D1}"/>
              </a:ext>
            </a:extLst>
          </p:cNvPr>
          <p:cNvSpPr>
            <a:spLocks noGrp="1"/>
          </p:cNvSpPr>
          <p:nvPr>
            <p:ph sz="half" idx="1"/>
          </p:nvPr>
        </p:nvSpPr>
        <p:spPr/>
        <p:txBody>
          <a:bodyPr/>
          <a:lstStyle/>
          <a:p>
            <a:pPr>
              <a:lnSpc>
                <a:spcPct val="150000"/>
              </a:lnSpc>
            </a:pPr>
            <a:r>
              <a:rPr lang="hu-HU" dirty="0">
                <a:solidFill>
                  <a:schemeClr val="bg1"/>
                </a:solidFill>
              </a:rPr>
              <a:t>Split-</a:t>
            </a:r>
            <a:r>
              <a:rPr lang="hu-HU" dirty="0" err="1">
                <a:solidFill>
                  <a:schemeClr val="bg1"/>
                </a:solidFill>
              </a:rPr>
              <a:t>brain</a:t>
            </a:r>
            <a:r>
              <a:rPr lang="hu-HU" dirty="0">
                <a:solidFill>
                  <a:schemeClr val="bg1"/>
                </a:solidFill>
              </a:rPr>
              <a:t> állapot elkerülése</a:t>
            </a:r>
          </a:p>
          <a:p>
            <a:pPr>
              <a:lnSpc>
                <a:spcPct val="150000"/>
              </a:lnSpc>
            </a:pPr>
            <a:r>
              <a:rPr lang="hu-HU" dirty="0">
                <a:solidFill>
                  <a:schemeClr val="bg1"/>
                </a:solidFill>
              </a:rPr>
              <a:t>Egyértelmű döntés aktív </a:t>
            </a:r>
            <a:r>
              <a:rPr lang="hu-HU" dirty="0" err="1">
                <a:solidFill>
                  <a:schemeClr val="bg1"/>
                </a:solidFill>
              </a:rPr>
              <a:t>node-ról</a:t>
            </a:r>
            <a:endParaRPr lang="hu-HU" dirty="0">
              <a:solidFill>
                <a:schemeClr val="bg1"/>
              </a:solidFill>
            </a:endParaRPr>
          </a:p>
          <a:p>
            <a:pPr>
              <a:lnSpc>
                <a:spcPct val="150000"/>
              </a:lnSpc>
            </a:pPr>
            <a:r>
              <a:rPr lang="hu-HU" dirty="0">
                <a:solidFill>
                  <a:schemeClr val="bg1"/>
                </a:solidFill>
              </a:rPr>
              <a:t>Többségi szavazás elve</a:t>
            </a:r>
          </a:p>
          <a:p>
            <a:pPr>
              <a:lnSpc>
                <a:spcPct val="150000"/>
              </a:lnSpc>
            </a:pPr>
            <a:r>
              <a:rPr lang="hu-HU" dirty="0">
                <a:solidFill>
                  <a:schemeClr val="bg1"/>
                </a:solidFill>
              </a:rPr>
              <a:t>FSW külön szerver, nem tárol adatbázis másolatot</a:t>
            </a:r>
          </a:p>
        </p:txBody>
      </p:sp>
      <p:pic>
        <p:nvPicPr>
          <p:cNvPr id="12" name="Tartalom helye 11" descr="A képen szöveg, elektronika, képernyőkép, képernyő látható&#10;&#10;Előfordulhat, hogy az AI által létrehozott tartalom helytelen.">
            <a:extLst>
              <a:ext uri="{FF2B5EF4-FFF2-40B4-BE49-F238E27FC236}">
                <a16:creationId xmlns:a16="http://schemas.microsoft.com/office/drawing/2014/main" id="{92870FFD-29DE-F759-80EF-87DC8120D51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265191"/>
            <a:ext cx="5181600" cy="3472205"/>
          </a:xfrm>
          <a:prstGeom prst="rect">
            <a:avLst/>
          </a:prstGeom>
        </p:spPr>
      </p:pic>
    </p:spTree>
    <p:extLst>
      <p:ext uri="{BB962C8B-B14F-4D97-AF65-F5344CB8AC3E}">
        <p14:creationId xmlns:p14="http://schemas.microsoft.com/office/powerpoint/2010/main" val="3513773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47ACA53-9D9B-AB59-BDB6-F29A7ED9051A}"/>
              </a:ext>
            </a:extLst>
          </p:cNvPr>
          <p:cNvSpPr>
            <a:spLocks noGrp="1"/>
          </p:cNvSpPr>
          <p:nvPr>
            <p:ph type="title"/>
          </p:nvPr>
        </p:nvSpPr>
        <p:spPr/>
        <p:txBody>
          <a:bodyPr/>
          <a:lstStyle/>
          <a:p>
            <a:r>
              <a:rPr lang="en-US" b="1" dirty="0">
                <a:solidFill>
                  <a:schemeClr val="bg1"/>
                </a:solidFill>
              </a:rPr>
              <a:t>Group Managed Service Account (</a:t>
            </a:r>
            <a:r>
              <a:rPr lang="en-US" b="1" dirty="0" err="1">
                <a:solidFill>
                  <a:schemeClr val="bg1"/>
                </a:solidFill>
              </a:rPr>
              <a:t>gMSA</a:t>
            </a:r>
            <a:r>
              <a:rPr lang="en-US" b="1" dirty="0">
                <a:solidFill>
                  <a:schemeClr val="bg1"/>
                </a:solidFill>
              </a:rPr>
              <a:t>)</a:t>
            </a:r>
            <a:endParaRPr lang="hu-HU" b="1" dirty="0">
              <a:solidFill>
                <a:schemeClr val="bg1"/>
              </a:solidFill>
            </a:endParaRPr>
          </a:p>
        </p:txBody>
      </p:sp>
      <p:sp>
        <p:nvSpPr>
          <p:cNvPr id="3" name="Tartalom helye 2">
            <a:extLst>
              <a:ext uri="{FF2B5EF4-FFF2-40B4-BE49-F238E27FC236}">
                <a16:creationId xmlns:a16="http://schemas.microsoft.com/office/drawing/2014/main" id="{DC7963CC-8365-33C3-EA0F-D8D418577E8C}"/>
              </a:ext>
            </a:extLst>
          </p:cNvPr>
          <p:cNvSpPr>
            <a:spLocks noGrp="1"/>
          </p:cNvSpPr>
          <p:nvPr>
            <p:ph sz="half" idx="1"/>
          </p:nvPr>
        </p:nvSpPr>
        <p:spPr>
          <a:xfrm>
            <a:off x="838200" y="1825625"/>
            <a:ext cx="5937504" cy="4351338"/>
          </a:xfrm>
        </p:spPr>
        <p:txBody>
          <a:bodyPr/>
          <a:lstStyle/>
          <a:p>
            <a:pPr>
              <a:lnSpc>
                <a:spcPct val="100000"/>
              </a:lnSpc>
            </a:pPr>
            <a:r>
              <a:rPr lang="hu-HU" dirty="0">
                <a:solidFill>
                  <a:schemeClr val="bg1"/>
                </a:solidFill>
              </a:rPr>
              <a:t>2 </a:t>
            </a:r>
            <a:r>
              <a:rPr lang="hu-HU" dirty="0" err="1">
                <a:solidFill>
                  <a:schemeClr val="bg1"/>
                </a:solidFill>
              </a:rPr>
              <a:t>gMSA</a:t>
            </a:r>
            <a:r>
              <a:rPr lang="hu-HU" dirty="0">
                <a:solidFill>
                  <a:schemeClr val="bg1"/>
                </a:solidFill>
              </a:rPr>
              <a:t> használata:</a:t>
            </a:r>
          </a:p>
          <a:p>
            <a:pPr lvl="1">
              <a:lnSpc>
                <a:spcPct val="100000"/>
              </a:lnSpc>
            </a:pPr>
            <a:r>
              <a:rPr lang="hu-HU" dirty="0">
                <a:solidFill>
                  <a:schemeClr val="bg1"/>
                </a:solidFill>
              </a:rPr>
              <a:t>SQL </a:t>
            </a:r>
            <a:r>
              <a:rPr lang="hu-HU" dirty="0" err="1">
                <a:solidFill>
                  <a:schemeClr val="bg1"/>
                </a:solidFill>
              </a:rPr>
              <a:t>Engine</a:t>
            </a:r>
            <a:endParaRPr lang="hu-HU" dirty="0">
              <a:solidFill>
                <a:schemeClr val="bg1"/>
              </a:solidFill>
            </a:endParaRPr>
          </a:p>
          <a:p>
            <a:pPr lvl="1">
              <a:lnSpc>
                <a:spcPct val="100000"/>
              </a:lnSpc>
            </a:pPr>
            <a:r>
              <a:rPr lang="hu-HU" dirty="0">
                <a:solidFill>
                  <a:schemeClr val="bg1"/>
                </a:solidFill>
              </a:rPr>
              <a:t>SQL </a:t>
            </a:r>
            <a:r>
              <a:rPr lang="hu-HU" dirty="0" err="1">
                <a:solidFill>
                  <a:schemeClr val="bg1"/>
                </a:solidFill>
              </a:rPr>
              <a:t>Agent</a:t>
            </a:r>
            <a:endParaRPr lang="hu-HU" dirty="0">
              <a:solidFill>
                <a:schemeClr val="bg1"/>
              </a:solidFill>
            </a:endParaRPr>
          </a:p>
          <a:p>
            <a:pPr>
              <a:lnSpc>
                <a:spcPct val="100000"/>
              </a:lnSpc>
            </a:pPr>
            <a:r>
              <a:rPr lang="hu-HU" dirty="0">
                <a:solidFill>
                  <a:schemeClr val="bg1"/>
                </a:solidFill>
              </a:rPr>
              <a:t>Automatikus jelszókezelés</a:t>
            </a:r>
          </a:p>
          <a:p>
            <a:pPr>
              <a:lnSpc>
                <a:spcPct val="100000"/>
              </a:lnSpc>
            </a:pPr>
            <a:r>
              <a:rPr lang="hu-HU" dirty="0">
                <a:solidFill>
                  <a:schemeClr val="bg1"/>
                </a:solidFill>
              </a:rPr>
              <a:t>AD által menedzselt</a:t>
            </a:r>
          </a:p>
          <a:p>
            <a:pPr>
              <a:lnSpc>
                <a:spcPct val="100000"/>
              </a:lnSpc>
            </a:pPr>
            <a:r>
              <a:rPr lang="hu-HU" dirty="0">
                <a:solidFill>
                  <a:schemeClr val="bg1"/>
                </a:solidFill>
              </a:rPr>
              <a:t>Nincs manuális jelszórotáció</a:t>
            </a:r>
          </a:p>
          <a:p>
            <a:pPr>
              <a:lnSpc>
                <a:spcPct val="100000"/>
              </a:lnSpc>
            </a:pPr>
            <a:r>
              <a:rPr lang="hu-HU" dirty="0">
                <a:solidFill>
                  <a:schemeClr val="bg1"/>
                </a:solidFill>
              </a:rPr>
              <a:t>Több </a:t>
            </a:r>
            <a:r>
              <a:rPr lang="hu-HU" dirty="0" err="1">
                <a:solidFill>
                  <a:schemeClr val="bg1"/>
                </a:solidFill>
              </a:rPr>
              <a:t>node</a:t>
            </a:r>
            <a:r>
              <a:rPr lang="hu-HU" dirty="0">
                <a:solidFill>
                  <a:schemeClr val="bg1"/>
                </a:solidFill>
              </a:rPr>
              <a:t> által használható (</a:t>
            </a:r>
            <a:r>
              <a:rPr lang="hu-HU" dirty="0" err="1">
                <a:solidFill>
                  <a:schemeClr val="bg1"/>
                </a:solidFill>
              </a:rPr>
              <a:t>cluster</a:t>
            </a:r>
            <a:r>
              <a:rPr lang="hu-HU" dirty="0">
                <a:solidFill>
                  <a:schemeClr val="bg1"/>
                </a:solidFill>
              </a:rPr>
              <a:t> kompatibilis)</a:t>
            </a:r>
          </a:p>
        </p:txBody>
      </p:sp>
      <p:pic>
        <p:nvPicPr>
          <p:cNvPr id="7" name="Tartalom helye 6" descr="A képen szöveg, képernyőkép, szoftver, Számítógépes ikon látható&#10;&#10;Előfordulhat, hogy az AI által létrehozott tartalom helytelen.">
            <a:extLst>
              <a:ext uri="{FF2B5EF4-FFF2-40B4-BE49-F238E27FC236}">
                <a16:creationId xmlns:a16="http://schemas.microsoft.com/office/drawing/2014/main" id="{99AF7026-FBBD-95D9-D4DA-1C800EF2ED0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r="31706"/>
          <a:stretch>
            <a:fillRect/>
          </a:stretch>
        </p:blipFill>
        <p:spPr>
          <a:xfrm>
            <a:off x="6096000" y="2079466"/>
            <a:ext cx="5522039" cy="3843655"/>
          </a:xfrm>
          <a:prstGeom prst="rect">
            <a:avLst/>
          </a:prstGeom>
        </p:spPr>
      </p:pic>
    </p:spTree>
    <p:extLst>
      <p:ext uri="{BB962C8B-B14F-4D97-AF65-F5344CB8AC3E}">
        <p14:creationId xmlns:p14="http://schemas.microsoft.com/office/powerpoint/2010/main" val="3976502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8F13F-ECBB-62BB-FE94-61626771166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40A5CF1-883B-0CE3-BC73-06DE9E7325E3}"/>
              </a:ext>
            </a:extLst>
          </p:cNvPr>
          <p:cNvSpPr>
            <a:spLocks noGrp="1"/>
          </p:cNvSpPr>
          <p:nvPr>
            <p:ph type="title"/>
          </p:nvPr>
        </p:nvSpPr>
        <p:spPr/>
        <p:txBody>
          <a:bodyPr/>
          <a:lstStyle/>
          <a:p>
            <a:r>
              <a:rPr lang="hu-HU" dirty="0"/>
              <a:t>Linux szerver</a:t>
            </a:r>
            <a:endParaRPr lang="hu-HU" b="1" dirty="0">
              <a:solidFill>
                <a:schemeClr val="bg1"/>
              </a:solidFill>
            </a:endParaRPr>
          </a:p>
        </p:txBody>
      </p:sp>
      <p:sp>
        <p:nvSpPr>
          <p:cNvPr id="3" name="Tartalom helye 2">
            <a:extLst>
              <a:ext uri="{FF2B5EF4-FFF2-40B4-BE49-F238E27FC236}">
                <a16:creationId xmlns:a16="http://schemas.microsoft.com/office/drawing/2014/main" id="{9473E952-81C5-C89B-D1F2-4C88483D8FEE}"/>
              </a:ext>
            </a:extLst>
          </p:cNvPr>
          <p:cNvSpPr>
            <a:spLocks noGrp="1"/>
          </p:cNvSpPr>
          <p:nvPr>
            <p:ph sz="half" idx="1"/>
          </p:nvPr>
        </p:nvSpPr>
        <p:spPr>
          <a:xfrm>
            <a:off x="913795" y="3489767"/>
            <a:ext cx="2390877" cy="737886"/>
          </a:xfrm>
        </p:spPr>
        <p:txBody>
          <a:bodyPr/>
          <a:lstStyle/>
          <a:p>
            <a:pPr marL="0" indent="0" defTabSz="914400" eaLnBrk="0" fontAlgn="base" hangingPunct="0">
              <a:spcBef>
                <a:spcPct val="0"/>
              </a:spcBef>
              <a:spcAft>
                <a:spcPct val="0"/>
              </a:spcAft>
              <a:buClrTx/>
              <a:buSzTx/>
              <a:buFontTx/>
              <a:buChar char="•"/>
            </a:pPr>
            <a:r>
              <a:rPr lang="hu-HU" sz="1800" dirty="0" err="1">
                <a:ln>
                  <a:noFill/>
                </a:ln>
                <a:solidFill>
                  <a:schemeClr val="tx1"/>
                </a:solidFill>
                <a:effectLst/>
                <a:latin typeface="Arial" panose="020B0604020202020204" pitchFamily="34" charset="0"/>
              </a:rPr>
              <a:t>Raspbian</a:t>
            </a:r>
            <a:r>
              <a:rPr lang="hu-HU" sz="1800" dirty="0">
                <a:ln>
                  <a:noFill/>
                </a:ln>
                <a:solidFill>
                  <a:schemeClr val="tx1"/>
                </a:solidFill>
                <a:effectLst/>
                <a:latin typeface="Arial" panose="020B0604020202020204" pitchFamily="34" charset="0"/>
              </a:rPr>
              <a:t> </a:t>
            </a:r>
            <a:r>
              <a:rPr lang="hu-HU" sz="1800" dirty="0" err="1">
                <a:ln>
                  <a:noFill/>
                </a:ln>
                <a:solidFill>
                  <a:schemeClr val="tx1"/>
                </a:solidFill>
                <a:effectLst/>
                <a:latin typeface="Arial" panose="020B0604020202020204" pitchFamily="34" charset="0"/>
              </a:rPr>
              <a:t>Bullseye</a:t>
            </a:r>
            <a:endParaRPr lang="hu-HU" sz="1800" dirty="0">
              <a:ln>
                <a:noFill/>
              </a:ln>
              <a:solidFill>
                <a:schemeClr val="tx1"/>
              </a:solidFill>
              <a:effectLst/>
              <a:latin typeface="Arial" panose="020B0604020202020204" pitchFamily="34" charset="0"/>
            </a:endParaRPr>
          </a:p>
          <a:p>
            <a:pPr marL="0" indent="0" defTabSz="914400" eaLnBrk="0" fontAlgn="base" hangingPunct="0">
              <a:spcBef>
                <a:spcPct val="0"/>
              </a:spcBef>
              <a:spcAft>
                <a:spcPct val="0"/>
              </a:spcAft>
              <a:buClrTx/>
              <a:buSzTx/>
              <a:buFontTx/>
              <a:buChar char="•"/>
            </a:pPr>
            <a:r>
              <a:rPr lang="hu-HU" sz="1800" dirty="0">
                <a:ln>
                  <a:noFill/>
                </a:ln>
                <a:solidFill>
                  <a:schemeClr val="tx1"/>
                </a:solidFill>
                <a:effectLst/>
                <a:latin typeface="Arial" panose="020B0604020202020204" pitchFamily="34" charset="0"/>
              </a:rPr>
              <a:t>Szaküzlet telephely</a:t>
            </a:r>
          </a:p>
        </p:txBody>
      </p:sp>
      <p:pic>
        <p:nvPicPr>
          <p:cNvPr id="5" name="Kép 4">
            <a:extLst>
              <a:ext uri="{FF2B5EF4-FFF2-40B4-BE49-F238E27FC236}">
                <a16:creationId xmlns:a16="http://schemas.microsoft.com/office/drawing/2014/main" id="{B3B8443D-FF3E-8A3B-A388-F046C7531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1546" y="1750033"/>
            <a:ext cx="3820339" cy="4350942"/>
          </a:xfrm>
          <a:prstGeom prst="rect">
            <a:avLst/>
          </a:prstGeom>
        </p:spPr>
      </p:pic>
    </p:spTree>
    <p:extLst>
      <p:ext uri="{BB962C8B-B14F-4D97-AF65-F5344CB8AC3E}">
        <p14:creationId xmlns:p14="http://schemas.microsoft.com/office/powerpoint/2010/main" val="1008403339"/>
      </p:ext>
    </p:extLst>
  </p:cSld>
  <p:clrMapOvr>
    <a:masterClrMapping/>
  </p:clrMapOvr>
  <mc:AlternateContent xmlns:mc="http://schemas.openxmlformats.org/markup-compatibility/2006">
    <mc:Choice xmlns:p14="http://schemas.microsoft.com/office/powerpoint/2010/main" Requires="p14">
      <p:transition spd="slow" p14:dur="1600" advClick="0">
        <p14:prism dir="u" isContent="1" isInverted="1"/>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04326-9B0D-1FE7-F771-4347AE900670}"/>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82BCF7C-037A-5EE6-FF13-F8566460BEB0}"/>
              </a:ext>
            </a:extLst>
          </p:cNvPr>
          <p:cNvSpPr>
            <a:spLocks noGrp="1"/>
          </p:cNvSpPr>
          <p:nvPr>
            <p:ph type="title"/>
          </p:nvPr>
        </p:nvSpPr>
        <p:spPr/>
        <p:txBody>
          <a:bodyPr/>
          <a:lstStyle/>
          <a:p>
            <a:r>
              <a:rPr lang="hu-HU" dirty="0"/>
              <a:t>Intranet rendszer</a:t>
            </a:r>
            <a:endParaRPr lang="hu-HU" b="1" dirty="0">
              <a:solidFill>
                <a:schemeClr val="bg1"/>
              </a:solidFill>
            </a:endParaRPr>
          </a:p>
        </p:txBody>
      </p:sp>
      <p:pic>
        <p:nvPicPr>
          <p:cNvPr id="6" name="Kép 5">
            <a:extLst>
              <a:ext uri="{FF2B5EF4-FFF2-40B4-BE49-F238E27FC236}">
                <a16:creationId xmlns:a16="http://schemas.microsoft.com/office/drawing/2014/main" id="{BAE2E90F-0715-CBC5-F1AA-C484D5C0D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0676" y="1580050"/>
            <a:ext cx="5937505" cy="4361783"/>
          </a:xfrm>
          <a:prstGeom prst="rect">
            <a:avLst/>
          </a:prstGeom>
        </p:spPr>
      </p:pic>
      <p:sp>
        <p:nvSpPr>
          <p:cNvPr id="10" name="Rectangle 2">
            <a:extLst>
              <a:ext uri="{FF2B5EF4-FFF2-40B4-BE49-F238E27FC236}">
                <a16:creationId xmlns:a16="http://schemas.microsoft.com/office/drawing/2014/main" id="{F974E7E3-9EE7-4AE4-4620-C1D73FA35D16}"/>
              </a:ext>
            </a:extLst>
          </p:cNvPr>
          <p:cNvSpPr>
            <a:spLocks noGrp="1" noChangeArrowheads="1"/>
          </p:cNvSpPr>
          <p:nvPr>
            <p:ph sz="half" idx="1"/>
          </p:nvPr>
        </p:nvSpPr>
        <p:spPr bwMode="auto">
          <a:xfrm>
            <a:off x="838200" y="1825625"/>
            <a:ext cx="593725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PHP + </a:t>
            </a:r>
            <a:r>
              <a:rPr kumimoji="0" lang="hu-HU" altLang="hu-HU" sz="1800" b="0" i="0" u="none" strike="noStrike" cap="none" normalizeH="0" baseline="0" dirty="0" err="1">
                <a:ln>
                  <a:noFill/>
                </a:ln>
                <a:solidFill>
                  <a:schemeClr val="tx1"/>
                </a:solidFill>
                <a:effectLst/>
                <a:latin typeface="Arial" panose="020B0604020202020204" pitchFamily="34" charset="0"/>
              </a:rPr>
              <a:t>MySQL</a:t>
            </a:r>
            <a:r>
              <a:rPr kumimoji="0" lang="hu-HU" altLang="hu-HU" sz="1800" b="0" i="0" u="none" strike="noStrike" cap="none" normalizeH="0" baseline="0" dirty="0">
                <a:ln>
                  <a:noFill/>
                </a:ln>
                <a:solidFill>
                  <a:schemeClr val="tx1"/>
                </a:solidFill>
                <a:effectLst/>
                <a:latin typeface="Arial" panose="020B0604020202020204" pitchFamily="34" charset="0"/>
              </a:rPr>
              <a:t> alapú rendszer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Belső hálózaton működik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Biztonságos bejelentkezés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Fájlmegosztás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Naplózás </a:t>
            </a:r>
          </a:p>
        </p:txBody>
      </p:sp>
    </p:spTree>
    <p:extLst>
      <p:ext uri="{BB962C8B-B14F-4D97-AF65-F5344CB8AC3E}">
        <p14:creationId xmlns:p14="http://schemas.microsoft.com/office/powerpoint/2010/main" val="3739962209"/>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1500"/>
                                        <p:tgtEl>
                                          <p:spTgt spid="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wheel(1)">
                                      <p:cBhvr>
                                        <p:cTn id="10" dur="2000"/>
                                        <p:tgtEl>
                                          <p:spTgt spid="10">
                                            <p:txEl>
                                              <p:pRg st="1" end="1"/>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wheel(1)">
                                      <p:cBhvr>
                                        <p:cTn id="13" dur="2000"/>
                                        <p:tgtEl>
                                          <p:spTgt spid="10">
                                            <p:txEl>
                                              <p:pRg st="2" end="2"/>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wheel(1)">
                                      <p:cBhvr>
                                        <p:cTn id="16" dur="2000"/>
                                        <p:tgtEl>
                                          <p:spTgt spid="10">
                                            <p:txEl>
                                              <p:pRg st="3" end="3"/>
                                            </p:tx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wheel(1)">
                                      <p:cBhvr>
                                        <p:cTn id="19" dur="2000"/>
                                        <p:tgtEl>
                                          <p:spTgt spid="10">
                                            <p:txEl>
                                              <p:pRg st="4" end="4"/>
                                            </p:txEl>
                                          </p:spTgt>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wheel(1)">
                                      <p:cBhvr>
                                        <p:cTn id="22" dur="20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CE5B-7DE0-5CB9-5209-A4E7B2E1795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6D7E0673-C07A-8D87-0DA6-2CF133F52541}"/>
              </a:ext>
            </a:extLst>
          </p:cNvPr>
          <p:cNvSpPr>
            <a:spLocks noGrp="1"/>
          </p:cNvSpPr>
          <p:nvPr>
            <p:ph type="title"/>
          </p:nvPr>
        </p:nvSpPr>
        <p:spPr/>
        <p:txBody>
          <a:bodyPr/>
          <a:lstStyle/>
          <a:p>
            <a:r>
              <a:rPr lang="hu-HU" dirty="0"/>
              <a:t>Bejelentkezés és fájlkezelés</a:t>
            </a:r>
            <a:endParaRPr lang="hu-HU" b="1" dirty="0">
              <a:solidFill>
                <a:schemeClr val="bg1"/>
              </a:solidFill>
            </a:endParaRPr>
          </a:p>
        </p:txBody>
      </p:sp>
      <p:sp>
        <p:nvSpPr>
          <p:cNvPr id="7" name="Rectangle 3">
            <a:extLst>
              <a:ext uri="{FF2B5EF4-FFF2-40B4-BE49-F238E27FC236}">
                <a16:creationId xmlns:a16="http://schemas.microsoft.com/office/drawing/2014/main" id="{8752A2C4-C0BC-C717-8136-B31294E54DFF}"/>
              </a:ext>
            </a:extLst>
          </p:cNvPr>
          <p:cNvSpPr>
            <a:spLocks noGrp="1" noChangeArrowheads="1"/>
          </p:cNvSpPr>
          <p:nvPr>
            <p:ph sz="half" idx="1"/>
          </p:nvPr>
        </p:nvSpPr>
        <p:spPr bwMode="auto">
          <a:xfrm>
            <a:off x="838200" y="1825625"/>
            <a:ext cx="593725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Felhasználónév + jelszó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Teszt felhasználó: bob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Jogosultság alapú hozzáférés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Publikus és részlegspecifikus fájlok </a:t>
            </a:r>
          </a:p>
        </p:txBody>
      </p:sp>
      <p:pic>
        <p:nvPicPr>
          <p:cNvPr id="9" name="Kép 8">
            <a:extLst>
              <a:ext uri="{FF2B5EF4-FFF2-40B4-BE49-F238E27FC236}">
                <a16:creationId xmlns:a16="http://schemas.microsoft.com/office/drawing/2014/main" id="{78002C7B-C7F1-F39C-D13B-BEC01B9F9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0676" y="1580050"/>
            <a:ext cx="5937504" cy="4264968"/>
          </a:xfrm>
          <a:prstGeom prst="rect">
            <a:avLst/>
          </a:prstGeom>
        </p:spPr>
      </p:pic>
      <p:pic>
        <p:nvPicPr>
          <p:cNvPr id="11" name="Kép 10">
            <a:extLst>
              <a:ext uri="{FF2B5EF4-FFF2-40B4-BE49-F238E27FC236}">
                <a16:creationId xmlns:a16="http://schemas.microsoft.com/office/drawing/2014/main" id="{0D331473-1E0C-3590-7D06-C65F04284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0677" y="1720017"/>
            <a:ext cx="5922730" cy="4264968"/>
          </a:xfrm>
          <a:prstGeom prst="rect">
            <a:avLst/>
          </a:prstGeom>
        </p:spPr>
      </p:pic>
      <p:pic>
        <p:nvPicPr>
          <p:cNvPr id="13" name="Kép 12">
            <a:extLst>
              <a:ext uri="{FF2B5EF4-FFF2-40B4-BE49-F238E27FC236}">
                <a16:creationId xmlns:a16="http://schemas.microsoft.com/office/drawing/2014/main" id="{0038CB86-1AEB-56A3-5E81-704B3F2F3B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0676" y="1580051"/>
            <a:ext cx="5841805" cy="4264968"/>
          </a:xfrm>
          <a:prstGeom prst="rect">
            <a:avLst/>
          </a:prstGeom>
        </p:spPr>
      </p:pic>
      <p:pic>
        <p:nvPicPr>
          <p:cNvPr id="15" name="Kép 14">
            <a:extLst>
              <a:ext uri="{FF2B5EF4-FFF2-40B4-BE49-F238E27FC236}">
                <a16:creationId xmlns:a16="http://schemas.microsoft.com/office/drawing/2014/main" id="{00BD475F-C4B8-B171-598E-ABAD104B8C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64139" y="1580049"/>
            <a:ext cx="5908805" cy="3894776"/>
          </a:xfrm>
          <a:prstGeom prst="rect">
            <a:avLst/>
          </a:prstGeom>
        </p:spPr>
      </p:pic>
    </p:spTree>
    <p:extLst>
      <p:ext uri="{BB962C8B-B14F-4D97-AF65-F5344CB8AC3E}">
        <p14:creationId xmlns:p14="http://schemas.microsoft.com/office/powerpoint/2010/main" val="2285901389"/>
      </p:ext>
    </p:extLst>
  </p:cSld>
  <p:clrMapOvr>
    <a:masterClrMapping/>
  </p:clrMapOvr>
  <mc:AlternateContent xmlns:mc="http://schemas.openxmlformats.org/markup-compatibility/2006">
    <mc:Choice xmlns:p14="http://schemas.microsoft.com/office/powerpoint/2010/main" Requires="p14">
      <p:transition spd="slow" p14:dur="1600">
        <p14:prism dir="d"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p:cTn id="7"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7">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 calcmode="lin" valueType="num">
                                      <p:cBhvr>
                                        <p:cTn id="12"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7">
                                            <p:txEl>
                                              <p:pRg st="2" end="2"/>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p:cTn id="17"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7">
                                            <p:txEl>
                                              <p:pRg st="3" end="3"/>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 calcmode="lin" valueType="num">
                                      <p:cBhvr>
                                        <p:cTn id="22"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7">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xit" presetSubtype="0" fill="hold" nodeType="clickEffect">
                                  <p:stCondLst>
                                    <p:cond delay="0"/>
                                  </p:stCondLst>
                                  <p:childTnLst>
                                    <p:anim calcmode="lin" valueType="num">
                                      <p:cBhvr>
                                        <p:cTn id="28" dur="1000"/>
                                        <p:tgtEl>
                                          <p:spTgt spid="9"/>
                                        </p:tgtEl>
                                        <p:attrNameLst>
                                          <p:attrName>ppt_w</p:attrName>
                                        </p:attrNameLst>
                                      </p:cBhvr>
                                      <p:tavLst>
                                        <p:tav tm="0">
                                          <p:val>
                                            <p:strVal val="ppt_w"/>
                                          </p:val>
                                        </p:tav>
                                        <p:tav tm="100000">
                                          <p:val>
                                            <p:fltVal val="0"/>
                                          </p:val>
                                        </p:tav>
                                      </p:tavLst>
                                    </p:anim>
                                    <p:anim calcmode="lin" valueType="num">
                                      <p:cBhvr>
                                        <p:cTn id="29" dur="1000"/>
                                        <p:tgtEl>
                                          <p:spTgt spid="9"/>
                                        </p:tgtEl>
                                        <p:attrNameLst>
                                          <p:attrName>ppt_h</p:attrName>
                                        </p:attrNameLst>
                                      </p:cBhvr>
                                      <p:tavLst>
                                        <p:tav tm="0">
                                          <p:val>
                                            <p:strVal val="ppt_h"/>
                                          </p:val>
                                        </p:tav>
                                        <p:tav tm="100000">
                                          <p:val>
                                            <p:fltVal val="0"/>
                                          </p:val>
                                        </p:tav>
                                      </p:tavLst>
                                    </p:anim>
                                    <p:anim calcmode="lin" valueType="num">
                                      <p:cBhvr>
                                        <p:cTn id="30" dur="1000"/>
                                        <p:tgtEl>
                                          <p:spTgt spid="9"/>
                                        </p:tgtEl>
                                        <p:attrNameLst>
                                          <p:attrName>style.rotation</p:attrName>
                                        </p:attrNameLst>
                                      </p:cBhvr>
                                      <p:tavLst>
                                        <p:tav tm="0">
                                          <p:val>
                                            <p:fltVal val="0"/>
                                          </p:val>
                                        </p:tav>
                                        <p:tav tm="100000">
                                          <p:val>
                                            <p:fltVal val="90"/>
                                          </p:val>
                                        </p:tav>
                                      </p:tavLst>
                                    </p:anim>
                                    <p:animEffect transition="out" filter="fade">
                                      <p:cBhvr>
                                        <p:cTn id="31" dur="1000"/>
                                        <p:tgtEl>
                                          <p:spTgt spid="9"/>
                                        </p:tgtEl>
                                      </p:cBhvr>
                                    </p:animEffect>
                                    <p:set>
                                      <p:cBhvr>
                                        <p:cTn id="32" dur="1" fill="hold">
                                          <p:stCondLst>
                                            <p:cond delay="999"/>
                                          </p:stCondLst>
                                        </p:cTn>
                                        <p:tgtEl>
                                          <p:spTgt spid="9"/>
                                        </p:tgtEl>
                                        <p:attrNameLst>
                                          <p:attrName>style.visibility</p:attrName>
                                        </p:attrNameLst>
                                      </p:cBhvr>
                                      <p:to>
                                        <p:strVal val="hidden"/>
                                      </p:to>
                                    </p:set>
                                  </p:childTnLst>
                                </p:cTn>
                              </p:par>
                              <p:par>
                                <p:cTn id="33" presetID="53" presetClass="entr" presetSubtype="16" fill="hold" nodeType="withEffect">
                                  <p:stCondLst>
                                    <p:cond delay="500"/>
                                  </p:stCondLst>
                                  <p:childTnLst>
                                    <p:set>
                                      <p:cBhvr>
                                        <p:cTn id="34" dur="1" fill="hold">
                                          <p:stCondLst>
                                            <p:cond delay="0"/>
                                          </p:stCondLst>
                                        </p:cTn>
                                        <p:tgtEl>
                                          <p:spTgt spid="11"/>
                                        </p:tgtEl>
                                        <p:attrNameLst>
                                          <p:attrName>style.visibility</p:attrName>
                                        </p:attrNameLst>
                                      </p:cBhvr>
                                      <p:to>
                                        <p:strVal val="visible"/>
                                      </p:to>
                                    </p:set>
                                    <p:anim calcmode="lin" valueType="num">
                                      <p:cBhvr>
                                        <p:cTn id="35" dur="750" fill="hold"/>
                                        <p:tgtEl>
                                          <p:spTgt spid="11"/>
                                        </p:tgtEl>
                                        <p:attrNameLst>
                                          <p:attrName>ppt_w</p:attrName>
                                        </p:attrNameLst>
                                      </p:cBhvr>
                                      <p:tavLst>
                                        <p:tav tm="0">
                                          <p:val>
                                            <p:fltVal val="0"/>
                                          </p:val>
                                        </p:tav>
                                        <p:tav tm="100000">
                                          <p:val>
                                            <p:strVal val="#ppt_w"/>
                                          </p:val>
                                        </p:tav>
                                      </p:tavLst>
                                    </p:anim>
                                    <p:anim calcmode="lin" valueType="num">
                                      <p:cBhvr>
                                        <p:cTn id="36" dur="750" fill="hold"/>
                                        <p:tgtEl>
                                          <p:spTgt spid="11"/>
                                        </p:tgtEl>
                                        <p:attrNameLst>
                                          <p:attrName>ppt_h</p:attrName>
                                        </p:attrNameLst>
                                      </p:cBhvr>
                                      <p:tavLst>
                                        <p:tav tm="0">
                                          <p:val>
                                            <p:fltVal val="0"/>
                                          </p:val>
                                        </p:tav>
                                        <p:tav tm="100000">
                                          <p:val>
                                            <p:strVal val="#ppt_h"/>
                                          </p:val>
                                        </p:tav>
                                      </p:tavLst>
                                    </p:anim>
                                    <p:animEffect transition="in" filter="fade">
                                      <p:cBhvr>
                                        <p:cTn id="37" dur="75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par>
                                <p:cTn id="43" presetID="21" presetClass="entr" presetSubtype="1"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heel(1)">
                                      <p:cBhvr>
                                        <p:cTn id="45" dur="20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xit" presetSubtype="1" fill="hold" nodeType="clickEffect">
                                  <p:stCondLst>
                                    <p:cond delay="0"/>
                                  </p:stCondLst>
                                  <p:childTnLst>
                                    <p:animEffect transition="out" filter="wheel(1)">
                                      <p:cBhvr>
                                        <p:cTn id="49" dur="2000"/>
                                        <p:tgtEl>
                                          <p:spTgt spid="13"/>
                                        </p:tgtEl>
                                      </p:cBhvr>
                                    </p:animEffect>
                                    <p:set>
                                      <p:cBhvr>
                                        <p:cTn id="50" dur="1" fill="hold">
                                          <p:stCondLst>
                                            <p:cond delay="1999"/>
                                          </p:stCondLst>
                                        </p:cTn>
                                        <p:tgtEl>
                                          <p:spTgt spid="13"/>
                                        </p:tgtEl>
                                        <p:attrNameLst>
                                          <p:attrName>style.visibility</p:attrName>
                                        </p:attrNameLst>
                                      </p:cBhvr>
                                      <p:to>
                                        <p:strVal val="hidden"/>
                                      </p:to>
                                    </p:set>
                                  </p:childTnLst>
                                </p:cTn>
                              </p:par>
                              <p:par>
                                <p:cTn id="51" presetID="13" presetClass="entr" presetSubtype="32" fill="hold" nodeType="withEffect">
                                  <p:stCondLst>
                                    <p:cond delay="500"/>
                                  </p:stCondLst>
                                  <p:childTnLst>
                                    <p:set>
                                      <p:cBhvr>
                                        <p:cTn id="52" dur="1" fill="hold">
                                          <p:stCondLst>
                                            <p:cond delay="0"/>
                                          </p:stCondLst>
                                        </p:cTn>
                                        <p:tgtEl>
                                          <p:spTgt spid="15"/>
                                        </p:tgtEl>
                                        <p:attrNameLst>
                                          <p:attrName>style.visibility</p:attrName>
                                        </p:attrNameLst>
                                      </p:cBhvr>
                                      <p:to>
                                        <p:strVal val="visible"/>
                                      </p:to>
                                    </p:set>
                                    <p:animEffect transition="in" filter="plus(out)">
                                      <p:cBhvr>
                                        <p:cTn id="53"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CD1A-A760-804D-20BD-96B83D8DF2CC}"/>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3A5F067-C26F-7EFA-A0E7-E47E8807D0D3}"/>
              </a:ext>
            </a:extLst>
          </p:cNvPr>
          <p:cNvSpPr>
            <a:spLocks noGrp="1"/>
          </p:cNvSpPr>
          <p:nvPr>
            <p:ph type="title"/>
          </p:nvPr>
        </p:nvSpPr>
        <p:spPr/>
        <p:txBody>
          <a:bodyPr/>
          <a:lstStyle/>
          <a:p>
            <a:r>
              <a:rPr lang="hu-HU" dirty="0"/>
              <a:t>Adatbázis </a:t>
            </a:r>
            <a:endParaRPr lang="hu-HU" b="1" dirty="0">
              <a:solidFill>
                <a:schemeClr val="bg1"/>
              </a:solidFill>
            </a:endParaRPr>
          </a:p>
        </p:txBody>
      </p:sp>
      <p:sp>
        <p:nvSpPr>
          <p:cNvPr id="4" name="Rectangle 1">
            <a:extLst>
              <a:ext uri="{FF2B5EF4-FFF2-40B4-BE49-F238E27FC236}">
                <a16:creationId xmlns:a16="http://schemas.microsoft.com/office/drawing/2014/main" id="{13A39049-1176-607F-10CC-A54F92C7A3DB}"/>
              </a:ext>
            </a:extLst>
          </p:cNvPr>
          <p:cNvSpPr>
            <a:spLocks noGrp="1" noChangeArrowheads="1"/>
          </p:cNvSpPr>
          <p:nvPr>
            <p:ph sz="half" idx="1"/>
          </p:nvPr>
        </p:nvSpPr>
        <p:spPr bwMode="auto">
          <a:xfrm>
            <a:off x="838200" y="1825625"/>
            <a:ext cx="593725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Users adatbázis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Login és Logging táblák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bcrypt jelszó hash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Felhasználói aktivitás naplózása </a:t>
            </a:r>
          </a:p>
        </p:txBody>
      </p:sp>
      <p:pic>
        <p:nvPicPr>
          <p:cNvPr id="10" name="Kép 9">
            <a:extLst>
              <a:ext uri="{FF2B5EF4-FFF2-40B4-BE49-F238E27FC236}">
                <a16:creationId xmlns:a16="http://schemas.microsoft.com/office/drawing/2014/main" id="{B28C3AAC-E944-6DF7-9D04-B1200E9D2099}"/>
              </a:ext>
            </a:extLst>
          </p:cNvPr>
          <p:cNvPicPr>
            <a:picLocks noChangeAspect="1"/>
          </p:cNvPicPr>
          <p:nvPr/>
        </p:nvPicPr>
        <p:blipFill>
          <a:blip r:embed="rId3">
            <a:extLst>
              <a:ext uri="{28A0092B-C50C-407E-A947-70E740481C1C}">
                <a14:useLocalDpi xmlns:a14="http://schemas.microsoft.com/office/drawing/2010/main" val="0"/>
              </a:ext>
            </a:extLst>
          </a:blip>
          <a:srcRect t="6537"/>
          <a:stretch>
            <a:fillRect/>
          </a:stretch>
        </p:blipFill>
        <p:spPr>
          <a:xfrm>
            <a:off x="5676580" y="1856818"/>
            <a:ext cx="6418966" cy="4320144"/>
          </a:xfrm>
          <a:prstGeom prst="rect">
            <a:avLst/>
          </a:prstGeom>
        </p:spPr>
      </p:pic>
      <p:pic>
        <p:nvPicPr>
          <p:cNvPr id="7" name="Kép 6">
            <a:extLst>
              <a:ext uri="{FF2B5EF4-FFF2-40B4-BE49-F238E27FC236}">
                <a16:creationId xmlns:a16="http://schemas.microsoft.com/office/drawing/2014/main" id="{CB1F2ECC-9BAB-4CBD-A3A4-3F21B2119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6580" y="1818572"/>
            <a:ext cx="6418966" cy="4364567"/>
          </a:xfrm>
          <a:prstGeom prst="rect">
            <a:avLst/>
          </a:prstGeom>
        </p:spPr>
      </p:pic>
    </p:spTree>
    <p:extLst>
      <p:ext uri="{BB962C8B-B14F-4D97-AF65-F5344CB8AC3E}">
        <p14:creationId xmlns:p14="http://schemas.microsoft.com/office/powerpoint/2010/main" val="3194066486"/>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par>
                                <p:cTn id="13" presetID="14"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859B-8B57-5563-4991-26E7EF2CA3B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E00DEF28-7EA8-E369-A1E2-D8A922946070}"/>
              </a:ext>
            </a:extLst>
          </p:cNvPr>
          <p:cNvSpPr>
            <a:spLocks noGrp="1"/>
          </p:cNvSpPr>
          <p:nvPr>
            <p:ph type="title"/>
          </p:nvPr>
        </p:nvSpPr>
        <p:spPr/>
        <p:txBody>
          <a:bodyPr/>
          <a:lstStyle/>
          <a:p>
            <a:r>
              <a:rPr lang="hu-HU" dirty="0" err="1"/>
              <a:t>phpMyAdmin</a:t>
            </a:r>
            <a:r>
              <a:rPr lang="hu-HU" dirty="0"/>
              <a:t>  </a:t>
            </a:r>
            <a:endParaRPr lang="hu-HU" b="1" dirty="0">
              <a:solidFill>
                <a:schemeClr val="bg1"/>
              </a:solidFill>
            </a:endParaRPr>
          </a:p>
        </p:txBody>
      </p:sp>
      <p:sp>
        <p:nvSpPr>
          <p:cNvPr id="5" name="Rectangle 2">
            <a:extLst>
              <a:ext uri="{FF2B5EF4-FFF2-40B4-BE49-F238E27FC236}">
                <a16:creationId xmlns:a16="http://schemas.microsoft.com/office/drawing/2014/main" id="{316DDE3E-63F3-E5ED-6498-3DA5046BF588}"/>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phpMyAdmin</a:t>
            </a:r>
            <a:r>
              <a:rPr kumimoji="0" lang="hu-HU" altLang="hu-HU" sz="1800" b="0" i="0" u="none" strike="noStrike" cap="none" normalizeH="0" baseline="0" dirty="0">
                <a:ln>
                  <a:noFill/>
                </a:ln>
                <a:solidFill>
                  <a:schemeClr val="tx1"/>
                </a:solidFill>
                <a:effectLst/>
                <a:latin typeface="Arial" panose="020B0604020202020204" pitchFamily="34" charset="0"/>
              </a:rPr>
              <a:t> felület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Jelszóval védett hozzáférés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Táblák és </a:t>
            </a:r>
            <a:r>
              <a:rPr kumimoji="0" lang="hu-HU" altLang="hu-HU" sz="1800" b="0" i="0" u="none" strike="noStrike" cap="none" normalizeH="0" baseline="0" dirty="0" err="1">
                <a:ln>
                  <a:noFill/>
                </a:ln>
                <a:solidFill>
                  <a:schemeClr val="tx1"/>
                </a:solidFill>
                <a:effectLst/>
                <a:latin typeface="Arial" panose="020B0604020202020204" pitchFamily="34" charset="0"/>
              </a:rPr>
              <a:t>logok</a:t>
            </a:r>
            <a:r>
              <a:rPr kumimoji="0" lang="hu-HU" altLang="hu-HU" sz="1800" b="0" i="0" u="none" strike="noStrike" cap="none" normalizeH="0" baseline="0" dirty="0">
                <a:ln>
                  <a:noFill/>
                </a:ln>
                <a:solidFill>
                  <a:schemeClr val="tx1"/>
                </a:solidFill>
                <a:effectLst/>
                <a:latin typeface="Arial" panose="020B0604020202020204" pitchFamily="34" charset="0"/>
              </a:rPr>
              <a:t> kezelése </a:t>
            </a:r>
          </a:p>
        </p:txBody>
      </p:sp>
      <p:pic>
        <p:nvPicPr>
          <p:cNvPr id="9" name="Kép 8">
            <a:extLst>
              <a:ext uri="{FF2B5EF4-FFF2-40B4-BE49-F238E27FC236}">
                <a16:creationId xmlns:a16="http://schemas.microsoft.com/office/drawing/2014/main" id="{BE0A6280-5264-AC5B-B379-D683BC0C7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9622" y="1942527"/>
            <a:ext cx="5198777" cy="3747646"/>
          </a:xfrm>
          <a:prstGeom prst="rect">
            <a:avLst/>
          </a:prstGeom>
        </p:spPr>
      </p:pic>
      <p:pic>
        <p:nvPicPr>
          <p:cNvPr id="11" name="Kép 10">
            <a:extLst>
              <a:ext uri="{FF2B5EF4-FFF2-40B4-BE49-F238E27FC236}">
                <a16:creationId xmlns:a16="http://schemas.microsoft.com/office/drawing/2014/main" id="{7F0F2B84-5A7B-6AF2-CF30-45DCE10124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5136" y="1942527"/>
            <a:ext cx="5193263" cy="3567022"/>
          </a:xfrm>
          <a:prstGeom prst="rect">
            <a:avLst/>
          </a:prstGeom>
        </p:spPr>
      </p:pic>
    </p:spTree>
    <p:extLst>
      <p:ext uri="{BB962C8B-B14F-4D97-AF65-F5344CB8AC3E}">
        <p14:creationId xmlns:p14="http://schemas.microsoft.com/office/powerpoint/2010/main" val="2407398914"/>
      </p:ext>
    </p:extLst>
  </p:cSld>
  <p:clrMapOvr>
    <a:masterClrMapping/>
  </p:clrMapOvr>
  <mc:AlternateContent xmlns:mc="http://schemas.openxmlformats.org/markup-compatibility/2006">
    <mc:Choice xmlns:p14="http://schemas.microsoft.com/office/powerpoint/2010/main" Requires="p14">
      <p:transition spd="slow" p14:dur="1600">
        <p14:prism dir="u"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750"/>
                                        <p:tgtEl>
                                          <p:spTgt spid="5">
                                            <p:txEl>
                                              <p:pRg st="1" end="1"/>
                                            </p:txEl>
                                          </p:spTgt>
                                        </p:tgtEl>
                                      </p:cBhvr>
                                    </p:animEffect>
                                    <p:anim calcmode="lin" valueType="num">
                                      <p:cBhvr>
                                        <p:cTn id="8" dur="750" fill="hold"/>
                                        <p:tgtEl>
                                          <p:spTgt spid="5">
                                            <p:txEl>
                                              <p:pRg st="1" end="1"/>
                                            </p:txEl>
                                          </p:spTgt>
                                        </p:tgtEl>
                                        <p:attrNameLst>
                                          <p:attrName>ppt_w</p:attrName>
                                        </p:attrNameLst>
                                      </p:cBhvr>
                                      <p:tavLst>
                                        <p:tav tm="0" fmla="#ppt_w*sin(2.5*pi*$)">
                                          <p:val>
                                            <p:fltVal val="0"/>
                                          </p:val>
                                        </p:tav>
                                        <p:tav tm="100000">
                                          <p:val>
                                            <p:fltVal val="1"/>
                                          </p:val>
                                        </p:tav>
                                      </p:tavLst>
                                    </p:anim>
                                    <p:anim calcmode="lin" valueType="num">
                                      <p:cBhvr>
                                        <p:cTn id="9" dur="750" fill="hold"/>
                                        <p:tgtEl>
                                          <p:spTgt spid="5">
                                            <p:txEl>
                                              <p:pRg st="1" end="1"/>
                                            </p:txEl>
                                          </p:spTgt>
                                        </p:tgtEl>
                                        <p:attrNameLst>
                                          <p:attrName>ppt_h</p:attrName>
                                        </p:attrNameLst>
                                      </p:cBhvr>
                                      <p:tavLst>
                                        <p:tav tm="0">
                                          <p:val>
                                            <p:strVal val="#ppt_h"/>
                                          </p:val>
                                        </p:tav>
                                        <p:tav tm="100000">
                                          <p:val>
                                            <p:strVal val="#ppt_h"/>
                                          </p:val>
                                        </p:tav>
                                      </p:tavLst>
                                    </p:anim>
                                  </p:childTnLst>
                                </p:cTn>
                              </p:par>
                            </p:childTnLst>
                          </p:cTn>
                        </p:par>
                        <p:par>
                          <p:cTn id="10" fill="hold">
                            <p:stCondLst>
                              <p:cond delay="750"/>
                            </p:stCondLst>
                            <p:childTnLst>
                              <p:par>
                                <p:cTn id="11" presetID="45" presetClass="entr" presetSubtype="0" fill="hold" grpId="0" nodeType="after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750"/>
                                        <p:tgtEl>
                                          <p:spTgt spid="5">
                                            <p:txEl>
                                              <p:pRg st="2" end="2"/>
                                            </p:txEl>
                                          </p:spTgt>
                                        </p:tgtEl>
                                      </p:cBhvr>
                                    </p:animEffect>
                                    <p:anim calcmode="lin" valueType="num">
                                      <p:cBhvr>
                                        <p:cTn id="14" dur="750" fill="hold"/>
                                        <p:tgtEl>
                                          <p:spTgt spid="5">
                                            <p:txEl>
                                              <p:pRg st="2" end="2"/>
                                            </p:txEl>
                                          </p:spTgt>
                                        </p:tgtEl>
                                        <p:attrNameLst>
                                          <p:attrName>ppt_w</p:attrName>
                                        </p:attrNameLst>
                                      </p:cBhvr>
                                      <p:tavLst>
                                        <p:tav tm="0" fmla="#ppt_w*sin(2.5*pi*$)">
                                          <p:val>
                                            <p:fltVal val="0"/>
                                          </p:val>
                                        </p:tav>
                                        <p:tav tm="100000">
                                          <p:val>
                                            <p:fltVal val="1"/>
                                          </p:val>
                                        </p:tav>
                                      </p:tavLst>
                                    </p:anim>
                                    <p:anim calcmode="lin" valueType="num">
                                      <p:cBhvr>
                                        <p:cTn id="15" dur="750" fill="hold"/>
                                        <p:tgtEl>
                                          <p:spTgt spid="5">
                                            <p:txEl>
                                              <p:pRg st="2" end="2"/>
                                            </p:txEl>
                                          </p:spTgt>
                                        </p:tgtEl>
                                        <p:attrNameLst>
                                          <p:attrName>ppt_h</p:attrName>
                                        </p:attrNameLst>
                                      </p:cBhvr>
                                      <p:tavLst>
                                        <p:tav tm="0">
                                          <p:val>
                                            <p:strVal val="#ppt_h"/>
                                          </p:val>
                                        </p:tav>
                                        <p:tav tm="100000">
                                          <p:val>
                                            <p:strVal val="#ppt_h"/>
                                          </p:val>
                                        </p:tav>
                                      </p:tavLst>
                                    </p:anim>
                                  </p:childTnLst>
                                </p:cTn>
                              </p:par>
                            </p:childTnLst>
                          </p:cTn>
                        </p:par>
                        <p:par>
                          <p:cTn id="16" fill="hold">
                            <p:stCondLst>
                              <p:cond delay="1500"/>
                            </p:stCondLst>
                            <p:childTnLst>
                              <p:par>
                                <p:cTn id="17" presetID="45" presetClass="entr" presetSubtype="0"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750"/>
                                        <p:tgtEl>
                                          <p:spTgt spid="5">
                                            <p:txEl>
                                              <p:pRg st="3" end="3"/>
                                            </p:txEl>
                                          </p:spTgt>
                                        </p:tgtEl>
                                      </p:cBhvr>
                                    </p:animEffect>
                                    <p:anim calcmode="lin" valueType="num">
                                      <p:cBhvr>
                                        <p:cTn id="20" dur="750" fill="hold"/>
                                        <p:tgtEl>
                                          <p:spTgt spid="5">
                                            <p:txEl>
                                              <p:pRg st="3" end="3"/>
                                            </p:txEl>
                                          </p:spTgt>
                                        </p:tgtEl>
                                        <p:attrNameLst>
                                          <p:attrName>ppt_w</p:attrName>
                                        </p:attrNameLst>
                                      </p:cBhvr>
                                      <p:tavLst>
                                        <p:tav tm="0" fmla="#ppt_w*sin(2.5*pi*$)">
                                          <p:val>
                                            <p:fltVal val="0"/>
                                          </p:val>
                                        </p:tav>
                                        <p:tav tm="100000">
                                          <p:val>
                                            <p:fltVal val="1"/>
                                          </p:val>
                                        </p:tav>
                                      </p:tavLst>
                                    </p:anim>
                                    <p:anim calcmode="lin" valueType="num">
                                      <p:cBhvr>
                                        <p:cTn id="21" dur="750" fill="hold"/>
                                        <p:tgtEl>
                                          <p:spTgt spid="5">
                                            <p:txEl>
                                              <p:pRg st="3" end="3"/>
                                            </p:txEl>
                                          </p:spTgt>
                                        </p:tgtEl>
                                        <p:attrNameLst>
                                          <p:attrName>ppt_h</p:attrName>
                                        </p:attrNameLst>
                                      </p:cBhvr>
                                      <p:tavLst>
                                        <p:tav tm="0">
                                          <p:val>
                                            <p:strVal val="#ppt_h"/>
                                          </p:val>
                                        </p:tav>
                                        <p:tav tm="100000">
                                          <p:val>
                                            <p:strVal val="#ppt_h"/>
                                          </p:val>
                                        </p:tav>
                                      </p:tavLst>
                                    </p:anim>
                                  </p:childTnLst>
                                </p:cTn>
                              </p:par>
                              <p:par>
                                <p:cTn id="22" presetID="45"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ppt_w</p:attrName>
                                        </p:attrNameLst>
                                      </p:cBhvr>
                                      <p:tavLst>
                                        <p:tav tm="0" fmla="#ppt_w*sin(2.5*pi*$)">
                                          <p:val>
                                            <p:fltVal val="0"/>
                                          </p:val>
                                        </p:tav>
                                        <p:tav tm="100000">
                                          <p:val>
                                            <p:fltVal val="1"/>
                                          </p:val>
                                        </p:tav>
                                      </p:tavLst>
                                    </p:anim>
                                    <p:anim calcmode="lin" valueType="num">
                                      <p:cBhvr>
                                        <p:cTn id="26" dur="1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45" presetClass="exit" presetSubtype="0" fill="hold" nodeType="clickEffect">
                                  <p:stCondLst>
                                    <p:cond delay="0"/>
                                  </p:stCondLst>
                                  <p:childTnLst>
                                    <p:animEffect transition="out" filter="fade">
                                      <p:cBhvr>
                                        <p:cTn id="30" dur="1000"/>
                                        <p:tgtEl>
                                          <p:spTgt spid="9"/>
                                        </p:tgtEl>
                                      </p:cBhvr>
                                    </p:animEffect>
                                    <p:anim calcmode="lin" valueType="num">
                                      <p:cBhvr>
                                        <p:cTn id="31" dur="1000"/>
                                        <p:tgtEl>
                                          <p:spTgt spid="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2" dur="1000"/>
                                        <p:tgtEl>
                                          <p:spTgt spid="9"/>
                                        </p:tgtEl>
                                        <p:attrNameLst>
                                          <p:attrName>ppt_h</p:attrName>
                                        </p:attrNameLst>
                                      </p:cBhvr>
                                      <p:tavLst>
                                        <p:tav tm="0">
                                          <p:val>
                                            <p:strVal val="ppt_h"/>
                                          </p:val>
                                        </p:tav>
                                        <p:tav tm="100000">
                                          <p:val>
                                            <p:strVal val="ppt_h"/>
                                          </p:val>
                                        </p:tav>
                                      </p:tavLst>
                                    </p:anim>
                                    <p:set>
                                      <p:cBhvr>
                                        <p:cTn id="33" dur="1" fill="hold">
                                          <p:stCondLst>
                                            <p:cond delay="999"/>
                                          </p:stCondLst>
                                        </p:cTn>
                                        <p:tgtEl>
                                          <p:spTgt spid="9"/>
                                        </p:tgtEl>
                                        <p:attrNameLst>
                                          <p:attrName>style.visibility</p:attrName>
                                        </p:attrNameLst>
                                      </p:cBhvr>
                                      <p:to>
                                        <p:strVal val="hidden"/>
                                      </p:to>
                                    </p:set>
                                  </p:childTnLst>
                                </p:cTn>
                              </p:par>
                              <p:par>
                                <p:cTn id="34" presetID="2" presetClass="entr" presetSubtype="4" fill="hold" nodeType="withEffect">
                                  <p:stCondLst>
                                    <p:cond delay="75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FFBC7-EE78-87DA-0936-08D3F15F405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7960A883-4D42-331B-B68A-1BB1F7932A38}"/>
              </a:ext>
            </a:extLst>
          </p:cNvPr>
          <p:cNvSpPr>
            <a:spLocks noGrp="1"/>
          </p:cNvSpPr>
          <p:nvPr>
            <p:ph type="title"/>
          </p:nvPr>
        </p:nvSpPr>
        <p:spPr/>
        <p:txBody>
          <a:bodyPr/>
          <a:lstStyle/>
          <a:p>
            <a:r>
              <a:rPr lang="hu-HU" dirty="0"/>
              <a:t>DHCP szolgáltatás  </a:t>
            </a:r>
            <a:endParaRPr lang="hu-HU" b="1" dirty="0">
              <a:solidFill>
                <a:schemeClr val="bg1"/>
              </a:solidFill>
            </a:endParaRPr>
          </a:p>
        </p:txBody>
      </p:sp>
      <p:sp>
        <p:nvSpPr>
          <p:cNvPr id="3" name="Rectangle 1">
            <a:extLst>
              <a:ext uri="{FF2B5EF4-FFF2-40B4-BE49-F238E27FC236}">
                <a16:creationId xmlns:a16="http://schemas.microsoft.com/office/drawing/2014/main" id="{5F35E4D4-9D48-F262-5402-0864B3620217}"/>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Hálózat: 192.168.10.0/29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DHCP tartomány: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192.168.10.3–192.168.10.6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DNS és </a:t>
            </a:r>
            <a:r>
              <a:rPr kumimoji="0" lang="hu-HU" altLang="hu-HU" sz="1800" b="0" i="0" u="none" strike="noStrike" cap="none" normalizeH="0" baseline="0" dirty="0" err="1">
                <a:ln>
                  <a:noFill/>
                </a:ln>
                <a:solidFill>
                  <a:schemeClr val="tx1"/>
                </a:solidFill>
                <a:effectLst/>
                <a:latin typeface="Arial" panose="020B0604020202020204" pitchFamily="34" charset="0"/>
              </a:rPr>
              <a:t>gateway</a:t>
            </a:r>
            <a:r>
              <a:rPr kumimoji="0" lang="hu-HU" altLang="hu-HU" sz="1800" b="0" i="0" u="none" strike="noStrike" cap="none" normalizeH="0" baseline="0" dirty="0">
                <a:ln>
                  <a:noFill/>
                </a:ln>
                <a:solidFill>
                  <a:schemeClr val="tx1"/>
                </a:solidFill>
                <a:effectLst/>
                <a:latin typeface="Arial" panose="020B0604020202020204" pitchFamily="34" charset="0"/>
              </a:rPr>
              <a:t> kiosztás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Lease</a:t>
            </a:r>
            <a:r>
              <a:rPr kumimoji="0" lang="hu-HU" altLang="hu-HU" sz="1800" b="0" i="0" u="none" strike="noStrike" cap="none" normalizeH="0" baseline="0" dirty="0">
                <a:ln>
                  <a:noFill/>
                </a:ln>
                <a:solidFill>
                  <a:schemeClr val="tx1"/>
                </a:solidFill>
                <a:effectLst/>
                <a:latin typeface="Arial" panose="020B0604020202020204" pitchFamily="34" charset="0"/>
              </a:rPr>
              <a:t> idők </a:t>
            </a:r>
          </a:p>
        </p:txBody>
      </p:sp>
      <p:pic>
        <p:nvPicPr>
          <p:cNvPr id="7" name="Kép 6">
            <a:extLst>
              <a:ext uri="{FF2B5EF4-FFF2-40B4-BE49-F238E27FC236}">
                <a16:creationId xmlns:a16="http://schemas.microsoft.com/office/drawing/2014/main" id="{8437D367-20F6-3AA5-E987-6E218EA9D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7713" y="1644347"/>
            <a:ext cx="6249272" cy="4344006"/>
          </a:xfrm>
          <a:prstGeom prst="rect">
            <a:avLst/>
          </a:prstGeom>
        </p:spPr>
      </p:pic>
    </p:spTree>
    <p:extLst>
      <p:ext uri="{BB962C8B-B14F-4D97-AF65-F5344CB8AC3E}">
        <p14:creationId xmlns:p14="http://schemas.microsoft.com/office/powerpoint/2010/main" val="3265408648"/>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Effect transition="in" filter="fade">
                                      <p:cBhvr>
                                        <p:cTn id="9" dur="75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27BA3-396A-6A79-511C-84DDD5A97F8E}"/>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D28EC23-41A8-A43C-0DB3-69802E452FC2}"/>
              </a:ext>
            </a:extLst>
          </p:cNvPr>
          <p:cNvSpPr>
            <a:spLocks noGrp="1"/>
          </p:cNvSpPr>
          <p:nvPr>
            <p:ph type="title"/>
          </p:nvPr>
        </p:nvSpPr>
        <p:spPr/>
        <p:txBody>
          <a:bodyPr/>
          <a:lstStyle/>
          <a:p>
            <a:r>
              <a:rPr lang="hu-HU" dirty="0"/>
              <a:t>CRON mentések</a:t>
            </a:r>
            <a:endParaRPr lang="hu-HU" b="1" dirty="0">
              <a:solidFill>
                <a:schemeClr val="bg1"/>
              </a:solidFill>
            </a:endParaRPr>
          </a:p>
        </p:txBody>
      </p:sp>
      <p:sp>
        <p:nvSpPr>
          <p:cNvPr id="4" name="Rectangle 1">
            <a:extLst>
              <a:ext uri="{FF2B5EF4-FFF2-40B4-BE49-F238E27FC236}">
                <a16:creationId xmlns:a16="http://schemas.microsoft.com/office/drawing/2014/main" id="{F41BE9D5-895D-CC92-6A0C-D97C7CB00133}"/>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Cron</a:t>
            </a:r>
            <a:r>
              <a:rPr kumimoji="0" lang="hu-HU" altLang="hu-HU" sz="1800" b="0" i="0" u="none" strike="noStrike" cap="none" normalizeH="0" baseline="0" dirty="0">
                <a:ln>
                  <a:noFill/>
                </a:ln>
                <a:solidFill>
                  <a:schemeClr val="tx1"/>
                </a:solidFill>
                <a:effectLst/>
                <a:latin typeface="Arial" panose="020B0604020202020204" pitchFamily="34" charset="0"/>
              </a:rPr>
              <a:t> szolgáltatás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Mentés minden hétköznap 2:00-kor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/var/</a:t>
            </a:r>
            <a:r>
              <a:rPr kumimoji="0" lang="hu-HU" altLang="hu-HU" sz="1800" b="0" i="0" u="none" strike="noStrike" cap="none" normalizeH="0" baseline="0" dirty="0" err="1">
                <a:ln>
                  <a:noFill/>
                </a:ln>
                <a:solidFill>
                  <a:schemeClr val="tx1"/>
                </a:solidFill>
                <a:effectLst/>
                <a:latin typeface="Arial" panose="020B0604020202020204" pitchFamily="34" charset="0"/>
              </a:rPr>
              <a:t>www</a:t>
            </a:r>
            <a:r>
              <a:rPr kumimoji="0" lang="hu-HU" altLang="hu-HU" sz="1800" b="0" i="0" u="none" strike="noStrike" cap="none" normalizeH="0" baseline="0" dirty="0">
                <a:ln>
                  <a:noFill/>
                </a:ln>
                <a:solidFill>
                  <a:schemeClr val="tx1"/>
                </a:solidFill>
                <a:effectLst/>
                <a:latin typeface="Arial" panose="020B0604020202020204" pitchFamily="34" charset="0"/>
              </a:rPr>
              <a:t>/</a:t>
            </a:r>
            <a:r>
              <a:rPr kumimoji="0" lang="hu-HU" altLang="hu-HU" sz="1800" b="0" i="0" u="none" strike="noStrike" cap="none" normalizeH="0" baseline="0" dirty="0" err="1">
                <a:ln>
                  <a:noFill/>
                </a:ln>
                <a:solidFill>
                  <a:schemeClr val="tx1"/>
                </a:solidFill>
                <a:effectLst/>
                <a:latin typeface="Arial" panose="020B0604020202020204" pitchFamily="34" charset="0"/>
              </a:rPr>
              <a:t>html</a:t>
            </a:r>
            <a:r>
              <a:rPr kumimoji="0" lang="hu-HU" altLang="hu-HU" sz="1800" b="0" i="0" u="none" strike="noStrike" cap="none" normalizeH="0" baseline="0" dirty="0">
                <a:ln>
                  <a:noFill/>
                </a:ln>
                <a:solidFill>
                  <a:schemeClr val="tx1"/>
                </a:solidFill>
                <a:effectLst/>
                <a:latin typeface="Arial" panose="020B0604020202020204" pitchFamily="34" charset="0"/>
              </a:rPr>
              <a:t>/</a:t>
            </a:r>
            <a:r>
              <a:rPr kumimoji="0" lang="hu-HU" altLang="hu-HU" sz="1800" b="0" i="0" u="none" strike="noStrike" cap="none" normalizeH="0" baseline="0" dirty="0" err="1">
                <a:ln>
                  <a:noFill/>
                </a:ln>
                <a:solidFill>
                  <a:schemeClr val="tx1"/>
                </a:solidFill>
                <a:effectLst/>
                <a:latin typeface="Arial" panose="020B0604020202020204" pitchFamily="34" charset="0"/>
              </a:rPr>
              <a:t>shares</a:t>
            </a:r>
            <a:r>
              <a:rPr kumimoji="0" lang="hu-HU" altLang="hu-HU" sz="1800" b="0" i="0" u="none" strike="noStrike" cap="none" normalizeH="0" baseline="0" dirty="0">
                <a:ln>
                  <a:noFill/>
                </a:ln>
                <a:solidFill>
                  <a:schemeClr val="tx1"/>
                </a:solidFill>
                <a:effectLst/>
                <a:latin typeface="Arial" panose="020B0604020202020204" pitchFamily="34" charset="0"/>
              </a:rPr>
              <a:t> mappa mentése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Tömörített archív fájl készítése </a:t>
            </a:r>
          </a:p>
        </p:txBody>
      </p:sp>
    </p:spTree>
    <p:extLst>
      <p:ext uri="{BB962C8B-B14F-4D97-AF65-F5344CB8AC3E}">
        <p14:creationId xmlns:p14="http://schemas.microsoft.com/office/powerpoint/2010/main" val="3921471248"/>
      </p:ext>
    </p:extLst>
  </p:cSld>
  <p:clrMapOvr>
    <a:masterClrMapping/>
  </p:clrMapOvr>
  <mc:AlternateContent xmlns:mc="http://schemas.openxmlformats.org/markup-compatibility/2006">
    <mc:Choice xmlns:p14="http://schemas.microsoft.com/office/powerpoint/2010/main" Requires="p14">
      <p:transition spd="slow" p14:dur="1600">
        <p14:prism dir="d"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anim calcmode="lin" valueType="num">
                                      <p:cBhvr>
                                        <p:cTn id="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anim calcmode="lin" valueType="num">
                                      <p:cBhvr>
                                        <p:cTn id="1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5"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anim calcmode="lin" valueType="num">
                                      <p:cBhvr>
                                        <p:cTn id="2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anim calcmode="lin" valueType="num">
                                      <p:cBhvr>
                                        <p:cTn id="2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7"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F68A4-7694-DAC0-EF63-71AE8CA9D45D}"/>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01F5515-4728-F2AC-6E96-4FD57B666A4B}"/>
              </a:ext>
            </a:extLst>
          </p:cNvPr>
          <p:cNvSpPr>
            <a:spLocks noGrp="1"/>
          </p:cNvSpPr>
          <p:nvPr>
            <p:ph type="title"/>
          </p:nvPr>
        </p:nvSpPr>
        <p:spPr/>
        <p:txBody>
          <a:bodyPr/>
          <a:lstStyle/>
          <a:p>
            <a:r>
              <a:rPr lang="hu-HU" dirty="0"/>
              <a:t>CUPS nyomtatási rendszer</a:t>
            </a:r>
            <a:endParaRPr lang="hu-HU" b="1" dirty="0">
              <a:solidFill>
                <a:schemeClr val="bg1"/>
              </a:solidFill>
            </a:endParaRPr>
          </a:p>
        </p:txBody>
      </p:sp>
      <p:sp>
        <p:nvSpPr>
          <p:cNvPr id="3" name="Rectangle 1">
            <a:extLst>
              <a:ext uri="{FF2B5EF4-FFF2-40B4-BE49-F238E27FC236}">
                <a16:creationId xmlns:a16="http://schemas.microsoft.com/office/drawing/2014/main" id="{19983236-8E2C-0693-A747-A8FA14E589A8}"/>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CUPS szolgáltatás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Távoli adminisztráció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Webes kezelőfelület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Elérés: szerver IP + 631-es port </a:t>
            </a:r>
          </a:p>
        </p:txBody>
      </p:sp>
      <p:pic>
        <p:nvPicPr>
          <p:cNvPr id="7" name="Kép 6">
            <a:extLst>
              <a:ext uri="{FF2B5EF4-FFF2-40B4-BE49-F238E27FC236}">
                <a16:creationId xmlns:a16="http://schemas.microsoft.com/office/drawing/2014/main" id="{E7EAF773-26B1-D60C-ABCF-AE7841665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847" y="1889135"/>
            <a:ext cx="5622408" cy="4013954"/>
          </a:xfrm>
          <a:prstGeom prst="rect">
            <a:avLst/>
          </a:prstGeom>
        </p:spPr>
      </p:pic>
    </p:spTree>
    <p:extLst>
      <p:ext uri="{BB962C8B-B14F-4D97-AF65-F5344CB8AC3E}">
        <p14:creationId xmlns:p14="http://schemas.microsoft.com/office/powerpoint/2010/main" val="435640701"/>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1BFE-63DA-5DE0-E4A2-6665319161F0}"/>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D9365A38-E8DC-82C8-456C-F37FC700BBE9}"/>
              </a:ext>
            </a:extLst>
          </p:cNvPr>
          <p:cNvSpPr>
            <a:spLocks noGrp="1"/>
          </p:cNvSpPr>
          <p:nvPr>
            <p:ph type="title"/>
          </p:nvPr>
        </p:nvSpPr>
        <p:spPr>
          <a:xfrm>
            <a:off x="919119" y="181337"/>
            <a:ext cx="10353762" cy="970450"/>
          </a:xfrm>
        </p:spPr>
        <p:txBody>
          <a:bodyPr/>
          <a:lstStyle/>
          <a:p>
            <a:r>
              <a:rPr lang="hu-HU" dirty="0"/>
              <a:t>Nethely </a:t>
            </a:r>
            <a:r>
              <a:rPr lang="hu-HU" dirty="0" err="1"/>
              <a:t>webhosting</a:t>
            </a:r>
            <a:endParaRPr lang="hu-HU" b="1" dirty="0">
              <a:solidFill>
                <a:schemeClr val="bg1"/>
              </a:solidFill>
            </a:endParaRPr>
          </a:p>
        </p:txBody>
      </p:sp>
      <p:sp>
        <p:nvSpPr>
          <p:cNvPr id="4" name="Rectangle 1">
            <a:extLst>
              <a:ext uri="{FF2B5EF4-FFF2-40B4-BE49-F238E27FC236}">
                <a16:creationId xmlns:a16="http://schemas.microsoft.com/office/drawing/2014/main" id="{55D2EC45-D152-16AE-BAC4-E3527D627DDE}"/>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Nethely tárhelyszolgáltatás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Domain</a:t>
            </a:r>
            <a:r>
              <a:rPr kumimoji="0" lang="hu-HU" altLang="hu-HU"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migazziwatch.nhely.hu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FTP feltöltés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Publikus internetes elérés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Intranettől elkülönített rendszer </a:t>
            </a:r>
          </a:p>
        </p:txBody>
      </p:sp>
      <p:pic>
        <p:nvPicPr>
          <p:cNvPr id="7" name="Kép 6">
            <a:extLst>
              <a:ext uri="{FF2B5EF4-FFF2-40B4-BE49-F238E27FC236}">
                <a16:creationId xmlns:a16="http://schemas.microsoft.com/office/drawing/2014/main" id="{94F74CBC-A65F-5F18-B5E5-E22A0EF70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8662" y="912454"/>
            <a:ext cx="6156160" cy="3328174"/>
          </a:xfrm>
          <a:prstGeom prst="rect">
            <a:avLst/>
          </a:prstGeom>
        </p:spPr>
      </p:pic>
      <p:pic>
        <p:nvPicPr>
          <p:cNvPr id="10" name="Kép 9">
            <a:extLst>
              <a:ext uri="{FF2B5EF4-FFF2-40B4-BE49-F238E27FC236}">
                <a16:creationId xmlns:a16="http://schemas.microsoft.com/office/drawing/2014/main" id="{239097F1-1C0D-13F6-8DF5-71E61AB70C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8662" y="3529827"/>
            <a:ext cx="6174002" cy="3328173"/>
          </a:xfrm>
          <a:prstGeom prst="rect">
            <a:avLst/>
          </a:prstGeom>
        </p:spPr>
      </p:pic>
      <p:pic>
        <p:nvPicPr>
          <p:cNvPr id="12" name="Kép 11">
            <a:extLst>
              <a:ext uri="{FF2B5EF4-FFF2-40B4-BE49-F238E27FC236}">
                <a16:creationId xmlns:a16="http://schemas.microsoft.com/office/drawing/2014/main" id="{3E642D40-9767-1DB5-7D1E-BED6B74130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8662" y="912455"/>
            <a:ext cx="6109077" cy="3328174"/>
          </a:xfrm>
          <a:prstGeom prst="rect">
            <a:avLst/>
          </a:prstGeom>
        </p:spPr>
      </p:pic>
      <p:pic>
        <p:nvPicPr>
          <p:cNvPr id="14" name="Kép 13">
            <a:extLst>
              <a:ext uri="{FF2B5EF4-FFF2-40B4-BE49-F238E27FC236}">
                <a16:creationId xmlns:a16="http://schemas.microsoft.com/office/drawing/2014/main" id="{F27FB2BE-3146-653E-D8CC-D407AB6139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8662" y="3429001"/>
            <a:ext cx="6156160" cy="3344206"/>
          </a:xfrm>
          <a:prstGeom prst="rect">
            <a:avLst/>
          </a:prstGeom>
        </p:spPr>
      </p:pic>
    </p:spTree>
    <p:extLst>
      <p:ext uri="{BB962C8B-B14F-4D97-AF65-F5344CB8AC3E}">
        <p14:creationId xmlns:p14="http://schemas.microsoft.com/office/powerpoint/2010/main" val="3944046510"/>
      </p:ext>
    </p:extLst>
  </p:cSld>
  <p:clrMapOvr>
    <a:masterClrMapping/>
  </p:clrMapOvr>
  <mc:AlternateContent xmlns:mc="http://schemas.openxmlformats.org/markup-compatibility/2006">
    <mc:Choice xmlns:p14="http://schemas.microsoft.com/office/powerpoint/2010/main" Requires="p14">
      <p:transition spd="slow" p14:dur="1600">
        <p14:prism dir="u"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500"/>
                                        <p:tgtEl>
                                          <p:spTgt spid="4">
                                            <p:txEl>
                                              <p:pRg st="3" end="3"/>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6" dur="500"/>
                                        <p:tgtEl>
                                          <p:spTgt spid="4">
                                            <p:txEl>
                                              <p:pRg st="4" end="4"/>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9" dur="500"/>
                                        <p:tgtEl>
                                          <p:spTgt spid="4">
                                            <p:txEl>
                                              <p:pRg st="5" end="5"/>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2" dur="500"/>
                                        <p:tgtEl>
                                          <p:spTgt spid="4">
                                            <p:txEl>
                                              <p:pRg st="6" end="6"/>
                                            </p:txEl>
                                          </p:spTgt>
                                        </p:tgtEl>
                                      </p:cBhvr>
                                    </p:animEffect>
                                  </p:childTnLst>
                                </p:cTn>
                              </p:par>
                            </p:childTnLst>
                          </p:cTn>
                        </p:par>
                        <p:par>
                          <p:cTn id="23" fill="hold">
                            <p:stCondLst>
                              <p:cond delay="500"/>
                            </p:stCondLst>
                            <p:childTnLst>
                              <p:par>
                                <p:cTn id="24" presetID="14" presetClass="entr" presetSubtype="1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randombar(horizontal)">
                                      <p:cBhvr>
                                        <p:cTn id="26" dur="500"/>
                                        <p:tgtEl>
                                          <p:spTgt spid="7"/>
                                        </p:tgtEl>
                                      </p:cBhvr>
                                    </p:animEffect>
                                  </p:childTnLst>
                                </p:cTn>
                              </p:par>
                              <p:par>
                                <p:cTn id="27" presetID="14" presetClass="entr" presetSubtype="1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randombar(horizont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xit" presetSubtype="21" fill="hold" nodeType="clickEffect">
                                  <p:stCondLst>
                                    <p:cond delay="0"/>
                                  </p:stCondLst>
                                  <p:childTnLst>
                                    <p:animEffect transition="out" filter="barn(inVertical)">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par>
                                <p:cTn id="35" presetID="16" presetClass="exit" presetSubtype="21" fill="hold" nodeType="withEffect">
                                  <p:stCondLst>
                                    <p:cond delay="0"/>
                                  </p:stCondLst>
                                  <p:childTnLst>
                                    <p:animEffect transition="out" filter="barn(inVertical)">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par>
                          <p:cTn id="38" fill="hold">
                            <p:stCondLst>
                              <p:cond delay="500"/>
                            </p:stCondLst>
                            <p:childTnLst>
                              <p:par>
                                <p:cTn id="39" presetID="16" presetClass="entr" presetSubtype="37" fill="hold"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arn(outVertical)">
                                      <p:cBhvr>
                                        <p:cTn id="41" dur="500"/>
                                        <p:tgtEl>
                                          <p:spTgt spid="12"/>
                                        </p:tgtEl>
                                      </p:cBhvr>
                                    </p:animEffect>
                                  </p:childTnLst>
                                </p:cTn>
                              </p:par>
                              <p:par>
                                <p:cTn id="42" presetID="16" presetClass="entr" presetSubtype="37"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barn(outVertical)">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E74C-FC13-E92F-6F58-451A49EDBEBB}"/>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1D7E4162-941A-1B84-4D54-E5AEE9D9EC4A}"/>
              </a:ext>
            </a:extLst>
          </p:cNvPr>
          <p:cNvSpPr>
            <a:spLocks noGrp="1"/>
          </p:cNvSpPr>
          <p:nvPr>
            <p:ph type="title"/>
          </p:nvPr>
        </p:nvSpPr>
        <p:spPr/>
        <p:txBody>
          <a:bodyPr/>
          <a:lstStyle/>
          <a:p>
            <a:r>
              <a:rPr lang="hu-HU" dirty="0"/>
              <a:t>Linux összegzés</a:t>
            </a:r>
            <a:endParaRPr lang="hu-HU" b="1" dirty="0">
              <a:solidFill>
                <a:schemeClr val="bg1"/>
              </a:solidFill>
            </a:endParaRPr>
          </a:p>
        </p:txBody>
      </p:sp>
      <p:sp>
        <p:nvSpPr>
          <p:cNvPr id="5" name="Rectangle 2">
            <a:extLst>
              <a:ext uri="{FF2B5EF4-FFF2-40B4-BE49-F238E27FC236}">
                <a16:creationId xmlns:a16="http://schemas.microsoft.com/office/drawing/2014/main" id="{22185607-B104-9A07-B023-F535B1647CD6}"/>
              </a:ext>
            </a:extLst>
          </p:cNvPr>
          <p:cNvSpPr>
            <a:spLocks noGrp="1" noChangeArrowheads="1"/>
          </p:cNvSpPr>
          <p:nvPr>
            <p:ph sz="half" idx="1"/>
          </p:nvPr>
        </p:nvSpPr>
        <p:spPr bwMode="auto">
          <a:xfrm>
            <a:off x="4565468" y="342900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Biztonságos intranet rendszer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Jogosultságkezelés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Naplózás és mentések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Hálózati nyomtatás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Automatizált hálózatkezelés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Publikus webes jelenlét </a:t>
            </a:r>
          </a:p>
        </p:txBody>
      </p:sp>
    </p:spTree>
    <p:extLst>
      <p:ext uri="{BB962C8B-B14F-4D97-AF65-F5344CB8AC3E}">
        <p14:creationId xmlns:p14="http://schemas.microsoft.com/office/powerpoint/2010/main" val="15873225"/>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290">
                                          <p:stCondLst>
                                            <p:cond delay="0"/>
                                          </p:stCondLst>
                                        </p:cTn>
                                        <p:tgtEl>
                                          <p:spTgt spid="5">
                                            <p:txEl>
                                              <p:pRg st="1" end="1"/>
                                            </p:txEl>
                                          </p:spTgt>
                                        </p:tgtEl>
                                      </p:cBhvr>
                                    </p:animEffect>
                                    <p:anim calcmode="lin" valueType="num">
                                      <p:cBhvr>
                                        <p:cTn id="8" dur="911" tmFilter="0,0; 0.14,0.36; 0.43,0.73; 0.71,0.91; 1.0,1.0">
                                          <p:stCondLst>
                                            <p:cond delay="0"/>
                                          </p:stCondLst>
                                        </p:cTn>
                                        <p:tgtEl>
                                          <p:spTgt spid="5">
                                            <p:txEl>
                                              <p:pRg st="1" end="1"/>
                                            </p:txEl>
                                          </p:spTgt>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5">
                                            <p:txEl>
                                              <p:pRg st="1" end="1"/>
                                            </p:txEl>
                                          </p:spTgt>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5">
                                            <p:txEl>
                                              <p:pRg st="1" end="1"/>
                                            </p:txEl>
                                          </p:spTgt>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5">
                                            <p:txEl>
                                              <p:pRg st="1" end="1"/>
                                            </p:txEl>
                                          </p:spTgt>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5">
                                            <p:txEl>
                                              <p:pRg st="1" end="1"/>
                                            </p:txEl>
                                          </p:spTgt>
                                        </p:tgtEl>
                                        <p:attrNameLst>
                                          <p:attrName>ppt_y</p:attrName>
                                        </p:attrNameLst>
                                      </p:cBhvr>
                                      <p:tavLst>
                                        <p:tav tm="0" fmla="#ppt_y-sin(pi*$)/81">
                                          <p:val>
                                            <p:fltVal val="0"/>
                                          </p:val>
                                        </p:tav>
                                        <p:tav tm="100000">
                                          <p:val>
                                            <p:fltVal val="1"/>
                                          </p:val>
                                        </p:tav>
                                      </p:tavLst>
                                    </p:anim>
                                    <p:animScale>
                                      <p:cBhvr>
                                        <p:cTn id="13" dur="13">
                                          <p:stCondLst>
                                            <p:cond delay="325"/>
                                          </p:stCondLst>
                                        </p:cTn>
                                        <p:tgtEl>
                                          <p:spTgt spid="5">
                                            <p:txEl>
                                              <p:pRg st="1" end="1"/>
                                            </p:txEl>
                                          </p:spTgt>
                                        </p:tgtEl>
                                      </p:cBhvr>
                                      <p:to x="100000" y="60000"/>
                                    </p:animScale>
                                    <p:animScale>
                                      <p:cBhvr>
                                        <p:cTn id="14" dur="83" decel="50000">
                                          <p:stCondLst>
                                            <p:cond delay="338"/>
                                          </p:stCondLst>
                                        </p:cTn>
                                        <p:tgtEl>
                                          <p:spTgt spid="5">
                                            <p:txEl>
                                              <p:pRg st="1" end="1"/>
                                            </p:txEl>
                                          </p:spTgt>
                                        </p:tgtEl>
                                      </p:cBhvr>
                                      <p:to x="100000" y="100000"/>
                                    </p:animScale>
                                    <p:animScale>
                                      <p:cBhvr>
                                        <p:cTn id="15" dur="13">
                                          <p:stCondLst>
                                            <p:cond delay="656"/>
                                          </p:stCondLst>
                                        </p:cTn>
                                        <p:tgtEl>
                                          <p:spTgt spid="5">
                                            <p:txEl>
                                              <p:pRg st="1" end="1"/>
                                            </p:txEl>
                                          </p:spTgt>
                                        </p:tgtEl>
                                      </p:cBhvr>
                                      <p:to x="100000" y="80000"/>
                                    </p:animScale>
                                    <p:animScale>
                                      <p:cBhvr>
                                        <p:cTn id="16" dur="83" decel="50000">
                                          <p:stCondLst>
                                            <p:cond delay="669"/>
                                          </p:stCondLst>
                                        </p:cTn>
                                        <p:tgtEl>
                                          <p:spTgt spid="5">
                                            <p:txEl>
                                              <p:pRg st="1" end="1"/>
                                            </p:txEl>
                                          </p:spTgt>
                                        </p:tgtEl>
                                      </p:cBhvr>
                                      <p:to x="100000" y="100000"/>
                                    </p:animScale>
                                    <p:animScale>
                                      <p:cBhvr>
                                        <p:cTn id="17" dur="13">
                                          <p:stCondLst>
                                            <p:cond delay="821"/>
                                          </p:stCondLst>
                                        </p:cTn>
                                        <p:tgtEl>
                                          <p:spTgt spid="5">
                                            <p:txEl>
                                              <p:pRg st="1" end="1"/>
                                            </p:txEl>
                                          </p:spTgt>
                                        </p:tgtEl>
                                      </p:cBhvr>
                                      <p:to x="100000" y="90000"/>
                                    </p:animScale>
                                    <p:animScale>
                                      <p:cBhvr>
                                        <p:cTn id="18" dur="83" decel="50000">
                                          <p:stCondLst>
                                            <p:cond delay="834"/>
                                          </p:stCondLst>
                                        </p:cTn>
                                        <p:tgtEl>
                                          <p:spTgt spid="5">
                                            <p:txEl>
                                              <p:pRg st="1" end="1"/>
                                            </p:txEl>
                                          </p:spTgt>
                                        </p:tgtEl>
                                      </p:cBhvr>
                                      <p:to x="100000" y="100000"/>
                                    </p:animScale>
                                    <p:animScale>
                                      <p:cBhvr>
                                        <p:cTn id="19" dur="13">
                                          <p:stCondLst>
                                            <p:cond delay="904"/>
                                          </p:stCondLst>
                                        </p:cTn>
                                        <p:tgtEl>
                                          <p:spTgt spid="5">
                                            <p:txEl>
                                              <p:pRg st="1" end="1"/>
                                            </p:txEl>
                                          </p:spTgt>
                                        </p:tgtEl>
                                      </p:cBhvr>
                                      <p:to x="100000" y="95000"/>
                                    </p:animScale>
                                    <p:animScale>
                                      <p:cBhvr>
                                        <p:cTn id="20" dur="83" decel="50000">
                                          <p:stCondLst>
                                            <p:cond delay="917"/>
                                          </p:stCondLst>
                                        </p:cTn>
                                        <p:tgtEl>
                                          <p:spTgt spid="5">
                                            <p:txEl>
                                              <p:pRg st="1" end="1"/>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wipe(down)">
                                      <p:cBhvr>
                                        <p:cTn id="23" dur="290">
                                          <p:stCondLst>
                                            <p:cond delay="0"/>
                                          </p:stCondLst>
                                        </p:cTn>
                                        <p:tgtEl>
                                          <p:spTgt spid="5">
                                            <p:txEl>
                                              <p:pRg st="2" end="2"/>
                                            </p:txEl>
                                          </p:spTgt>
                                        </p:tgtEl>
                                      </p:cBhvr>
                                    </p:animEffect>
                                    <p:anim calcmode="lin" valueType="num">
                                      <p:cBhvr>
                                        <p:cTn id="24" dur="911" tmFilter="0,0; 0.14,0.36; 0.43,0.73; 0.71,0.91; 1.0,1.0">
                                          <p:stCondLst>
                                            <p:cond delay="0"/>
                                          </p:stCondLst>
                                        </p:cTn>
                                        <p:tgtEl>
                                          <p:spTgt spid="5">
                                            <p:txEl>
                                              <p:pRg st="2" end="2"/>
                                            </p:txEl>
                                          </p:spTgt>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5">
                                            <p:txEl>
                                              <p:pRg st="2" end="2"/>
                                            </p:txEl>
                                          </p:spTgt>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5">
                                            <p:txEl>
                                              <p:pRg st="2" end="2"/>
                                            </p:txEl>
                                          </p:spTgt>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5">
                                            <p:txEl>
                                              <p:pRg st="2" end="2"/>
                                            </p:txEl>
                                          </p:spTgt>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5">
                                            <p:txEl>
                                              <p:pRg st="2" end="2"/>
                                            </p:txEl>
                                          </p:spTgt>
                                        </p:tgtEl>
                                        <p:attrNameLst>
                                          <p:attrName>ppt_y</p:attrName>
                                        </p:attrNameLst>
                                      </p:cBhvr>
                                      <p:tavLst>
                                        <p:tav tm="0" fmla="#ppt_y-sin(pi*$)/81">
                                          <p:val>
                                            <p:fltVal val="0"/>
                                          </p:val>
                                        </p:tav>
                                        <p:tav tm="100000">
                                          <p:val>
                                            <p:fltVal val="1"/>
                                          </p:val>
                                        </p:tav>
                                      </p:tavLst>
                                    </p:anim>
                                    <p:animScale>
                                      <p:cBhvr>
                                        <p:cTn id="29" dur="13">
                                          <p:stCondLst>
                                            <p:cond delay="325"/>
                                          </p:stCondLst>
                                        </p:cTn>
                                        <p:tgtEl>
                                          <p:spTgt spid="5">
                                            <p:txEl>
                                              <p:pRg st="2" end="2"/>
                                            </p:txEl>
                                          </p:spTgt>
                                        </p:tgtEl>
                                      </p:cBhvr>
                                      <p:to x="100000" y="60000"/>
                                    </p:animScale>
                                    <p:animScale>
                                      <p:cBhvr>
                                        <p:cTn id="30" dur="83" decel="50000">
                                          <p:stCondLst>
                                            <p:cond delay="338"/>
                                          </p:stCondLst>
                                        </p:cTn>
                                        <p:tgtEl>
                                          <p:spTgt spid="5">
                                            <p:txEl>
                                              <p:pRg st="2" end="2"/>
                                            </p:txEl>
                                          </p:spTgt>
                                        </p:tgtEl>
                                      </p:cBhvr>
                                      <p:to x="100000" y="100000"/>
                                    </p:animScale>
                                    <p:animScale>
                                      <p:cBhvr>
                                        <p:cTn id="31" dur="13">
                                          <p:stCondLst>
                                            <p:cond delay="656"/>
                                          </p:stCondLst>
                                        </p:cTn>
                                        <p:tgtEl>
                                          <p:spTgt spid="5">
                                            <p:txEl>
                                              <p:pRg st="2" end="2"/>
                                            </p:txEl>
                                          </p:spTgt>
                                        </p:tgtEl>
                                      </p:cBhvr>
                                      <p:to x="100000" y="80000"/>
                                    </p:animScale>
                                    <p:animScale>
                                      <p:cBhvr>
                                        <p:cTn id="32" dur="83" decel="50000">
                                          <p:stCondLst>
                                            <p:cond delay="669"/>
                                          </p:stCondLst>
                                        </p:cTn>
                                        <p:tgtEl>
                                          <p:spTgt spid="5">
                                            <p:txEl>
                                              <p:pRg st="2" end="2"/>
                                            </p:txEl>
                                          </p:spTgt>
                                        </p:tgtEl>
                                      </p:cBhvr>
                                      <p:to x="100000" y="100000"/>
                                    </p:animScale>
                                    <p:animScale>
                                      <p:cBhvr>
                                        <p:cTn id="33" dur="13">
                                          <p:stCondLst>
                                            <p:cond delay="821"/>
                                          </p:stCondLst>
                                        </p:cTn>
                                        <p:tgtEl>
                                          <p:spTgt spid="5">
                                            <p:txEl>
                                              <p:pRg st="2" end="2"/>
                                            </p:txEl>
                                          </p:spTgt>
                                        </p:tgtEl>
                                      </p:cBhvr>
                                      <p:to x="100000" y="90000"/>
                                    </p:animScale>
                                    <p:animScale>
                                      <p:cBhvr>
                                        <p:cTn id="34" dur="83" decel="50000">
                                          <p:stCondLst>
                                            <p:cond delay="834"/>
                                          </p:stCondLst>
                                        </p:cTn>
                                        <p:tgtEl>
                                          <p:spTgt spid="5">
                                            <p:txEl>
                                              <p:pRg st="2" end="2"/>
                                            </p:txEl>
                                          </p:spTgt>
                                        </p:tgtEl>
                                      </p:cBhvr>
                                      <p:to x="100000" y="100000"/>
                                    </p:animScale>
                                    <p:animScale>
                                      <p:cBhvr>
                                        <p:cTn id="35" dur="13">
                                          <p:stCondLst>
                                            <p:cond delay="904"/>
                                          </p:stCondLst>
                                        </p:cTn>
                                        <p:tgtEl>
                                          <p:spTgt spid="5">
                                            <p:txEl>
                                              <p:pRg st="2" end="2"/>
                                            </p:txEl>
                                          </p:spTgt>
                                        </p:tgtEl>
                                      </p:cBhvr>
                                      <p:to x="100000" y="95000"/>
                                    </p:animScale>
                                    <p:animScale>
                                      <p:cBhvr>
                                        <p:cTn id="36" dur="83" decel="50000">
                                          <p:stCondLst>
                                            <p:cond delay="917"/>
                                          </p:stCondLst>
                                        </p:cTn>
                                        <p:tgtEl>
                                          <p:spTgt spid="5">
                                            <p:txEl>
                                              <p:pRg st="2" end="2"/>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Effect transition="in" filter="wipe(down)">
                                      <p:cBhvr>
                                        <p:cTn id="39" dur="290">
                                          <p:stCondLst>
                                            <p:cond delay="0"/>
                                          </p:stCondLst>
                                        </p:cTn>
                                        <p:tgtEl>
                                          <p:spTgt spid="5">
                                            <p:txEl>
                                              <p:pRg st="3" end="3"/>
                                            </p:txEl>
                                          </p:spTgt>
                                        </p:tgtEl>
                                      </p:cBhvr>
                                    </p:animEffect>
                                    <p:anim calcmode="lin" valueType="num">
                                      <p:cBhvr>
                                        <p:cTn id="40" dur="911" tmFilter="0,0; 0.14,0.36; 0.43,0.73; 0.71,0.91; 1.0,1.0">
                                          <p:stCondLst>
                                            <p:cond delay="0"/>
                                          </p:stCondLst>
                                        </p:cTn>
                                        <p:tgtEl>
                                          <p:spTgt spid="5">
                                            <p:txEl>
                                              <p:pRg st="3" end="3"/>
                                            </p:txEl>
                                          </p:spTgt>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5">
                                            <p:txEl>
                                              <p:pRg st="3" end="3"/>
                                            </p:txEl>
                                          </p:spTgt>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5">
                                            <p:txEl>
                                              <p:pRg st="3" end="3"/>
                                            </p:txEl>
                                          </p:spTgt>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5">
                                            <p:txEl>
                                              <p:pRg st="3" end="3"/>
                                            </p:txEl>
                                          </p:spTgt>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5">
                                            <p:txEl>
                                              <p:pRg st="3" end="3"/>
                                            </p:txEl>
                                          </p:spTgt>
                                        </p:tgtEl>
                                        <p:attrNameLst>
                                          <p:attrName>ppt_y</p:attrName>
                                        </p:attrNameLst>
                                      </p:cBhvr>
                                      <p:tavLst>
                                        <p:tav tm="0" fmla="#ppt_y-sin(pi*$)/81">
                                          <p:val>
                                            <p:fltVal val="0"/>
                                          </p:val>
                                        </p:tav>
                                        <p:tav tm="100000">
                                          <p:val>
                                            <p:fltVal val="1"/>
                                          </p:val>
                                        </p:tav>
                                      </p:tavLst>
                                    </p:anim>
                                    <p:animScale>
                                      <p:cBhvr>
                                        <p:cTn id="45" dur="13">
                                          <p:stCondLst>
                                            <p:cond delay="325"/>
                                          </p:stCondLst>
                                        </p:cTn>
                                        <p:tgtEl>
                                          <p:spTgt spid="5">
                                            <p:txEl>
                                              <p:pRg st="3" end="3"/>
                                            </p:txEl>
                                          </p:spTgt>
                                        </p:tgtEl>
                                      </p:cBhvr>
                                      <p:to x="100000" y="60000"/>
                                    </p:animScale>
                                    <p:animScale>
                                      <p:cBhvr>
                                        <p:cTn id="46" dur="83" decel="50000">
                                          <p:stCondLst>
                                            <p:cond delay="338"/>
                                          </p:stCondLst>
                                        </p:cTn>
                                        <p:tgtEl>
                                          <p:spTgt spid="5">
                                            <p:txEl>
                                              <p:pRg st="3" end="3"/>
                                            </p:txEl>
                                          </p:spTgt>
                                        </p:tgtEl>
                                      </p:cBhvr>
                                      <p:to x="100000" y="100000"/>
                                    </p:animScale>
                                    <p:animScale>
                                      <p:cBhvr>
                                        <p:cTn id="47" dur="13">
                                          <p:stCondLst>
                                            <p:cond delay="656"/>
                                          </p:stCondLst>
                                        </p:cTn>
                                        <p:tgtEl>
                                          <p:spTgt spid="5">
                                            <p:txEl>
                                              <p:pRg st="3" end="3"/>
                                            </p:txEl>
                                          </p:spTgt>
                                        </p:tgtEl>
                                      </p:cBhvr>
                                      <p:to x="100000" y="80000"/>
                                    </p:animScale>
                                    <p:animScale>
                                      <p:cBhvr>
                                        <p:cTn id="48" dur="83" decel="50000">
                                          <p:stCondLst>
                                            <p:cond delay="669"/>
                                          </p:stCondLst>
                                        </p:cTn>
                                        <p:tgtEl>
                                          <p:spTgt spid="5">
                                            <p:txEl>
                                              <p:pRg st="3" end="3"/>
                                            </p:txEl>
                                          </p:spTgt>
                                        </p:tgtEl>
                                      </p:cBhvr>
                                      <p:to x="100000" y="100000"/>
                                    </p:animScale>
                                    <p:animScale>
                                      <p:cBhvr>
                                        <p:cTn id="49" dur="13">
                                          <p:stCondLst>
                                            <p:cond delay="821"/>
                                          </p:stCondLst>
                                        </p:cTn>
                                        <p:tgtEl>
                                          <p:spTgt spid="5">
                                            <p:txEl>
                                              <p:pRg st="3" end="3"/>
                                            </p:txEl>
                                          </p:spTgt>
                                        </p:tgtEl>
                                      </p:cBhvr>
                                      <p:to x="100000" y="90000"/>
                                    </p:animScale>
                                    <p:animScale>
                                      <p:cBhvr>
                                        <p:cTn id="50" dur="83" decel="50000">
                                          <p:stCondLst>
                                            <p:cond delay="834"/>
                                          </p:stCondLst>
                                        </p:cTn>
                                        <p:tgtEl>
                                          <p:spTgt spid="5">
                                            <p:txEl>
                                              <p:pRg st="3" end="3"/>
                                            </p:txEl>
                                          </p:spTgt>
                                        </p:tgtEl>
                                      </p:cBhvr>
                                      <p:to x="100000" y="100000"/>
                                    </p:animScale>
                                    <p:animScale>
                                      <p:cBhvr>
                                        <p:cTn id="51" dur="13">
                                          <p:stCondLst>
                                            <p:cond delay="904"/>
                                          </p:stCondLst>
                                        </p:cTn>
                                        <p:tgtEl>
                                          <p:spTgt spid="5">
                                            <p:txEl>
                                              <p:pRg st="3" end="3"/>
                                            </p:txEl>
                                          </p:spTgt>
                                        </p:tgtEl>
                                      </p:cBhvr>
                                      <p:to x="100000" y="95000"/>
                                    </p:animScale>
                                    <p:animScale>
                                      <p:cBhvr>
                                        <p:cTn id="52" dur="83" decel="50000">
                                          <p:stCondLst>
                                            <p:cond delay="917"/>
                                          </p:stCondLst>
                                        </p:cTn>
                                        <p:tgtEl>
                                          <p:spTgt spid="5">
                                            <p:txEl>
                                              <p:pRg st="3" end="3"/>
                                            </p:txEl>
                                          </p:spTgt>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animEffect transition="in" filter="wipe(down)">
                                      <p:cBhvr>
                                        <p:cTn id="55" dur="290">
                                          <p:stCondLst>
                                            <p:cond delay="0"/>
                                          </p:stCondLst>
                                        </p:cTn>
                                        <p:tgtEl>
                                          <p:spTgt spid="5">
                                            <p:txEl>
                                              <p:pRg st="4" end="4"/>
                                            </p:txEl>
                                          </p:spTgt>
                                        </p:tgtEl>
                                      </p:cBhvr>
                                    </p:animEffect>
                                    <p:anim calcmode="lin" valueType="num">
                                      <p:cBhvr>
                                        <p:cTn id="56" dur="911" tmFilter="0,0; 0.14,0.36; 0.43,0.73; 0.71,0.91; 1.0,1.0">
                                          <p:stCondLst>
                                            <p:cond delay="0"/>
                                          </p:stCondLst>
                                        </p:cTn>
                                        <p:tgtEl>
                                          <p:spTgt spid="5">
                                            <p:txEl>
                                              <p:pRg st="4" end="4"/>
                                            </p:txEl>
                                          </p:spTgt>
                                        </p:tgtEl>
                                        <p:attrNameLst>
                                          <p:attrName>ppt_x</p:attrName>
                                        </p:attrNameLst>
                                      </p:cBhvr>
                                      <p:tavLst>
                                        <p:tav tm="0">
                                          <p:val>
                                            <p:strVal val="#ppt_x-0.25"/>
                                          </p:val>
                                        </p:tav>
                                        <p:tav tm="100000">
                                          <p:val>
                                            <p:strVal val="#ppt_x"/>
                                          </p:val>
                                        </p:tav>
                                      </p:tavLst>
                                    </p:anim>
                                    <p:anim calcmode="lin" valueType="num">
                                      <p:cBhvr>
                                        <p:cTn id="57" dur="332" tmFilter="0.0,0.0; 0.25,0.07; 0.50,0.2; 0.75,0.467; 1.0,1.0">
                                          <p:stCondLst>
                                            <p:cond delay="0"/>
                                          </p:stCondLst>
                                        </p:cTn>
                                        <p:tgtEl>
                                          <p:spTgt spid="5">
                                            <p:txEl>
                                              <p:pRg st="4" end="4"/>
                                            </p:txEl>
                                          </p:spTgt>
                                        </p:tgtEl>
                                        <p:attrNameLst>
                                          <p:attrName>ppt_y</p:attrName>
                                        </p:attrNameLst>
                                      </p:cBhvr>
                                      <p:tavLst>
                                        <p:tav tm="0" fmla="#ppt_y-sin(pi*$)/3">
                                          <p:val>
                                            <p:fltVal val="0.5"/>
                                          </p:val>
                                        </p:tav>
                                        <p:tav tm="100000">
                                          <p:val>
                                            <p:fltVal val="1"/>
                                          </p:val>
                                        </p:tav>
                                      </p:tavLst>
                                    </p:anim>
                                    <p:anim calcmode="lin" valueType="num">
                                      <p:cBhvr>
                                        <p:cTn id="58" dur="332" tmFilter="0, 0; 0.125,0.2665; 0.25,0.4; 0.375,0.465; 0.5,0.5;  0.625,0.535; 0.75,0.6; 0.875,0.7335; 1,1">
                                          <p:stCondLst>
                                            <p:cond delay="332"/>
                                          </p:stCondLst>
                                        </p:cTn>
                                        <p:tgtEl>
                                          <p:spTgt spid="5">
                                            <p:txEl>
                                              <p:pRg st="4" end="4"/>
                                            </p:txEl>
                                          </p:spTgt>
                                        </p:tgtEl>
                                        <p:attrNameLst>
                                          <p:attrName>ppt_y</p:attrName>
                                        </p:attrNameLst>
                                      </p:cBhvr>
                                      <p:tavLst>
                                        <p:tav tm="0" fmla="#ppt_y-sin(pi*$)/9">
                                          <p:val>
                                            <p:fltVal val="0"/>
                                          </p:val>
                                        </p:tav>
                                        <p:tav tm="100000">
                                          <p:val>
                                            <p:fltVal val="1"/>
                                          </p:val>
                                        </p:tav>
                                      </p:tavLst>
                                    </p:anim>
                                    <p:anim calcmode="lin" valueType="num">
                                      <p:cBhvr>
                                        <p:cTn id="59" dur="166" tmFilter="0, 0; 0.125,0.2665; 0.25,0.4; 0.375,0.465; 0.5,0.5;  0.625,0.535; 0.75,0.6; 0.875,0.7335; 1,1">
                                          <p:stCondLst>
                                            <p:cond delay="662"/>
                                          </p:stCondLst>
                                        </p:cTn>
                                        <p:tgtEl>
                                          <p:spTgt spid="5">
                                            <p:txEl>
                                              <p:pRg st="4" end="4"/>
                                            </p:txEl>
                                          </p:spTgt>
                                        </p:tgtEl>
                                        <p:attrNameLst>
                                          <p:attrName>ppt_y</p:attrName>
                                        </p:attrNameLst>
                                      </p:cBhvr>
                                      <p:tavLst>
                                        <p:tav tm="0" fmla="#ppt_y-sin(pi*$)/27">
                                          <p:val>
                                            <p:fltVal val="0"/>
                                          </p:val>
                                        </p:tav>
                                        <p:tav tm="100000">
                                          <p:val>
                                            <p:fltVal val="1"/>
                                          </p:val>
                                        </p:tav>
                                      </p:tavLst>
                                    </p:anim>
                                    <p:anim calcmode="lin" valueType="num">
                                      <p:cBhvr>
                                        <p:cTn id="60" dur="82" tmFilter="0, 0; 0.125,0.2665; 0.25,0.4; 0.375,0.465; 0.5,0.5;  0.625,0.535; 0.75,0.6; 0.875,0.7335; 1,1">
                                          <p:stCondLst>
                                            <p:cond delay="828"/>
                                          </p:stCondLst>
                                        </p:cTn>
                                        <p:tgtEl>
                                          <p:spTgt spid="5">
                                            <p:txEl>
                                              <p:pRg st="4" end="4"/>
                                            </p:txEl>
                                          </p:spTgt>
                                        </p:tgtEl>
                                        <p:attrNameLst>
                                          <p:attrName>ppt_y</p:attrName>
                                        </p:attrNameLst>
                                      </p:cBhvr>
                                      <p:tavLst>
                                        <p:tav tm="0" fmla="#ppt_y-sin(pi*$)/81">
                                          <p:val>
                                            <p:fltVal val="0"/>
                                          </p:val>
                                        </p:tav>
                                        <p:tav tm="100000">
                                          <p:val>
                                            <p:fltVal val="1"/>
                                          </p:val>
                                        </p:tav>
                                      </p:tavLst>
                                    </p:anim>
                                    <p:animScale>
                                      <p:cBhvr>
                                        <p:cTn id="61" dur="13">
                                          <p:stCondLst>
                                            <p:cond delay="325"/>
                                          </p:stCondLst>
                                        </p:cTn>
                                        <p:tgtEl>
                                          <p:spTgt spid="5">
                                            <p:txEl>
                                              <p:pRg st="4" end="4"/>
                                            </p:txEl>
                                          </p:spTgt>
                                        </p:tgtEl>
                                      </p:cBhvr>
                                      <p:to x="100000" y="60000"/>
                                    </p:animScale>
                                    <p:animScale>
                                      <p:cBhvr>
                                        <p:cTn id="62" dur="83" decel="50000">
                                          <p:stCondLst>
                                            <p:cond delay="338"/>
                                          </p:stCondLst>
                                        </p:cTn>
                                        <p:tgtEl>
                                          <p:spTgt spid="5">
                                            <p:txEl>
                                              <p:pRg st="4" end="4"/>
                                            </p:txEl>
                                          </p:spTgt>
                                        </p:tgtEl>
                                      </p:cBhvr>
                                      <p:to x="100000" y="100000"/>
                                    </p:animScale>
                                    <p:animScale>
                                      <p:cBhvr>
                                        <p:cTn id="63" dur="13">
                                          <p:stCondLst>
                                            <p:cond delay="656"/>
                                          </p:stCondLst>
                                        </p:cTn>
                                        <p:tgtEl>
                                          <p:spTgt spid="5">
                                            <p:txEl>
                                              <p:pRg st="4" end="4"/>
                                            </p:txEl>
                                          </p:spTgt>
                                        </p:tgtEl>
                                      </p:cBhvr>
                                      <p:to x="100000" y="80000"/>
                                    </p:animScale>
                                    <p:animScale>
                                      <p:cBhvr>
                                        <p:cTn id="64" dur="83" decel="50000">
                                          <p:stCondLst>
                                            <p:cond delay="669"/>
                                          </p:stCondLst>
                                        </p:cTn>
                                        <p:tgtEl>
                                          <p:spTgt spid="5">
                                            <p:txEl>
                                              <p:pRg st="4" end="4"/>
                                            </p:txEl>
                                          </p:spTgt>
                                        </p:tgtEl>
                                      </p:cBhvr>
                                      <p:to x="100000" y="100000"/>
                                    </p:animScale>
                                    <p:animScale>
                                      <p:cBhvr>
                                        <p:cTn id="65" dur="13">
                                          <p:stCondLst>
                                            <p:cond delay="821"/>
                                          </p:stCondLst>
                                        </p:cTn>
                                        <p:tgtEl>
                                          <p:spTgt spid="5">
                                            <p:txEl>
                                              <p:pRg st="4" end="4"/>
                                            </p:txEl>
                                          </p:spTgt>
                                        </p:tgtEl>
                                      </p:cBhvr>
                                      <p:to x="100000" y="90000"/>
                                    </p:animScale>
                                    <p:animScale>
                                      <p:cBhvr>
                                        <p:cTn id="66" dur="83" decel="50000">
                                          <p:stCondLst>
                                            <p:cond delay="834"/>
                                          </p:stCondLst>
                                        </p:cTn>
                                        <p:tgtEl>
                                          <p:spTgt spid="5">
                                            <p:txEl>
                                              <p:pRg st="4" end="4"/>
                                            </p:txEl>
                                          </p:spTgt>
                                        </p:tgtEl>
                                      </p:cBhvr>
                                      <p:to x="100000" y="100000"/>
                                    </p:animScale>
                                    <p:animScale>
                                      <p:cBhvr>
                                        <p:cTn id="67" dur="13">
                                          <p:stCondLst>
                                            <p:cond delay="904"/>
                                          </p:stCondLst>
                                        </p:cTn>
                                        <p:tgtEl>
                                          <p:spTgt spid="5">
                                            <p:txEl>
                                              <p:pRg st="4" end="4"/>
                                            </p:txEl>
                                          </p:spTgt>
                                        </p:tgtEl>
                                      </p:cBhvr>
                                      <p:to x="100000" y="95000"/>
                                    </p:animScale>
                                    <p:animScale>
                                      <p:cBhvr>
                                        <p:cTn id="68" dur="83" decel="50000">
                                          <p:stCondLst>
                                            <p:cond delay="917"/>
                                          </p:stCondLst>
                                        </p:cTn>
                                        <p:tgtEl>
                                          <p:spTgt spid="5">
                                            <p:txEl>
                                              <p:pRg st="4" end="4"/>
                                            </p:txEl>
                                          </p:spTgt>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5">
                                            <p:txEl>
                                              <p:pRg st="5" end="5"/>
                                            </p:txEl>
                                          </p:spTgt>
                                        </p:tgtEl>
                                        <p:attrNameLst>
                                          <p:attrName>style.visibility</p:attrName>
                                        </p:attrNameLst>
                                      </p:cBhvr>
                                      <p:to>
                                        <p:strVal val="visible"/>
                                      </p:to>
                                    </p:set>
                                    <p:animEffect transition="in" filter="wipe(down)">
                                      <p:cBhvr>
                                        <p:cTn id="71" dur="290">
                                          <p:stCondLst>
                                            <p:cond delay="0"/>
                                          </p:stCondLst>
                                        </p:cTn>
                                        <p:tgtEl>
                                          <p:spTgt spid="5">
                                            <p:txEl>
                                              <p:pRg st="5" end="5"/>
                                            </p:txEl>
                                          </p:spTgt>
                                        </p:tgtEl>
                                      </p:cBhvr>
                                    </p:animEffect>
                                    <p:anim calcmode="lin" valueType="num">
                                      <p:cBhvr>
                                        <p:cTn id="72" dur="911" tmFilter="0,0; 0.14,0.36; 0.43,0.73; 0.71,0.91; 1.0,1.0">
                                          <p:stCondLst>
                                            <p:cond delay="0"/>
                                          </p:stCondLst>
                                        </p:cTn>
                                        <p:tgtEl>
                                          <p:spTgt spid="5">
                                            <p:txEl>
                                              <p:pRg st="5" end="5"/>
                                            </p:txEl>
                                          </p:spTgt>
                                        </p:tgtEl>
                                        <p:attrNameLst>
                                          <p:attrName>ppt_x</p:attrName>
                                        </p:attrNameLst>
                                      </p:cBhvr>
                                      <p:tavLst>
                                        <p:tav tm="0">
                                          <p:val>
                                            <p:strVal val="#ppt_x-0.25"/>
                                          </p:val>
                                        </p:tav>
                                        <p:tav tm="100000">
                                          <p:val>
                                            <p:strVal val="#ppt_x"/>
                                          </p:val>
                                        </p:tav>
                                      </p:tavLst>
                                    </p:anim>
                                    <p:anim calcmode="lin" valueType="num">
                                      <p:cBhvr>
                                        <p:cTn id="73" dur="332" tmFilter="0.0,0.0; 0.25,0.07; 0.50,0.2; 0.75,0.467; 1.0,1.0">
                                          <p:stCondLst>
                                            <p:cond delay="0"/>
                                          </p:stCondLst>
                                        </p:cTn>
                                        <p:tgtEl>
                                          <p:spTgt spid="5">
                                            <p:txEl>
                                              <p:pRg st="5" end="5"/>
                                            </p:txEl>
                                          </p:spTgt>
                                        </p:tgtEl>
                                        <p:attrNameLst>
                                          <p:attrName>ppt_y</p:attrName>
                                        </p:attrNameLst>
                                      </p:cBhvr>
                                      <p:tavLst>
                                        <p:tav tm="0" fmla="#ppt_y-sin(pi*$)/3">
                                          <p:val>
                                            <p:fltVal val="0.5"/>
                                          </p:val>
                                        </p:tav>
                                        <p:tav tm="100000">
                                          <p:val>
                                            <p:fltVal val="1"/>
                                          </p:val>
                                        </p:tav>
                                      </p:tavLst>
                                    </p:anim>
                                    <p:anim calcmode="lin" valueType="num">
                                      <p:cBhvr>
                                        <p:cTn id="74" dur="332" tmFilter="0, 0; 0.125,0.2665; 0.25,0.4; 0.375,0.465; 0.5,0.5;  0.625,0.535; 0.75,0.6; 0.875,0.7335; 1,1">
                                          <p:stCondLst>
                                            <p:cond delay="332"/>
                                          </p:stCondLst>
                                        </p:cTn>
                                        <p:tgtEl>
                                          <p:spTgt spid="5">
                                            <p:txEl>
                                              <p:pRg st="5" end="5"/>
                                            </p:txEl>
                                          </p:spTgt>
                                        </p:tgtEl>
                                        <p:attrNameLst>
                                          <p:attrName>ppt_y</p:attrName>
                                        </p:attrNameLst>
                                      </p:cBhvr>
                                      <p:tavLst>
                                        <p:tav tm="0" fmla="#ppt_y-sin(pi*$)/9">
                                          <p:val>
                                            <p:fltVal val="0"/>
                                          </p:val>
                                        </p:tav>
                                        <p:tav tm="100000">
                                          <p:val>
                                            <p:fltVal val="1"/>
                                          </p:val>
                                        </p:tav>
                                      </p:tavLst>
                                    </p:anim>
                                    <p:anim calcmode="lin" valueType="num">
                                      <p:cBhvr>
                                        <p:cTn id="75" dur="166" tmFilter="0, 0; 0.125,0.2665; 0.25,0.4; 0.375,0.465; 0.5,0.5;  0.625,0.535; 0.75,0.6; 0.875,0.7335; 1,1">
                                          <p:stCondLst>
                                            <p:cond delay="662"/>
                                          </p:stCondLst>
                                        </p:cTn>
                                        <p:tgtEl>
                                          <p:spTgt spid="5">
                                            <p:txEl>
                                              <p:pRg st="5" end="5"/>
                                            </p:txEl>
                                          </p:spTgt>
                                        </p:tgtEl>
                                        <p:attrNameLst>
                                          <p:attrName>ppt_y</p:attrName>
                                        </p:attrNameLst>
                                      </p:cBhvr>
                                      <p:tavLst>
                                        <p:tav tm="0" fmla="#ppt_y-sin(pi*$)/27">
                                          <p:val>
                                            <p:fltVal val="0"/>
                                          </p:val>
                                        </p:tav>
                                        <p:tav tm="100000">
                                          <p:val>
                                            <p:fltVal val="1"/>
                                          </p:val>
                                        </p:tav>
                                      </p:tavLst>
                                    </p:anim>
                                    <p:anim calcmode="lin" valueType="num">
                                      <p:cBhvr>
                                        <p:cTn id="76" dur="82" tmFilter="0, 0; 0.125,0.2665; 0.25,0.4; 0.375,0.465; 0.5,0.5;  0.625,0.535; 0.75,0.6; 0.875,0.7335; 1,1">
                                          <p:stCondLst>
                                            <p:cond delay="828"/>
                                          </p:stCondLst>
                                        </p:cTn>
                                        <p:tgtEl>
                                          <p:spTgt spid="5">
                                            <p:txEl>
                                              <p:pRg st="5" end="5"/>
                                            </p:txEl>
                                          </p:spTgt>
                                        </p:tgtEl>
                                        <p:attrNameLst>
                                          <p:attrName>ppt_y</p:attrName>
                                        </p:attrNameLst>
                                      </p:cBhvr>
                                      <p:tavLst>
                                        <p:tav tm="0" fmla="#ppt_y-sin(pi*$)/81">
                                          <p:val>
                                            <p:fltVal val="0"/>
                                          </p:val>
                                        </p:tav>
                                        <p:tav tm="100000">
                                          <p:val>
                                            <p:fltVal val="1"/>
                                          </p:val>
                                        </p:tav>
                                      </p:tavLst>
                                    </p:anim>
                                    <p:animScale>
                                      <p:cBhvr>
                                        <p:cTn id="77" dur="13">
                                          <p:stCondLst>
                                            <p:cond delay="325"/>
                                          </p:stCondLst>
                                        </p:cTn>
                                        <p:tgtEl>
                                          <p:spTgt spid="5">
                                            <p:txEl>
                                              <p:pRg st="5" end="5"/>
                                            </p:txEl>
                                          </p:spTgt>
                                        </p:tgtEl>
                                      </p:cBhvr>
                                      <p:to x="100000" y="60000"/>
                                    </p:animScale>
                                    <p:animScale>
                                      <p:cBhvr>
                                        <p:cTn id="78" dur="83" decel="50000">
                                          <p:stCondLst>
                                            <p:cond delay="338"/>
                                          </p:stCondLst>
                                        </p:cTn>
                                        <p:tgtEl>
                                          <p:spTgt spid="5">
                                            <p:txEl>
                                              <p:pRg st="5" end="5"/>
                                            </p:txEl>
                                          </p:spTgt>
                                        </p:tgtEl>
                                      </p:cBhvr>
                                      <p:to x="100000" y="100000"/>
                                    </p:animScale>
                                    <p:animScale>
                                      <p:cBhvr>
                                        <p:cTn id="79" dur="13">
                                          <p:stCondLst>
                                            <p:cond delay="656"/>
                                          </p:stCondLst>
                                        </p:cTn>
                                        <p:tgtEl>
                                          <p:spTgt spid="5">
                                            <p:txEl>
                                              <p:pRg st="5" end="5"/>
                                            </p:txEl>
                                          </p:spTgt>
                                        </p:tgtEl>
                                      </p:cBhvr>
                                      <p:to x="100000" y="80000"/>
                                    </p:animScale>
                                    <p:animScale>
                                      <p:cBhvr>
                                        <p:cTn id="80" dur="83" decel="50000">
                                          <p:stCondLst>
                                            <p:cond delay="669"/>
                                          </p:stCondLst>
                                        </p:cTn>
                                        <p:tgtEl>
                                          <p:spTgt spid="5">
                                            <p:txEl>
                                              <p:pRg st="5" end="5"/>
                                            </p:txEl>
                                          </p:spTgt>
                                        </p:tgtEl>
                                      </p:cBhvr>
                                      <p:to x="100000" y="100000"/>
                                    </p:animScale>
                                    <p:animScale>
                                      <p:cBhvr>
                                        <p:cTn id="81" dur="13">
                                          <p:stCondLst>
                                            <p:cond delay="821"/>
                                          </p:stCondLst>
                                        </p:cTn>
                                        <p:tgtEl>
                                          <p:spTgt spid="5">
                                            <p:txEl>
                                              <p:pRg st="5" end="5"/>
                                            </p:txEl>
                                          </p:spTgt>
                                        </p:tgtEl>
                                      </p:cBhvr>
                                      <p:to x="100000" y="90000"/>
                                    </p:animScale>
                                    <p:animScale>
                                      <p:cBhvr>
                                        <p:cTn id="82" dur="83" decel="50000">
                                          <p:stCondLst>
                                            <p:cond delay="834"/>
                                          </p:stCondLst>
                                        </p:cTn>
                                        <p:tgtEl>
                                          <p:spTgt spid="5">
                                            <p:txEl>
                                              <p:pRg st="5" end="5"/>
                                            </p:txEl>
                                          </p:spTgt>
                                        </p:tgtEl>
                                      </p:cBhvr>
                                      <p:to x="100000" y="100000"/>
                                    </p:animScale>
                                    <p:animScale>
                                      <p:cBhvr>
                                        <p:cTn id="83" dur="13">
                                          <p:stCondLst>
                                            <p:cond delay="904"/>
                                          </p:stCondLst>
                                        </p:cTn>
                                        <p:tgtEl>
                                          <p:spTgt spid="5">
                                            <p:txEl>
                                              <p:pRg st="5" end="5"/>
                                            </p:txEl>
                                          </p:spTgt>
                                        </p:tgtEl>
                                      </p:cBhvr>
                                      <p:to x="100000" y="95000"/>
                                    </p:animScale>
                                    <p:animScale>
                                      <p:cBhvr>
                                        <p:cTn id="84" dur="83" decel="50000">
                                          <p:stCondLst>
                                            <p:cond delay="917"/>
                                          </p:stCondLst>
                                        </p:cTn>
                                        <p:tgtEl>
                                          <p:spTgt spid="5">
                                            <p:txEl>
                                              <p:pRg st="5" end="5"/>
                                            </p:txEl>
                                          </p:spTgt>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5">
                                            <p:txEl>
                                              <p:pRg st="6" end="6"/>
                                            </p:txEl>
                                          </p:spTgt>
                                        </p:tgtEl>
                                        <p:attrNameLst>
                                          <p:attrName>style.visibility</p:attrName>
                                        </p:attrNameLst>
                                      </p:cBhvr>
                                      <p:to>
                                        <p:strVal val="visible"/>
                                      </p:to>
                                    </p:set>
                                    <p:animEffect transition="in" filter="wipe(down)">
                                      <p:cBhvr>
                                        <p:cTn id="87" dur="290">
                                          <p:stCondLst>
                                            <p:cond delay="0"/>
                                          </p:stCondLst>
                                        </p:cTn>
                                        <p:tgtEl>
                                          <p:spTgt spid="5">
                                            <p:txEl>
                                              <p:pRg st="6" end="6"/>
                                            </p:txEl>
                                          </p:spTgt>
                                        </p:tgtEl>
                                      </p:cBhvr>
                                    </p:animEffect>
                                    <p:anim calcmode="lin" valueType="num">
                                      <p:cBhvr>
                                        <p:cTn id="88" dur="911" tmFilter="0,0; 0.14,0.36; 0.43,0.73; 0.71,0.91; 1.0,1.0">
                                          <p:stCondLst>
                                            <p:cond delay="0"/>
                                          </p:stCondLst>
                                        </p:cTn>
                                        <p:tgtEl>
                                          <p:spTgt spid="5">
                                            <p:txEl>
                                              <p:pRg st="6" end="6"/>
                                            </p:txEl>
                                          </p:spTgt>
                                        </p:tgtEl>
                                        <p:attrNameLst>
                                          <p:attrName>ppt_x</p:attrName>
                                        </p:attrNameLst>
                                      </p:cBhvr>
                                      <p:tavLst>
                                        <p:tav tm="0">
                                          <p:val>
                                            <p:strVal val="#ppt_x-0.25"/>
                                          </p:val>
                                        </p:tav>
                                        <p:tav tm="100000">
                                          <p:val>
                                            <p:strVal val="#ppt_x"/>
                                          </p:val>
                                        </p:tav>
                                      </p:tavLst>
                                    </p:anim>
                                    <p:anim calcmode="lin" valueType="num">
                                      <p:cBhvr>
                                        <p:cTn id="89" dur="332" tmFilter="0.0,0.0; 0.25,0.07; 0.50,0.2; 0.75,0.467; 1.0,1.0">
                                          <p:stCondLst>
                                            <p:cond delay="0"/>
                                          </p:stCondLst>
                                        </p:cTn>
                                        <p:tgtEl>
                                          <p:spTgt spid="5">
                                            <p:txEl>
                                              <p:pRg st="6" end="6"/>
                                            </p:txEl>
                                          </p:spTgt>
                                        </p:tgtEl>
                                        <p:attrNameLst>
                                          <p:attrName>ppt_y</p:attrName>
                                        </p:attrNameLst>
                                      </p:cBhvr>
                                      <p:tavLst>
                                        <p:tav tm="0" fmla="#ppt_y-sin(pi*$)/3">
                                          <p:val>
                                            <p:fltVal val="0.5"/>
                                          </p:val>
                                        </p:tav>
                                        <p:tav tm="100000">
                                          <p:val>
                                            <p:fltVal val="1"/>
                                          </p:val>
                                        </p:tav>
                                      </p:tavLst>
                                    </p:anim>
                                    <p:anim calcmode="lin" valueType="num">
                                      <p:cBhvr>
                                        <p:cTn id="90" dur="332" tmFilter="0, 0; 0.125,0.2665; 0.25,0.4; 0.375,0.465; 0.5,0.5;  0.625,0.535; 0.75,0.6; 0.875,0.7335; 1,1">
                                          <p:stCondLst>
                                            <p:cond delay="332"/>
                                          </p:stCondLst>
                                        </p:cTn>
                                        <p:tgtEl>
                                          <p:spTgt spid="5">
                                            <p:txEl>
                                              <p:pRg st="6" end="6"/>
                                            </p:txEl>
                                          </p:spTgt>
                                        </p:tgtEl>
                                        <p:attrNameLst>
                                          <p:attrName>ppt_y</p:attrName>
                                        </p:attrNameLst>
                                      </p:cBhvr>
                                      <p:tavLst>
                                        <p:tav tm="0" fmla="#ppt_y-sin(pi*$)/9">
                                          <p:val>
                                            <p:fltVal val="0"/>
                                          </p:val>
                                        </p:tav>
                                        <p:tav tm="100000">
                                          <p:val>
                                            <p:fltVal val="1"/>
                                          </p:val>
                                        </p:tav>
                                      </p:tavLst>
                                    </p:anim>
                                    <p:anim calcmode="lin" valueType="num">
                                      <p:cBhvr>
                                        <p:cTn id="91" dur="166" tmFilter="0, 0; 0.125,0.2665; 0.25,0.4; 0.375,0.465; 0.5,0.5;  0.625,0.535; 0.75,0.6; 0.875,0.7335; 1,1">
                                          <p:stCondLst>
                                            <p:cond delay="662"/>
                                          </p:stCondLst>
                                        </p:cTn>
                                        <p:tgtEl>
                                          <p:spTgt spid="5">
                                            <p:txEl>
                                              <p:pRg st="6" end="6"/>
                                            </p:txEl>
                                          </p:spTgt>
                                        </p:tgtEl>
                                        <p:attrNameLst>
                                          <p:attrName>ppt_y</p:attrName>
                                        </p:attrNameLst>
                                      </p:cBhvr>
                                      <p:tavLst>
                                        <p:tav tm="0" fmla="#ppt_y-sin(pi*$)/27">
                                          <p:val>
                                            <p:fltVal val="0"/>
                                          </p:val>
                                        </p:tav>
                                        <p:tav tm="100000">
                                          <p:val>
                                            <p:fltVal val="1"/>
                                          </p:val>
                                        </p:tav>
                                      </p:tavLst>
                                    </p:anim>
                                    <p:anim calcmode="lin" valueType="num">
                                      <p:cBhvr>
                                        <p:cTn id="92" dur="82" tmFilter="0, 0; 0.125,0.2665; 0.25,0.4; 0.375,0.465; 0.5,0.5;  0.625,0.535; 0.75,0.6; 0.875,0.7335; 1,1">
                                          <p:stCondLst>
                                            <p:cond delay="828"/>
                                          </p:stCondLst>
                                        </p:cTn>
                                        <p:tgtEl>
                                          <p:spTgt spid="5">
                                            <p:txEl>
                                              <p:pRg st="6" end="6"/>
                                            </p:txEl>
                                          </p:spTgt>
                                        </p:tgtEl>
                                        <p:attrNameLst>
                                          <p:attrName>ppt_y</p:attrName>
                                        </p:attrNameLst>
                                      </p:cBhvr>
                                      <p:tavLst>
                                        <p:tav tm="0" fmla="#ppt_y-sin(pi*$)/81">
                                          <p:val>
                                            <p:fltVal val="0"/>
                                          </p:val>
                                        </p:tav>
                                        <p:tav tm="100000">
                                          <p:val>
                                            <p:fltVal val="1"/>
                                          </p:val>
                                        </p:tav>
                                      </p:tavLst>
                                    </p:anim>
                                    <p:animScale>
                                      <p:cBhvr>
                                        <p:cTn id="93" dur="13">
                                          <p:stCondLst>
                                            <p:cond delay="325"/>
                                          </p:stCondLst>
                                        </p:cTn>
                                        <p:tgtEl>
                                          <p:spTgt spid="5">
                                            <p:txEl>
                                              <p:pRg st="6" end="6"/>
                                            </p:txEl>
                                          </p:spTgt>
                                        </p:tgtEl>
                                      </p:cBhvr>
                                      <p:to x="100000" y="60000"/>
                                    </p:animScale>
                                    <p:animScale>
                                      <p:cBhvr>
                                        <p:cTn id="94" dur="83" decel="50000">
                                          <p:stCondLst>
                                            <p:cond delay="338"/>
                                          </p:stCondLst>
                                        </p:cTn>
                                        <p:tgtEl>
                                          <p:spTgt spid="5">
                                            <p:txEl>
                                              <p:pRg st="6" end="6"/>
                                            </p:txEl>
                                          </p:spTgt>
                                        </p:tgtEl>
                                      </p:cBhvr>
                                      <p:to x="100000" y="100000"/>
                                    </p:animScale>
                                    <p:animScale>
                                      <p:cBhvr>
                                        <p:cTn id="95" dur="13">
                                          <p:stCondLst>
                                            <p:cond delay="656"/>
                                          </p:stCondLst>
                                        </p:cTn>
                                        <p:tgtEl>
                                          <p:spTgt spid="5">
                                            <p:txEl>
                                              <p:pRg st="6" end="6"/>
                                            </p:txEl>
                                          </p:spTgt>
                                        </p:tgtEl>
                                      </p:cBhvr>
                                      <p:to x="100000" y="80000"/>
                                    </p:animScale>
                                    <p:animScale>
                                      <p:cBhvr>
                                        <p:cTn id="96" dur="83" decel="50000">
                                          <p:stCondLst>
                                            <p:cond delay="669"/>
                                          </p:stCondLst>
                                        </p:cTn>
                                        <p:tgtEl>
                                          <p:spTgt spid="5">
                                            <p:txEl>
                                              <p:pRg st="6" end="6"/>
                                            </p:txEl>
                                          </p:spTgt>
                                        </p:tgtEl>
                                      </p:cBhvr>
                                      <p:to x="100000" y="100000"/>
                                    </p:animScale>
                                    <p:animScale>
                                      <p:cBhvr>
                                        <p:cTn id="97" dur="13">
                                          <p:stCondLst>
                                            <p:cond delay="821"/>
                                          </p:stCondLst>
                                        </p:cTn>
                                        <p:tgtEl>
                                          <p:spTgt spid="5">
                                            <p:txEl>
                                              <p:pRg st="6" end="6"/>
                                            </p:txEl>
                                          </p:spTgt>
                                        </p:tgtEl>
                                      </p:cBhvr>
                                      <p:to x="100000" y="90000"/>
                                    </p:animScale>
                                    <p:animScale>
                                      <p:cBhvr>
                                        <p:cTn id="98" dur="83" decel="50000">
                                          <p:stCondLst>
                                            <p:cond delay="834"/>
                                          </p:stCondLst>
                                        </p:cTn>
                                        <p:tgtEl>
                                          <p:spTgt spid="5">
                                            <p:txEl>
                                              <p:pRg st="6" end="6"/>
                                            </p:txEl>
                                          </p:spTgt>
                                        </p:tgtEl>
                                      </p:cBhvr>
                                      <p:to x="100000" y="100000"/>
                                    </p:animScale>
                                    <p:animScale>
                                      <p:cBhvr>
                                        <p:cTn id="99" dur="13">
                                          <p:stCondLst>
                                            <p:cond delay="904"/>
                                          </p:stCondLst>
                                        </p:cTn>
                                        <p:tgtEl>
                                          <p:spTgt spid="5">
                                            <p:txEl>
                                              <p:pRg st="6" end="6"/>
                                            </p:txEl>
                                          </p:spTgt>
                                        </p:tgtEl>
                                      </p:cBhvr>
                                      <p:to x="100000" y="95000"/>
                                    </p:animScale>
                                    <p:animScale>
                                      <p:cBhvr>
                                        <p:cTn id="100" dur="83" decel="50000">
                                          <p:stCondLst>
                                            <p:cond delay="917"/>
                                          </p:stCondLst>
                                        </p:cTn>
                                        <p:tgtEl>
                                          <p:spTgt spid="5">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9ED61E1-9555-7373-FABD-08CC97CA9679}"/>
              </a:ext>
            </a:extLst>
          </p:cNvPr>
          <p:cNvSpPr>
            <a:spLocks noGrp="1"/>
          </p:cNvSpPr>
          <p:nvPr>
            <p:ph type="title"/>
          </p:nvPr>
        </p:nvSpPr>
        <p:spPr/>
        <p:txBody>
          <a:bodyPr/>
          <a:lstStyle/>
          <a:p>
            <a:r>
              <a:rPr lang="hu-HU" b="1" dirty="0">
                <a:solidFill>
                  <a:schemeClr val="bg1"/>
                </a:solidFill>
              </a:rPr>
              <a:t>Eredmények</a:t>
            </a:r>
          </a:p>
        </p:txBody>
      </p:sp>
      <p:sp>
        <p:nvSpPr>
          <p:cNvPr id="3" name="Tartalom helye 2">
            <a:extLst>
              <a:ext uri="{FF2B5EF4-FFF2-40B4-BE49-F238E27FC236}">
                <a16:creationId xmlns:a16="http://schemas.microsoft.com/office/drawing/2014/main" id="{92E69E1D-146F-E82C-30D1-A2FFEBBFB25F}"/>
              </a:ext>
            </a:extLst>
          </p:cNvPr>
          <p:cNvSpPr>
            <a:spLocks noGrp="1"/>
          </p:cNvSpPr>
          <p:nvPr>
            <p:ph idx="1"/>
          </p:nvPr>
        </p:nvSpPr>
        <p:spPr/>
        <p:txBody>
          <a:bodyPr/>
          <a:lstStyle/>
          <a:p>
            <a:pPr>
              <a:lnSpc>
                <a:spcPct val="150000"/>
              </a:lnSpc>
            </a:pPr>
            <a:r>
              <a:rPr lang="hu-HU" dirty="0">
                <a:solidFill>
                  <a:schemeClr val="bg1"/>
                </a:solidFill>
              </a:rPr>
              <a:t>Központi menedzsment</a:t>
            </a:r>
          </a:p>
          <a:p>
            <a:pPr>
              <a:lnSpc>
                <a:spcPct val="150000"/>
              </a:lnSpc>
            </a:pPr>
            <a:r>
              <a:rPr lang="hu-HU" dirty="0">
                <a:solidFill>
                  <a:schemeClr val="bg1"/>
                </a:solidFill>
              </a:rPr>
              <a:t>Magas rendelkezésre állás</a:t>
            </a:r>
          </a:p>
          <a:p>
            <a:pPr>
              <a:lnSpc>
                <a:spcPct val="150000"/>
              </a:lnSpc>
            </a:pPr>
            <a:r>
              <a:rPr lang="hu-HU" dirty="0">
                <a:solidFill>
                  <a:schemeClr val="bg1"/>
                </a:solidFill>
              </a:rPr>
              <a:t>Skálázható infrastruktúra</a:t>
            </a:r>
          </a:p>
          <a:p>
            <a:pPr>
              <a:lnSpc>
                <a:spcPct val="150000"/>
              </a:lnSpc>
            </a:pPr>
            <a:r>
              <a:rPr lang="hu-HU" dirty="0">
                <a:solidFill>
                  <a:schemeClr val="bg1"/>
                </a:solidFill>
              </a:rPr>
              <a:t>Biztonságos jogosultságkezelés</a:t>
            </a:r>
          </a:p>
        </p:txBody>
      </p:sp>
    </p:spTree>
    <p:extLst>
      <p:ext uri="{BB962C8B-B14F-4D97-AF65-F5344CB8AC3E}">
        <p14:creationId xmlns:p14="http://schemas.microsoft.com/office/powerpoint/2010/main" val="3582283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0DFE52B-F7B0-46FA-A218-3FC774DC6028}"/>
              </a:ext>
            </a:extLst>
          </p:cNvPr>
          <p:cNvSpPr>
            <a:spLocks noGrp="1"/>
          </p:cNvSpPr>
          <p:nvPr>
            <p:ph type="title"/>
          </p:nvPr>
        </p:nvSpPr>
        <p:spPr/>
        <p:txBody>
          <a:bodyPr/>
          <a:lstStyle/>
          <a:p>
            <a:r>
              <a:rPr lang="hu-HU" b="1" dirty="0">
                <a:solidFill>
                  <a:schemeClr val="bg1"/>
                </a:solidFill>
              </a:rPr>
              <a:t>Továbbfejlesztési lehetőségek</a:t>
            </a:r>
          </a:p>
        </p:txBody>
      </p:sp>
      <p:sp>
        <p:nvSpPr>
          <p:cNvPr id="3" name="Tartalom helye 2">
            <a:extLst>
              <a:ext uri="{FF2B5EF4-FFF2-40B4-BE49-F238E27FC236}">
                <a16:creationId xmlns:a16="http://schemas.microsoft.com/office/drawing/2014/main" id="{0106E9DF-D7B0-41C6-2FDF-EC88C93C605A}"/>
              </a:ext>
            </a:extLst>
          </p:cNvPr>
          <p:cNvSpPr>
            <a:spLocks noGrp="1"/>
          </p:cNvSpPr>
          <p:nvPr>
            <p:ph idx="1"/>
          </p:nvPr>
        </p:nvSpPr>
        <p:spPr/>
        <p:txBody>
          <a:bodyPr/>
          <a:lstStyle/>
          <a:p>
            <a:pPr>
              <a:lnSpc>
                <a:spcPct val="150000"/>
              </a:lnSpc>
            </a:pPr>
            <a:r>
              <a:rPr lang="hu-HU" dirty="0">
                <a:solidFill>
                  <a:schemeClr val="bg1"/>
                </a:solidFill>
              </a:rPr>
              <a:t>MFA a management részére</a:t>
            </a:r>
          </a:p>
          <a:p>
            <a:pPr>
              <a:lnSpc>
                <a:spcPct val="150000"/>
              </a:lnSpc>
            </a:pPr>
            <a:r>
              <a:rPr lang="hu-HU" dirty="0" err="1">
                <a:solidFill>
                  <a:schemeClr val="bg1"/>
                </a:solidFill>
              </a:rPr>
              <a:t>Azure</a:t>
            </a:r>
            <a:r>
              <a:rPr lang="hu-HU" dirty="0">
                <a:solidFill>
                  <a:schemeClr val="bg1"/>
                </a:solidFill>
              </a:rPr>
              <a:t> Site </a:t>
            </a:r>
            <a:r>
              <a:rPr lang="hu-HU" dirty="0" err="1">
                <a:solidFill>
                  <a:schemeClr val="bg1"/>
                </a:solidFill>
              </a:rPr>
              <a:t>Recovery</a:t>
            </a:r>
            <a:endParaRPr lang="hu-HU" dirty="0">
              <a:solidFill>
                <a:schemeClr val="bg1"/>
              </a:solidFill>
            </a:endParaRPr>
          </a:p>
          <a:p>
            <a:pPr>
              <a:lnSpc>
                <a:spcPct val="150000"/>
              </a:lnSpc>
            </a:pPr>
            <a:r>
              <a:rPr lang="hu-HU" dirty="0">
                <a:solidFill>
                  <a:schemeClr val="bg1"/>
                </a:solidFill>
              </a:rPr>
              <a:t>SIEM bevezetése</a:t>
            </a:r>
          </a:p>
          <a:p>
            <a:pPr>
              <a:lnSpc>
                <a:spcPct val="150000"/>
              </a:lnSpc>
            </a:pPr>
            <a:r>
              <a:rPr lang="hu-HU" dirty="0">
                <a:solidFill>
                  <a:schemeClr val="bg1"/>
                </a:solidFill>
              </a:rPr>
              <a:t>Patch management finomítása (WSUS)</a:t>
            </a:r>
          </a:p>
          <a:p>
            <a:pPr>
              <a:lnSpc>
                <a:spcPct val="150000"/>
              </a:lnSpc>
            </a:pPr>
            <a:r>
              <a:rPr lang="hu-HU" dirty="0" err="1">
                <a:solidFill>
                  <a:schemeClr val="bg1"/>
                </a:solidFill>
              </a:rPr>
              <a:t>Zero</a:t>
            </a:r>
            <a:r>
              <a:rPr lang="hu-HU" dirty="0">
                <a:solidFill>
                  <a:schemeClr val="bg1"/>
                </a:solidFill>
              </a:rPr>
              <a:t> </a:t>
            </a:r>
            <a:r>
              <a:rPr lang="hu-HU" dirty="0" err="1">
                <a:solidFill>
                  <a:schemeClr val="bg1"/>
                </a:solidFill>
              </a:rPr>
              <a:t>Trust</a:t>
            </a:r>
            <a:r>
              <a:rPr lang="hu-HU" dirty="0">
                <a:solidFill>
                  <a:schemeClr val="bg1"/>
                </a:solidFill>
              </a:rPr>
              <a:t> modell alkalmazása</a:t>
            </a:r>
          </a:p>
        </p:txBody>
      </p:sp>
    </p:spTree>
    <p:extLst>
      <p:ext uri="{BB962C8B-B14F-4D97-AF65-F5344CB8AC3E}">
        <p14:creationId xmlns:p14="http://schemas.microsoft.com/office/powerpoint/2010/main" val="28821067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3EB9F68-051A-1F51-0278-2B23CAEEC14C}"/>
              </a:ext>
            </a:extLst>
          </p:cNvPr>
          <p:cNvSpPr>
            <a:spLocks noGrp="1"/>
          </p:cNvSpPr>
          <p:nvPr>
            <p:ph type="title"/>
          </p:nvPr>
        </p:nvSpPr>
        <p:spPr>
          <a:xfrm>
            <a:off x="838200" y="2766218"/>
            <a:ext cx="10515600" cy="1325563"/>
          </a:xfrm>
        </p:spPr>
        <p:txBody>
          <a:bodyPr/>
          <a:lstStyle/>
          <a:p>
            <a:pPr algn="ctr"/>
            <a:r>
              <a:rPr lang="hu-HU" b="1" dirty="0">
                <a:solidFill>
                  <a:schemeClr val="bg1"/>
                </a:solidFill>
              </a:rPr>
              <a:t>Köszönöm a figyelmet!</a:t>
            </a:r>
          </a:p>
        </p:txBody>
      </p:sp>
    </p:spTree>
    <p:extLst>
      <p:ext uri="{BB962C8B-B14F-4D97-AF65-F5344CB8AC3E}">
        <p14:creationId xmlns:p14="http://schemas.microsoft.com/office/powerpoint/2010/main" val="19195627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la">
  <a:themeElements>
    <a:clrScheme name="Pal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Pal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l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TM04033929[[fn=Pala]]</Template>
  <TotalTime>113</TotalTime>
  <Words>3505</Words>
  <Application>Microsoft Office PowerPoint</Application>
  <PresentationFormat>Szélesvásznú</PresentationFormat>
  <Paragraphs>328</Paragraphs>
  <Slides>51</Slides>
  <Notes>45</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51</vt:i4>
      </vt:variant>
    </vt:vector>
  </HeadingPairs>
  <TitlesOfParts>
    <vt:vector size="56" baseType="lpstr">
      <vt:lpstr>Arial</vt:lpstr>
      <vt:lpstr>Calibri</vt:lpstr>
      <vt:lpstr>Calisto MT</vt:lpstr>
      <vt:lpstr>Wingdings 2</vt:lpstr>
      <vt:lpstr>Pala</vt:lpstr>
      <vt:lpstr>PowerPoint-bemutató</vt:lpstr>
      <vt:lpstr>Bemutatkozás</vt:lpstr>
      <vt:lpstr>Informatikai célkitűzések</vt:lpstr>
      <vt:lpstr>Telephelyeink</vt:lpstr>
      <vt:lpstr>Hálózati topológia</vt:lpstr>
      <vt:lpstr>Iroda telephely</vt:lpstr>
      <vt:lpstr>Gyárüzem telephely</vt:lpstr>
      <vt:lpstr>Szaküzlet telephely</vt:lpstr>
      <vt:lpstr>OceanData adatközpont telephely</vt:lpstr>
      <vt:lpstr>Az internetszolgáltató leszimulálása</vt:lpstr>
      <vt:lpstr>Access Control List</vt:lpstr>
      <vt:lpstr>DHCP</vt:lpstr>
      <vt:lpstr>DHCP Snooping</vt:lpstr>
      <vt:lpstr>GRE Tunnel</vt:lpstr>
      <vt:lpstr>Hot Standby Routing Protocol</vt:lpstr>
      <vt:lpstr>Network Address Translation, Port Address Translation</vt:lpstr>
      <vt:lpstr>EIGRP</vt:lpstr>
      <vt:lpstr>Spanning Tree, and EtherChannel</vt:lpstr>
      <vt:lpstr>Secure Shell</vt:lpstr>
      <vt:lpstr>Switchport security</vt:lpstr>
      <vt:lpstr>ASA Hardware Firewall</vt:lpstr>
      <vt:lpstr>Possible Advancements In The Near Future</vt:lpstr>
      <vt:lpstr>Active Directory szerepe</vt:lpstr>
      <vt:lpstr>Domain struktúra</vt:lpstr>
      <vt:lpstr>Jelszóházirend</vt:lpstr>
      <vt:lpstr>Csoportalapú jogosultságkezelés</vt:lpstr>
      <vt:lpstr>Domain Controller architektúra</vt:lpstr>
      <vt:lpstr>DNS szerepe és redundancia</vt:lpstr>
      <vt:lpstr>GPO szerepe</vt:lpstr>
      <vt:lpstr>Közös meghajtó</vt:lpstr>
      <vt:lpstr>Részlegmeghajtók</vt:lpstr>
      <vt:lpstr>Domain háttérkép</vt:lpstr>
      <vt:lpstr>IT részleg GPO</vt:lpstr>
      <vt:lpstr>MSSQL Always On High Availability</vt:lpstr>
      <vt:lpstr>Architektúra</vt:lpstr>
      <vt:lpstr>Működés</vt:lpstr>
      <vt:lpstr>File Share Witness és Quorum</vt:lpstr>
      <vt:lpstr>Group Managed Service Account (gMSA)</vt:lpstr>
      <vt:lpstr>Linux szerver</vt:lpstr>
      <vt:lpstr>Intranet rendszer</vt:lpstr>
      <vt:lpstr>Bejelentkezés és fájlkezelés</vt:lpstr>
      <vt:lpstr>Adatbázis </vt:lpstr>
      <vt:lpstr>phpMyAdmin  </vt:lpstr>
      <vt:lpstr>DHCP szolgáltatás  </vt:lpstr>
      <vt:lpstr>CRON mentések</vt:lpstr>
      <vt:lpstr>CUPS nyomtatási rendszer</vt:lpstr>
      <vt:lpstr>Nethely webhosting</vt:lpstr>
      <vt:lpstr>Linux összegzés</vt:lpstr>
      <vt:lpstr>Eredmények</vt:lpstr>
      <vt:lpstr>Továbbfejlesztési lehetőségek</vt:lpstr>
      <vt:lpstr>Köszönöm a figyelmet!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kálmán csutak</dc:creator>
  <cp:lastModifiedBy>kálmán csutak</cp:lastModifiedBy>
  <cp:revision>4</cp:revision>
  <dcterms:created xsi:type="dcterms:W3CDTF">2026-05-27T07:32:57Z</dcterms:created>
  <dcterms:modified xsi:type="dcterms:W3CDTF">2026-05-27T09:26:50Z</dcterms:modified>
</cp:coreProperties>
</file>