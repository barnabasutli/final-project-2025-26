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7E72A1-DCEB-C0D7-144D-3B36E3C9F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ED3F8A8-E88B-DAF7-D841-493D5D57E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EEC2EF-78F9-7B27-BF8B-952FD857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B81949-2137-E68B-DB08-A8BCD6A5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4B7D41-ACBB-0D15-36C2-D3A6A1DA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2231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94C500-AE06-1DF4-E563-2139D6B33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5B3A07-2894-2AAD-6B77-8EABE325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69DCC6-8B47-9366-C6FC-C18B8089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004229E-3C2A-FA67-FAD7-5FA52AA3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0C1C4C-4D3D-620F-96ED-F6E8A729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635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2CFF53-B860-81DE-3A3D-1595A678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3C04196-70D4-43A3-286F-4D974A781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E18EBA-87D4-72B3-0ACF-5DCCE3C0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DFF81BF-CA6D-291D-328D-0770E4AC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139E50-2133-A0FD-7C68-910EB4A2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322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757003-A21C-D3A0-F6D7-B7BED6E8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D188E3-A8A0-4F74-78AE-FFAF0E0CC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88BCC67-DDA8-C2FD-517C-CC9C90C48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53F743B-1A5B-F1B0-051C-4A3E26F0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6B65EB8-D29F-836E-81D9-71EABE0F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429D25B-E2D8-F7D9-67F1-53C2F0AA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4309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BE5824-AF3E-D7AB-0F30-122FCEF4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935E5B7-0003-67C5-A04C-3E204CCBB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7378E84-BBDA-BF93-724E-F07661E32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1A92132-3AA4-87F5-635A-4D022C703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D66B890-93EA-7D0A-C311-822456936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A95FE10-8B1D-5279-DF84-B086D0FA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F7AAD45-3118-B42C-29D4-02100A3D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1A377BD-7E2A-1AEB-4CEF-F1D80156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479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96F0C5-2B13-232B-B46D-059A5558F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30C14AF-82DC-F1B3-4E6A-375B8B3D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C3E43D5-098C-51FD-F2D9-8FA89C08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BC3FC3A-43E1-8FEA-B7ED-C53F717D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593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DA0AF40-DEA9-4714-9FA8-F435578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F737660-3DB8-FF58-BD96-19C4E92C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AA0DD0E-3AA7-5A7A-B663-A2CEC91E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063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506069-864D-73A9-32B0-4D3ED680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E583EF-8F8E-F45C-FB8E-5F749871E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6C071A3-8351-6FB2-62B0-64DD386B5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FDA3A99-8E28-23BC-2076-C00344F7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55E90E9-68EF-1DBB-1419-EFFCDA6D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555BF68-402D-4545-3758-28210369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265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09ADE8-869A-84E8-BC79-2B8B8DB92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04F07BB-4299-3CE7-9EA7-EA81F2BD5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6DC26D8-54C2-200F-8AB2-C1FDE3DE7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98DB97C-CF9F-7CC7-7A00-4D46C8A7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7B2E549-1D67-32D2-D6EC-B353CA10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84516C1-9C34-740E-F122-00D5E9FE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39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E04932-51F6-68C3-048C-769C609C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CC6EE22-41DB-D6F3-1E89-593882917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0E462F-4886-5A01-7CCB-4CC5D64F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B7D6868-AB74-BB6D-5C9A-93B3AD6C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79A1292-D93A-0050-186C-94A84994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3008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8CAEAAF-B4FE-9157-2845-407984C9C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220703E-CBEC-7DCA-AED6-C2BE802F5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16A5071-0C54-7525-B92F-F659D099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17D4A6-346A-25A7-409F-6DACE4FB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CA75CC-3EEB-792B-3AF5-63A8C35B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414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85000"/>
                <a:lumOff val="15000"/>
              </a:schemeClr>
            </a:gs>
            <a:gs pos="100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466F820-44CE-880E-59A7-A8F86086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8A0B297-6A56-0575-0CCB-410170320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3E61E9-9FBA-5624-7649-35DBFEC46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D99E6-559B-4424-821D-44BF482F5060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C21FBCC-E128-AF64-D11D-67C008E4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E995B6-FCFC-D99F-7C02-9E75A0C52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1D3DE-6CAE-49D9-8E7D-AE364AF008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64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79C91560-28E7-BEB6-FE2F-42BC6BB7A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0312"/>
            <a:ext cx="9144000" cy="914400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OSZTV Döntő</a:t>
            </a:r>
          </a:p>
          <a:p>
            <a:r>
              <a:rPr lang="hu-HU" dirty="0">
                <a:solidFill>
                  <a:schemeClr val="bg1"/>
                </a:solidFill>
              </a:rPr>
              <a:t>Előadó: Utli Barnabás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61DB333-F6D4-992F-E100-21E01E098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460" y="903288"/>
            <a:ext cx="2315080" cy="2387600"/>
          </a:xfrm>
          <a:prstGeom prst="rect">
            <a:avLst/>
          </a:prstGeom>
        </p:spPr>
      </p:pic>
      <p:pic>
        <p:nvPicPr>
          <p:cNvPr id="7" name="Kép 6" descr="A képen Betűtípus, tipográfia, Grafika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F866F06-B15D-8124-B1B2-4BC18FF8C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485" y="3567113"/>
            <a:ext cx="5437029" cy="82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0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8DBFB1-510C-106F-0883-62F8B2F6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Bemutatkozás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5EE22A-F329-F075-6408-09D4D8D8C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Prémium mechanikus és okosórák gyártása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Nemzetközi értékesítés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Saját fejlesztésű szerkezetek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 márka küldetése: </a:t>
            </a:r>
            <a:r>
              <a:rPr lang="hu-HU" i="1" dirty="0">
                <a:solidFill>
                  <a:schemeClr val="bg1"/>
                </a:solidFill>
              </a:rPr>
              <a:t>“Időt adunk formába öntve.”</a:t>
            </a:r>
          </a:p>
        </p:txBody>
      </p:sp>
    </p:spTree>
    <p:extLst>
      <p:ext uri="{BB962C8B-B14F-4D97-AF65-F5344CB8AC3E}">
        <p14:creationId xmlns:p14="http://schemas.microsoft.com/office/powerpoint/2010/main" val="364072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E66D63-5C8D-6811-7A91-74F41934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Telephelyeink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FB7D74-2666-4EED-CA64-58586FAC1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7524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Iroda – Vác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Gyárüzem és raktár – Göd Ipartelep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Szaküzlet – Budapest Deák Ferenc tér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Adatközpont – </a:t>
            </a:r>
            <a:r>
              <a:rPr lang="hu-HU" dirty="0" err="1">
                <a:solidFill>
                  <a:schemeClr val="bg1"/>
                </a:solidFill>
              </a:rPr>
              <a:t>OceanData</a:t>
            </a:r>
            <a:r>
              <a:rPr lang="hu-HU" dirty="0">
                <a:solidFill>
                  <a:schemeClr val="bg1"/>
                </a:solidFill>
              </a:rPr>
              <a:t> Kft. Budapest Váci út</a:t>
            </a:r>
          </a:p>
        </p:txBody>
      </p:sp>
      <p:pic>
        <p:nvPicPr>
          <p:cNvPr id="5" name="Tartalom helye 4" descr="A képen térkép, atlasz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85A9C36-16BC-81DE-D65E-35251374B4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797" y="1825625"/>
            <a:ext cx="3035003" cy="455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1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56B86A-727D-FDE8-4501-413FC0FD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Informatikai célkitűzések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5513BD-95DF-2D07-24E5-882BCB267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Központi felhasználókezelés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Jogosultság alapú hozzáférés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Magas rendelkezésre állás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Biztonságos adatkezelés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Skálázhatóság</a:t>
            </a:r>
          </a:p>
        </p:txBody>
      </p:sp>
    </p:spTree>
    <p:extLst>
      <p:ext uri="{BB962C8B-B14F-4D97-AF65-F5344CB8AC3E}">
        <p14:creationId xmlns:p14="http://schemas.microsoft.com/office/powerpoint/2010/main" val="225258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7343D6-C8F2-D95C-73D2-30B8FF2E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Hálózati topológia</a:t>
            </a:r>
          </a:p>
        </p:txBody>
      </p:sp>
      <p:pic>
        <p:nvPicPr>
          <p:cNvPr id="5" name="Tartalom helye 4" descr="A képen térkép, diagram, szöveg, so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AC71072-7C6F-D88D-E2A9-398ADA09D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143" y="1690688"/>
            <a:ext cx="8153714" cy="479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62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0ADD49-6333-4730-CF1D-C4F7DA0F9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Active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Directory</a:t>
            </a:r>
            <a:r>
              <a:rPr lang="hu-HU" b="1" dirty="0">
                <a:solidFill>
                  <a:schemeClr val="bg1"/>
                </a:solidFill>
              </a:rPr>
              <a:t>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5EDD9C-CE08-7B91-8D18-FA01D3A2F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Központi hitelesítés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Felhasználókezelés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Csoportalapú jogosultság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Erőforrás-hozzáférés szabályozása</a:t>
            </a:r>
          </a:p>
        </p:txBody>
      </p:sp>
    </p:spTree>
    <p:extLst>
      <p:ext uri="{BB962C8B-B14F-4D97-AF65-F5344CB8AC3E}">
        <p14:creationId xmlns:p14="http://schemas.microsoft.com/office/powerpoint/2010/main" val="3111721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057299-C548-8DC3-55D8-9B66C76E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Domain</a:t>
            </a:r>
            <a:r>
              <a:rPr lang="hu-HU" b="1" dirty="0">
                <a:solidFill>
                  <a:schemeClr val="bg1"/>
                </a:solidFill>
              </a:rPr>
              <a:t> struktúra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ADB65EA-2206-9F6E-1B34-8A188FF61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5812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Egydomaines</a:t>
            </a:r>
            <a:r>
              <a:rPr lang="hu-HU" dirty="0">
                <a:solidFill>
                  <a:schemeClr val="bg1"/>
                </a:solidFill>
              </a:rPr>
              <a:t> környezet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Részleg alapú OU-struktúra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Külön Service </a:t>
            </a:r>
            <a:r>
              <a:rPr lang="hu-HU" dirty="0" err="1">
                <a:solidFill>
                  <a:schemeClr val="bg1"/>
                </a:solidFill>
              </a:rPr>
              <a:t>Accounts</a:t>
            </a:r>
            <a:r>
              <a:rPr lang="hu-HU" dirty="0">
                <a:solidFill>
                  <a:schemeClr val="bg1"/>
                </a:solidFill>
              </a:rPr>
              <a:t> tároló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Célzott GPO alkalmazás OU szinten</a:t>
            </a:r>
          </a:p>
        </p:txBody>
      </p:sp>
      <p:pic>
        <p:nvPicPr>
          <p:cNvPr id="6" name="Tartalom helye 5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4C0D490-9886-09E7-1E26-FF27F8A2B8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04700" y="678846"/>
            <a:ext cx="2246308" cy="550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230E53-9566-10F7-FBA9-D8EB79CD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Jelszóházirend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58BD7A-C4EA-0DAB-BAF9-44D2CC152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20344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Kötelező jelszócsere első bejelentkezéskor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90 napos lejárat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5 korábbi jelszó megjegyzése</a:t>
            </a:r>
          </a:p>
        </p:txBody>
      </p:sp>
      <p:pic>
        <p:nvPicPr>
          <p:cNvPr id="6" name="Tartalom helye 5" descr="A képen szöveg, képernyőkép, szoftver, Web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251F1FB-3960-EA67-3D44-EF2AAEA841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392" y="1807952"/>
            <a:ext cx="7074408" cy="436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6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342DDE-1E0E-26A9-5A31-24EFBDEEA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Csoportalapú jogosultságkezelés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ADA089-55CD-F1CF-758F-71CE24B063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Security</a:t>
            </a:r>
            <a:r>
              <a:rPr lang="hu-HU" dirty="0">
                <a:solidFill>
                  <a:schemeClr val="bg1"/>
                </a:solidFill>
              </a:rPr>
              <a:t> Group alapú modell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Jogosultságok csoporthoz rendelve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Nem egyéni felhasználókhoz</a:t>
            </a:r>
          </a:p>
        </p:txBody>
      </p:sp>
      <p:pic>
        <p:nvPicPr>
          <p:cNvPr id="7" name="Tartalom helye 6" descr="A képen szöveg, képernyőkép, szoftver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E7EF6B3-AA6B-EC70-BCF9-6C0BC967A1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260" y="1867396"/>
            <a:ext cx="3429479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8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01367A-A795-C8D0-B4D6-69823641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Domain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Controller</a:t>
            </a:r>
            <a:r>
              <a:rPr lang="hu-HU" b="1" dirty="0">
                <a:solidFill>
                  <a:schemeClr val="bg1"/>
                </a:solidFill>
              </a:rPr>
              <a:t> architektúra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ED034E-2EB3-5CE3-8D7B-60BCE9CAC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35552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2 </a:t>
            </a:r>
            <a:r>
              <a:rPr lang="hu-HU" dirty="0" err="1">
                <a:solidFill>
                  <a:schemeClr val="bg1"/>
                </a:solidFill>
              </a:rPr>
              <a:t>Domain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Controller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AD-integrált DNS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Replikáció</a:t>
            </a:r>
          </a:p>
        </p:txBody>
      </p:sp>
      <p:pic>
        <p:nvPicPr>
          <p:cNvPr id="7" name="Tartalom helye 6" descr="A képen szöveg, képernyőkép, szoftver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940AAF1-6FB2-97B9-D4FC-D305A2D3CE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648" y="1991423"/>
            <a:ext cx="6166772" cy="411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3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AFB73D-4EDB-73B7-8B6B-E37111DE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DNS szerepe és redundancia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28C9EF-1AA1-EDDD-78D9-9B36F7AFD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0928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AD működés alapja</a:t>
            </a: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Forward</a:t>
            </a:r>
            <a:r>
              <a:rPr lang="hu-HU" dirty="0">
                <a:solidFill>
                  <a:schemeClr val="bg1"/>
                </a:solidFill>
              </a:rPr>
              <a:t> és </a:t>
            </a:r>
            <a:r>
              <a:rPr lang="hu-HU" dirty="0" err="1">
                <a:solidFill>
                  <a:schemeClr val="bg1"/>
                </a:solidFill>
              </a:rPr>
              <a:t>Reverse</a:t>
            </a:r>
            <a:r>
              <a:rPr lang="hu-HU" dirty="0">
                <a:solidFill>
                  <a:schemeClr val="bg1"/>
                </a:solidFill>
              </a:rPr>
              <a:t> zóna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Mindkét DC DNS szerver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Automatikus replikáció</a:t>
            </a:r>
          </a:p>
        </p:txBody>
      </p:sp>
      <p:pic>
        <p:nvPicPr>
          <p:cNvPr id="8" name="Tartalom helye 7" descr="A képen szöveg, képernyőkép, szoftver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FE2F8A5-2803-D4EB-092E-0077C3EEB5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65" y="2133536"/>
            <a:ext cx="6051535" cy="373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60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C9DB32-DFDF-24F5-1593-ED5FE8747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GPO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16F35FB-A8FA-8EAC-CB24-E513D858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Meghajtócsatolás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Vállalati arculat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Szoftvertelepítés</a:t>
            </a:r>
          </a:p>
        </p:txBody>
      </p:sp>
    </p:spTree>
    <p:extLst>
      <p:ext uri="{BB962C8B-B14F-4D97-AF65-F5344CB8AC3E}">
        <p14:creationId xmlns:p14="http://schemas.microsoft.com/office/powerpoint/2010/main" val="6986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FEB8C7-86F6-5001-DEC5-7C88B891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Közös meghajtó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D8BE0E-C3DB-5FC0-7DD9-AA657DE7FA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Minden dolgozó számára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Céges dokumentáció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Szabályzatok</a:t>
            </a:r>
          </a:p>
        </p:txBody>
      </p:sp>
      <p:pic>
        <p:nvPicPr>
          <p:cNvPr id="7" name="Tartalom helye 6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061CEC7-7B6F-CD07-0D41-96F54D9046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60" y="1874875"/>
            <a:ext cx="5730240" cy="412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21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F75959-92AB-C6E3-DC9F-1F48773F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Részlegmeghajtók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7521CC-B57D-5529-FBA4-A3A740B31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578352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Csak megfelelő </a:t>
            </a:r>
            <a:r>
              <a:rPr lang="hu-HU" dirty="0" err="1">
                <a:solidFill>
                  <a:schemeClr val="bg1"/>
                </a:solidFill>
              </a:rPr>
              <a:t>Security</a:t>
            </a:r>
            <a:r>
              <a:rPr lang="hu-HU" dirty="0">
                <a:solidFill>
                  <a:schemeClr val="bg1"/>
                </a:solidFill>
              </a:rPr>
              <a:t> Group tagjai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Üzleti indok esetén olvasási jog más részlegeknek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Legkisebb jogosultság elve</a:t>
            </a:r>
          </a:p>
        </p:txBody>
      </p:sp>
      <p:pic>
        <p:nvPicPr>
          <p:cNvPr id="6" name="Tartalom helye 5" descr="A képen szöveg, képernyőkép, képernyő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3C55AA7-4E09-F98A-D4AB-E290B7BF3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800" y="1825624"/>
            <a:ext cx="3429479" cy="4258269"/>
          </a:xfrm>
          <a:prstGeom prst="rect">
            <a:avLst/>
          </a:prstGeom>
        </p:spPr>
      </p:pic>
      <p:pic>
        <p:nvPicPr>
          <p:cNvPr id="11" name="Kép 10" descr="A képen szöveg, képernyőkép, képernyő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803D3A1-35A0-1BFE-E381-FA946971F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504" y="1825623"/>
            <a:ext cx="3419952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6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F6B2A4-545F-E3E7-75A7-740D9885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bg1"/>
                </a:solidFill>
              </a:rPr>
              <a:t>Domain</a:t>
            </a:r>
            <a:r>
              <a:rPr lang="hu-HU" b="1" dirty="0">
                <a:solidFill>
                  <a:schemeClr val="bg1"/>
                </a:solidFill>
              </a:rPr>
              <a:t> háttérkép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78962F-1D46-794A-C3E2-30F5E20331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Egységes vállalati arculat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Management exkluzív háttér</a:t>
            </a:r>
          </a:p>
        </p:txBody>
      </p:sp>
      <p:pic>
        <p:nvPicPr>
          <p:cNvPr id="7" name="Tartalom helye 6" descr="A képen szöveg, képernyőkép, szoftver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D1B7347-1054-02A3-A3B6-D342C88DA8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484" y="1825625"/>
            <a:ext cx="47030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46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358E3E-A774-A605-DD44-FEDFFF94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IT részleg GPO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67CC6E-F9F9-E629-1893-6810391DE1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i-FI" dirty="0">
                <a:solidFill>
                  <a:schemeClr val="bg1"/>
                </a:solidFill>
              </a:rPr>
              <a:t>WinSCP telepítés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fi-FI" dirty="0">
                <a:solidFill>
                  <a:schemeClr val="bg1"/>
                </a:solidFill>
              </a:rPr>
              <a:t>PuTTY telepítés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Előre jóváhagyott csomagok kézzel indított telepítése</a:t>
            </a:r>
          </a:p>
        </p:txBody>
      </p:sp>
      <p:pic>
        <p:nvPicPr>
          <p:cNvPr id="7" name="Tartalom helye 6" descr="A képen szöveg, képernyőkép, szoftver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6A61F77-F60E-1E22-2EE8-2AE60920D8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16" y="2093976"/>
            <a:ext cx="5373784" cy="368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0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F7CBD3-B211-2E00-873C-212BDE89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MSSQL </a:t>
            </a:r>
            <a:r>
              <a:rPr lang="hu-HU" b="1" dirty="0" err="1">
                <a:solidFill>
                  <a:schemeClr val="bg1"/>
                </a:solidFill>
              </a:rPr>
              <a:t>Always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On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High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Availability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397D94-FE7E-0DD4-0C1B-B17B005DF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Üzleti szempontból kritikus adatbázisok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24/7 működés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Adatvesztés nem megengedett</a:t>
            </a:r>
          </a:p>
        </p:txBody>
      </p:sp>
    </p:spTree>
    <p:extLst>
      <p:ext uri="{BB962C8B-B14F-4D97-AF65-F5344CB8AC3E}">
        <p14:creationId xmlns:p14="http://schemas.microsoft.com/office/powerpoint/2010/main" val="25851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98558B-E10D-351C-D965-D104BFFF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Architektúra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96CD03-181E-F6C9-1D3C-C255C4316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75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2 SQL node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Windows Server Failover Cluster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Availability Group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Listener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File </a:t>
            </a:r>
            <a:r>
              <a:rPr lang="hu-HU" dirty="0" err="1">
                <a:solidFill>
                  <a:schemeClr val="bg1"/>
                </a:solidFill>
              </a:rPr>
              <a:t>Share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Witness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7" name="Tartalom helye 6" descr="A képen szöveg, szoftver, képernyőkép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FE50502-CB52-CBDD-772B-EE6EE399E9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90" y="1027906"/>
            <a:ext cx="5869703" cy="2008975"/>
          </a:xfrm>
          <a:prstGeom prst="rect">
            <a:avLst/>
          </a:prstGeom>
        </p:spPr>
      </p:pic>
      <p:pic>
        <p:nvPicPr>
          <p:cNvPr id="13" name="Kép 12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A68B0AB-726F-74B3-0CE5-59139D231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90" y="3195153"/>
            <a:ext cx="5869703" cy="298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47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82287E-A13C-B8F3-C901-68E2664A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Működés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3F7A80-03CF-B27D-A5A6-1E47275850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Szinkron replikáció</a:t>
            </a: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Automatic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failover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Automatic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seeding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Listener</a:t>
            </a:r>
            <a:r>
              <a:rPr lang="hu-HU" dirty="0">
                <a:solidFill>
                  <a:schemeClr val="bg1"/>
                </a:solidFill>
              </a:rPr>
              <a:t> IP</a:t>
            </a:r>
          </a:p>
        </p:txBody>
      </p:sp>
      <p:pic>
        <p:nvPicPr>
          <p:cNvPr id="7" name="Tartalom helye 6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69774EF-06AB-8748-3478-9087CCB5CB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608" y="311659"/>
            <a:ext cx="2392377" cy="6234681"/>
          </a:xfrm>
          <a:prstGeom prst="rect">
            <a:avLst/>
          </a:prstGeom>
        </p:spPr>
      </p:pic>
      <p:pic>
        <p:nvPicPr>
          <p:cNvPr id="9" name="Kép 8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49C6E86-B3E8-489B-932A-6F4C85848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726" y="1690688"/>
            <a:ext cx="4615111" cy="428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97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CBFA45-3B6C-66EC-B471-4725A98A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File </a:t>
            </a:r>
            <a:r>
              <a:rPr lang="hu-HU" b="1" dirty="0" err="1">
                <a:solidFill>
                  <a:schemeClr val="bg1"/>
                </a:solidFill>
              </a:rPr>
              <a:t>Share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b="1" dirty="0" err="1">
                <a:solidFill>
                  <a:schemeClr val="bg1"/>
                </a:solidFill>
              </a:rPr>
              <a:t>Witness</a:t>
            </a:r>
            <a:r>
              <a:rPr lang="hu-HU" b="1" dirty="0">
                <a:solidFill>
                  <a:schemeClr val="bg1"/>
                </a:solidFill>
              </a:rPr>
              <a:t> és </a:t>
            </a:r>
            <a:r>
              <a:rPr lang="hu-HU" b="1" dirty="0" err="1">
                <a:solidFill>
                  <a:schemeClr val="bg1"/>
                </a:solidFill>
              </a:rPr>
              <a:t>Quorum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08E473-C893-3546-E3BC-6A0B564A99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Split-</a:t>
            </a:r>
            <a:r>
              <a:rPr lang="hu-HU" dirty="0" err="1">
                <a:solidFill>
                  <a:schemeClr val="bg1"/>
                </a:solidFill>
              </a:rPr>
              <a:t>brain</a:t>
            </a:r>
            <a:r>
              <a:rPr lang="hu-HU" dirty="0">
                <a:solidFill>
                  <a:schemeClr val="bg1"/>
                </a:solidFill>
              </a:rPr>
              <a:t> állapot elkerülése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Egyértelmű döntés aktív </a:t>
            </a:r>
            <a:r>
              <a:rPr lang="hu-HU" dirty="0" err="1">
                <a:solidFill>
                  <a:schemeClr val="bg1"/>
                </a:solidFill>
              </a:rPr>
              <a:t>node-ról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Többségi szavazás elve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FSW külön szerver, nem tárol adatbázis másolatot</a:t>
            </a:r>
          </a:p>
        </p:txBody>
      </p:sp>
      <p:pic>
        <p:nvPicPr>
          <p:cNvPr id="12" name="Tartalom helye 11" descr="A képen szöveg, elektronika, képernyőkép, képernyő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2870FFD-29DE-F759-80EF-87DC8120D5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65191"/>
            <a:ext cx="5181600" cy="347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3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7ACA53-9D9B-AB59-BDB6-F29A7ED9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Group Managed Service Account (</a:t>
            </a:r>
            <a:r>
              <a:rPr lang="en-US" b="1" dirty="0" err="1">
                <a:solidFill>
                  <a:schemeClr val="bg1"/>
                </a:solidFill>
              </a:rPr>
              <a:t>gMSA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7963CC-8365-33C3-EA0F-D8D418577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37504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hu-HU" dirty="0">
                <a:solidFill>
                  <a:schemeClr val="bg1"/>
                </a:solidFill>
              </a:rPr>
              <a:t>2 </a:t>
            </a:r>
            <a:r>
              <a:rPr lang="hu-HU" dirty="0" err="1">
                <a:solidFill>
                  <a:schemeClr val="bg1"/>
                </a:solidFill>
              </a:rPr>
              <a:t>gMSA</a:t>
            </a:r>
            <a:r>
              <a:rPr lang="hu-HU" dirty="0">
                <a:solidFill>
                  <a:schemeClr val="bg1"/>
                </a:solidFill>
              </a:rPr>
              <a:t> használata:</a:t>
            </a:r>
          </a:p>
          <a:p>
            <a:pPr lvl="1">
              <a:lnSpc>
                <a:spcPct val="100000"/>
              </a:lnSpc>
            </a:pPr>
            <a:r>
              <a:rPr lang="hu-HU" dirty="0">
                <a:solidFill>
                  <a:schemeClr val="bg1"/>
                </a:solidFill>
              </a:rPr>
              <a:t>SQL </a:t>
            </a:r>
            <a:r>
              <a:rPr lang="hu-HU" dirty="0" err="1">
                <a:solidFill>
                  <a:schemeClr val="bg1"/>
                </a:solidFill>
              </a:rPr>
              <a:t>Engine</a:t>
            </a:r>
            <a:endParaRPr lang="hu-HU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hu-HU" dirty="0">
                <a:solidFill>
                  <a:schemeClr val="bg1"/>
                </a:solidFill>
              </a:rPr>
              <a:t>SQL </a:t>
            </a:r>
            <a:r>
              <a:rPr lang="hu-HU" dirty="0" err="1">
                <a:solidFill>
                  <a:schemeClr val="bg1"/>
                </a:solidFill>
              </a:rPr>
              <a:t>Agent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hu-HU" dirty="0">
                <a:solidFill>
                  <a:schemeClr val="bg1"/>
                </a:solidFill>
              </a:rPr>
              <a:t>Automatikus jelszókezelés</a:t>
            </a:r>
          </a:p>
          <a:p>
            <a:pPr>
              <a:lnSpc>
                <a:spcPct val="100000"/>
              </a:lnSpc>
            </a:pPr>
            <a:r>
              <a:rPr lang="hu-HU" dirty="0">
                <a:solidFill>
                  <a:schemeClr val="bg1"/>
                </a:solidFill>
              </a:rPr>
              <a:t>AD által menedzselt</a:t>
            </a:r>
          </a:p>
          <a:p>
            <a:pPr>
              <a:lnSpc>
                <a:spcPct val="100000"/>
              </a:lnSpc>
            </a:pPr>
            <a:r>
              <a:rPr lang="hu-HU" dirty="0">
                <a:solidFill>
                  <a:schemeClr val="bg1"/>
                </a:solidFill>
              </a:rPr>
              <a:t>Nincs manuális jelszórotáció</a:t>
            </a:r>
          </a:p>
          <a:p>
            <a:pPr>
              <a:lnSpc>
                <a:spcPct val="100000"/>
              </a:lnSpc>
            </a:pPr>
            <a:r>
              <a:rPr lang="hu-HU" dirty="0">
                <a:solidFill>
                  <a:schemeClr val="bg1"/>
                </a:solidFill>
              </a:rPr>
              <a:t>Több </a:t>
            </a:r>
            <a:r>
              <a:rPr lang="hu-HU" dirty="0" err="1">
                <a:solidFill>
                  <a:schemeClr val="bg1"/>
                </a:solidFill>
              </a:rPr>
              <a:t>node</a:t>
            </a:r>
            <a:r>
              <a:rPr lang="hu-HU" dirty="0">
                <a:solidFill>
                  <a:schemeClr val="bg1"/>
                </a:solidFill>
              </a:rPr>
              <a:t> által használható (</a:t>
            </a:r>
            <a:r>
              <a:rPr lang="hu-HU" dirty="0" err="1">
                <a:solidFill>
                  <a:schemeClr val="bg1"/>
                </a:solidFill>
              </a:rPr>
              <a:t>cluster</a:t>
            </a:r>
            <a:r>
              <a:rPr lang="hu-HU" dirty="0">
                <a:solidFill>
                  <a:schemeClr val="bg1"/>
                </a:solidFill>
              </a:rPr>
              <a:t> kompatibilis)</a:t>
            </a:r>
          </a:p>
        </p:txBody>
      </p:sp>
      <p:pic>
        <p:nvPicPr>
          <p:cNvPr id="7" name="Tartalom helye 6" descr="A képen szöveg, képernyőkép, szoftver, Számítógépes ikon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9AF7026-FBBD-95D9-D4DA-1C800EF2ED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06"/>
          <a:stretch>
            <a:fillRect/>
          </a:stretch>
        </p:blipFill>
        <p:spPr>
          <a:xfrm>
            <a:off x="6096000" y="2079466"/>
            <a:ext cx="5522039" cy="384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02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ED61E1-9555-7373-FABD-08CC97CA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Eredmények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E69E1D-146F-E82C-30D1-A2FFEBBFB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Központi menedzsment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Magas rendelkezésre állás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Skálázható infrastruktúra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Biztonságos jogosultságkezelés</a:t>
            </a:r>
          </a:p>
        </p:txBody>
      </p:sp>
    </p:spTree>
    <p:extLst>
      <p:ext uri="{BB962C8B-B14F-4D97-AF65-F5344CB8AC3E}">
        <p14:creationId xmlns:p14="http://schemas.microsoft.com/office/powerpoint/2010/main" val="3582283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DFE52B-F7B0-46FA-A218-3FC774DC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Továbbfejlesztési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06E9DF-D7B0-41C6-2FDF-EC88C93C6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MFA a management részére</a:t>
            </a: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Azure</a:t>
            </a:r>
            <a:r>
              <a:rPr lang="hu-HU" dirty="0">
                <a:solidFill>
                  <a:schemeClr val="bg1"/>
                </a:solidFill>
              </a:rPr>
              <a:t> Site </a:t>
            </a:r>
            <a:r>
              <a:rPr lang="hu-HU" dirty="0" err="1">
                <a:solidFill>
                  <a:schemeClr val="bg1"/>
                </a:solidFill>
              </a:rPr>
              <a:t>Recovery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SIEM bevezetése</a:t>
            </a:r>
          </a:p>
          <a:p>
            <a:pPr>
              <a:lnSpc>
                <a:spcPct val="150000"/>
              </a:lnSpc>
            </a:pPr>
            <a:r>
              <a:rPr lang="hu-HU" dirty="0">
                <a:solidFill>
                  <a:schemeClr val="bg1"/>
                </a:solidFill>
              </a:rPr>
              <a:t>Patch management finomítása (WSUS)</a:t>
            </a:r>
          </a:p>
          <a:p>
            <a:pPr>
              <a:lnSpc>
                <a:spcPct val="150000"/>
              </a:lnSpc>
            </a:pPr>
            <a:r>
              <a:rPr lang="hu-HU" dirty="0" err="1">
                <a:solidFill>
                  <a:schemeClr val="bg1"/>
                </a:solidFill>
              </a:rPr>
              <a:t>Zero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Trust</a:t>
            </a:r>
            <a:r>
              <a:rPr lang="hu-HU" dirty="0">
                <a:solidFill>
                  <a:schemeClr val="bg1"/>
                </a:solidFill>
              </a:rPr>
              <a:t> modell alkalmazása</a:t>
            </a:r>
          </a:p>
        </p:txBody>
      </p:sp>
    </p:spTree>
    <p:extLst>
      <p:ext uri="{BB962C8B-B14F-4D97-AF65-F5344CB8AC3E}">
        <p14:creationId xmlns:p14="http://schemas.microsoft.com/office/powerpoint/2010/main" val="2882106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EB9F68-051A-1F51-0278-2B23CAEE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b="1" dirty="0">
                <a:solidFill>
                  <a:schemeClr val="bg1"/>
                </a:solidFill>
              </a:rPr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191956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319</Words>
  <Application>Microsoft Office PowerPoint</Application>
  <PresentationFormat>Szélesvásznú</PresentationFormat>
  <Paragraphs>105</Paragraphs>
  <Slides>24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Office-téma</vt:lpstr>
      <vt:lpstr>PowerPoint-bemutató</vt:lpstr>
      <vt:lpstr>Bemutatkozás</vt:lpstr>
      <vt:lpstr>Telephelyeink</vt:lpstr>
      <vt:lpstr>Informatikai célkitűzések</vt:lpstr>
      <vt:lpstr>Hálózati topológia</vt:lpstr>
      <vt:lpstr>Active Directory szerepe</vt:lpstr>
      <vt:lpstr>Domain struktúra</vt:lpstr>
      <vt:lpstr>Jelszóházirend</vt:lpstr>
      <vt:lpstr>Csoportalapú jogosultságkezelés</vt:lpstr>
      <vt:lpstr>Domain Controller architektúra</vt:lpstr>
      <vt:lpstr>DNS szerepe és redundancia</vt:lpstr>
      <vt:lpstr>GPO szerepe</vt:lpstr>
      <vt:lpstr>Közös meghajtó</vt:lpstr>
      <vt:lpstr>Részlegmeghajtók</vt:lpstr>
      <vt:lpstr>Domain háttérkép</vt:lpstr>
      <vt:lpstr>IT részleg GPO</vt:lpstr>
      <vt:lpstr>MSSQL Always On High Availability</vt:lpstr>
      <vt:lpstr>Architektúra</vt:lpstr>
      <vt:lpstr>Működés</vt:lpstr>
      <vt:lpstr>File Share Witness és Quorum</vt:lpstr>
      <vt:lpstr>Group Managed Service Account (gMSA)</vt:lpstr>
      <vt:lpstr>Eredmények</vt:lpstr>
      <vt:lpstr>Továbbfejlesztési lehetőségek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89</cp:revision>
  <dcterms:created xsi:type="dcterms:W3CDTF">2026-02-27T19:32:02Z</dcterms:created>
  <dcterms:modified xsi:type="dcterms:W3CDTF">2026-02-27T23:11:52Z</dcterms:modified>
</cp:coreProperties>
</file>