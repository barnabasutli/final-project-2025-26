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3"/>
  </p:notesMasterIdLst>
  <p:sldIdLst>
    <p:sldId id="256" r:id="rId2"/>
    <p:sldId id="257" r:id="rId3"/>
    <p:sldId id="260" r:id="rId4"/>
    <p:sldId id="258" r:id="rId5"/>
    <p:sldId id="259" r:id="rId6"/>
    <p:sldId id="280" r:id="rId7"/>
    <p:sldId id="281" r:id="rId8"/>
    <p:sldId id="282" r:id="rId9"/>
    <p:sldId id="283" r:id="rId10"/>
    <p:sldId id="284" r:id="rId11"/>
    <p:sldId id="285" r:id="rId12"/>
    <p:sldId id="286" r:id="rId13"/>
    <p:sldId id="287" r:id="rId14"/>
    <p:sldId id="288" r:id="rId15"/>
    <p:sldId id="289" r:id="rId16"/>
    <p:sldId id="290" r:id="rId17"/>
    <p:sldId id="291" r:id="rId18"/>
    <p:sldId id="292" r:id="rId19"/>
    <p:sldId id="293" r:id="rId20"/>
    <p:sldId id="294" r:id="rId21"/>
    <p:sldId id="295" r:id="rId22"/>
    <p:sldId id="296" r:id="rId23"/>
    <p:sldId id="261" r:id="rId24"/>
    <p:sldId id="262" r:id="rId25"/>
    <p:sldId id="263" r:id="rId26"/>
    <p:sldId id="264" r:id="rId27"/>
    <p:sldId id="265" r:id="rId28"/>
    <p:sldId id="266" r:id="rId29"/>
    <p:sldId id="267" r:id="rId30"/>
    <p:sldId id="268" r:id="rId31"/>
    <p:sldId id="269" r:id="rId32"/>
    <p:sldId id="270" r:id="rId33"/>
    <p:sldId id="271" r:id="rId34"/>
    <p:sldId id="272" r:id="rId35"/>
    <p:sldId id="273" r:id="rId36"/>
    <p:sldId id="274" r:id="rId37"/>
    <p:sldId id="275" r:id="rId38"/>
    <p:sldId id="279" r:id="rId39"/>
    <p:sldId id="276" r:id="rId40"/>
    <p:sldId id="277" r:id="rId41"/>
    <p:sldId id="278" r:id="rId42"/>
  </p:sldIdLst>
  <p:sldSz cx="12192000" cy="6858000"/>
  <p:notesSz cx="6858000" cy="9144000"/>
  <p:defaultTextStyle>
    <a:defPPr>
      <a:defRPr lang="hu-H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569" autoAdjust="0"/>
    <p:restoredTop sz="78731" autoAdjust="0"/>
  </p:normalViewPr>
  <p:slideViewPr>
    <p:cSldViewPr snapToGrid="0">
      <p:cViewPr varScale="1">
        <p:scale>
          <a:sx n="85" d="100"/>
          <a:sy n="85" d="100"/>
        </p:scale>
        <p:origin x="1560"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Élőfej hely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hu-HU"/>
          </a:p>
        </p:txBody>
      </p:sp>
      <p:sp>
        <p:nvSpPr>
          <p:cNvPr id="3" name="Dátum hely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45792BF-BFEC-4643-9A72-D6E2E3643766}" type="datetimeFigureOut">
              <a:rPr lang="hu-HU" smtClean="0"/>
              <a:t>2026. 05. 26.</a:t>
            </a:fld>
            <a:endParaRPr lang="hu-HU"/>
          </a:p>
        </p:txBody>
      </p:sp>
      <p:sp>
        <p:nvSpPr>
          <p:cNvPr id="4" name="Diakép helye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hu-HU"/>
          </a:p>
        </p:txBody>
      </p:sp>
      <p:sp>
        <p:nvSpPr>
          <p:cNvPr id="5" name="Jegyzetek helye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hu-HU"/>
              <a:t>Mintaszöveg szerkesztése</a:t>
            </a:r>
          </a:p>
          <a:p>
            <a:pPr lvl="1"/>
            <a:r>
              <a:rPr lang="hu-HU"/>
              <a:t>Második szint</a:t>
            </a:r>
          </a:p>
          <a:p>
            <a:pPr lvl="2"/>
            <a:r>
              <a:rPr lang="hu-HU"/>
              <a:t>Harmadik szint</a:t>
            </a:r>
          </a:p>
          <a:p>
            <a:pPr lvl="3"/>
            <a:r>
              <a:rPr lang="hu-HU"/>
              <a:t>Negyedik szint</a:t>
            </a:r>
          </a:p>
          <a:p>
            <a:pPr lvl="4"/>
            <a:r>
              <a:rPr lang="hu-HU"/>
              <a:t>Ötödik szint</a:t>
            </a:r>
          </a:p>
        </p:txBody>
      </p:sp>
      <p:sp>
        <p:nvSpPr>
          <p:cNvPr id="6" name="Élőláb hely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hu-HU"/>
          </a:p>
        </p:txBody>
      </p:sp>
      <p:sp>
        <p:nvSpPr>
          <p:cNvPr id="7" name="Dia számának hely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7D4F15-C7BC-4A56-B8AA-CF1F76BA253C}" type="slidenum">
              <a:rPr lang="hu-HU" smtClean="0"/>
              <a:t>‹#›</a:t>
            </a:fld>
            <a:endParaRPr lang="hu-HU"/>
          </a:p>
        </p:txBody>
      </p:sp>
    </p:spTree>
    <p:extLst>
      <p:ext uri="{BB962C8B-B14F-4D97-AF65-F5344CB8AC3E}">
        <p14:creationId xmlns:p14="http://schemas.microsoft.com/office/powerpoint/2010/main" val="36628271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r>
              <a:rPr lang="hu-HU" sz="1200" kern="1200" dirty="0">
                <a:solidFill>
                  <a:schemeClr val="tx1"/>
                </a:solidFill>
                <a:effectLst/>
                <a:latin typeface="+mn-lt"/>
                <a:ea typeface="+mn-ea"/>
                <a:cs typeface="+mn-cs"/>
              </a:rPr>
              <a:t>A </a:t>
            </a:r>
            <a:r>
              <a:rPr lang="hu-HU" sz="1200" kern="1200" dirty="0" err="1">
                <a:solidFill>
                  <a:schemeClr val="tx1"/>
                </a:solidFill>
                <a:effectLst/>
                <a:latin typeface="+mn-lt"/>
                <a:ea typeface="+mn-ea"/>
                <a:cs typeface="+mn-cs"/>
              </a:rPr>
              <a:t>Migazzi</a:t>
            </a:r>
            <a:r>
              <a:rPr lang="hu-HU" sz="1200" kern="1200" dirty="0">
                <a:solidFill>
                  <a:schemeClr val="tx1"/>
                </a:solidFill>
                <a:effectLst/>
                <a:latin typeface="+mn-lt"/>
                <a:ea typeface="+mn-ea"/>
                <a:cs typeface="+mn-cs"/>
              </a:rPr>
              <a:t> Kft. egy magyar tulajdonú prémium óragyártó vállalkozás, mely évszázadok óta foglalkozik időmérő eszközök gyártásával, tervezésével és forgalmazásával, minden kategóriában. A váci székhelyű cég célja, hogy magas minőségű, precíziós mechanikus, kvarc, sport-, elegáns és luxus karórákat tervezzen és gyártson, a magyar ipari hagyományokat ötvözve a modern technológiai innovációval.</a:t>
            </a:r>
          </a:p>
        </p:txBody>
      </p:sp>
      <p:sp>
        <p:nvSpPr>
          <p:cNvPr id="4" name="Dia számának helye 3"/>
          <p:cNvSpPr>
            <a:spLocks noGrp="1"/>
          </p:cNvSpPr>
          <p:nvPr>
            <p:ph type="sldNum" sz="quarter" idx="5"/>
          </p:nvPr>
        </p:nvSpPr>
        <p:spPr/>
        <p:txBody>
          <a:bodyPr/>
          <a:lstStyle/>
          <a:p>
            <a:fld id="{A67D4F15-C7BC-4A56-B8AA-CF1F76BA253C}" type="slidenum">
              <a:rPr lang="hu-HU" smtClean="0"/>
              <a:t>2</a:t>
            </a:fld>
            <a:endParaRPr lang="hu-HU"/>
          </a:p>
        </p:txBody>
      </p:sp>
    </p:spTree>
    <p:extLst>
      <p:ext uri="{BB962C8B-B14F-4D97-AF65-F5344CB8AC3E}">
        <p14:creationId xmlns:p14="http://schemas.microsoft.com/office/powerpoint/2010/main" val="47759394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hu-HU" sz="1200" kern="1200" dirty="0">
                <a:solidFill>
                  <a:schemeClr val="tx1"/>
                </a:solidFill>
                <a:effectLst/>
                <a:latin typeface="+mn-lt"/>
                <a:ea typeface="+mn-ea"/>
                <a:cs typeface="+mn-cs"/>
              </a:rPr>
              <a:t>A projekt célja a </a:t>
            </a:r>
            <a:r>
              <a:rPr lang="hu-HU" sz="1200" kern="1200" dirty="0" err="1">
                <a:solidFill>
                  <a:schemeClr val="tx1"/>
                </a:solidFill>
                <a:effectLst/>
                <a:latin typeface="+mn-lt"/>
                <a:ea typeface="+mn-ea"/>
                <a:cs typeface="+mn-cs"/>
              </a:rPr>
              <a:t>Migazzi</a:t>
            </a:r>
            <a:r>
              <a:rPr lang="hu-HU" sz="1200" kern="1200" dirty="0">
                <a:solidFill>
                  <a:schemeClr val="tx1"/>
                </a:solidFill>
                <a:effectLst/>
                <a:latin typeface="+mn-lt"/>
                <a:ea typeface="+mn-ea"/>
                <a:cs typeface="+mn-cs"/>
              </a:rPr>
              <a:t> óragyártó vállalat teljes körű, vállalati szintű IT-infrastruktúrájának megtervezése és kiépítése, amely megbízható, biztonságos és skálázható módon támogatja a gyártási, adminisztratív és üzleti folyamatokat. A rendszer magában foglalja a strukturált belső hálózat kialakítását, a logikailag elkülönített hálózati szegmensek (pl. gyártás, irodai környezet, menedzsment, vendéghálózat) létrehozását, valamint a központi szerverarchitektúra implementálását. A cél egy olyan integrált környezet létrehozása, amely egységes felhasználókezelést, központi hitelesítést, fájl- és alkalmazásszolgáltatásokat, valamint biztonságos távoli elérést biztosít.</a:t>
            </a:r>
            <a:br>
              <a:rPr lang="hu-HU" sz="1200" kern="1200" dirty="0">
                <a:solidFill>
                  <a:schemeClr val="tx1"/>
                </a:solidFill>
                <a:effectLst/>
                <a:latin typeface="+mn-lt"/>
                <a:ea typeface="+mn-ea"/>
                <a:cs typeface="+mn-cs"/>
              </a:rPr>
            </a:br>
            <a:endParaRPr lang="hu-HU"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hu-HU" sz="1200" kern="1200" dirty="0">
                <a:solidFill>
                  <a:schemeClr val="tx1"/>
                </a:solidFill>
                <a:effectLst/>
                <a:latin typeface="+mn-lt"/>
                <a:ea typeface="+mn-ea"/>
                <a:cs typeface="+mn-cs"/>
              </a:rPr>
              <a:t>A szerveroldali infrastruktúra </a:t>
            </a:r>
            <a:r>
              <a:rPr lang="hu-HU" sz="1200" kern="1200" dirty="0" err="1">
                <a:solidFill>
                  <a:schemeClr val="tx1"/>
                </a:solidFill>
                <a:effectLst/>
                <a:latin typeface="+mn-lt"/>
                <a:ea typeface="+mn-ea"/>
                <a:cs typeface="+mn-cs"/>
              </a:rPr>
              <a:t>virtualizált</a:t>
            </a:r>
            <a:r>
              <a:rPr lang="hu-HU" sz="1200" kern="1200" dirty="0">
                <a:solidFill>
                  <a:schemeClr val="tx1"/>
                </a:solidFill>
                <a:effectLst/>
                <a:latin typeface="+mn-lt"/>
                <a:ea typeface="+mn-ea"/>
                <a:cs typeface="+mn-cs"/>
              </a:rPr>
              <a:t> környezetre épül, amely lehetővé teszi több logikai szerver futtatását egy fizikai hardveren, ezzel optimalizálva az erőforrás- </a:t>
            </a:r>
            <a:r>
              <a:rPr lang="hu-HU" sz="1200" kern="1200" dirty="0" err="1">
                <a:solidFill>
                  <a:schemeClr val="tx1"/>
                </a:solidFill>
                <a:effectLst/>
                <a:latin typeface="+mn-lt"/>
                <a:ea typeface="+mn-ea"/>
                <a:cs typeface="+mn-cs"/>
              </a:rPr>
              <a:t>kihasználtságot</a:t>
            </a:r>
            <a:r>
              <a:rPr lang="hu-HU" sz="1200" kern="1200" dirty="0">
                <a:solidFill>
                  <a:schemeClr val="tx1"/>
                </a:solidFill>
                <a:effectLst/>
                <a:latin typeface="+mn-lt"/>
                <a:ea typeface="+mn-ea"/>
                <a:cs typeface="+mn-cs"/>
              </a:rPr>
              <a:t> és növelve a rendelkezésre állást. A rendszer tartalmaz címtárszolgáltatást, fájlszervert, web- és adatbázisszervert, valamint mentési és naplózási megoldásokat. A kialakítás során kiemelt szempont az adatbiztonság, a jogosultságkezelés, a redundancia és az üzletmenet-folytonosság biztosítása, beleértve a rendszeres biztonsági mentéseket és a hibatűrő konfigurációkat.</a:t>
            </a:r>
          </a:p>
          <a:p>
            <a:endParaRPr lang="hu-HU" dirty="0"/>
          </a:p>
        </p:txBody>
      </p:sp>
      <p:sp>
        <p:nvSpPr>
          <p:cNvPr id="4" name="Dia számának helye 3"/>
          <p:cNvSpPr>
            <a:spLocks noGrp="1"/>
          </p:cNvSpPr>
          <p:nvPr>
            <p:ph type="sldNum" sz="quarter" idx="5"/>
          </p:nvPr>
        </p:nvSpPr>
        <p:spPr/>
        <p:txBody>
          <a:bodyPr/>
          <a:lstStyle/>
          <a:p>
            <a:fld id="{A67D4F15-C7BC-4A56-B8AA-CF1F76BA253C}" type="slidenum">
              <a:rPr lang="hu-HU" smtClean="0"/>
              <a:t>3</a:t>
            </a:fld>
            <a:endParaRPr lang="hu-HU"/>
          </a:p>
        </p:txBody>
      </p:sp>
    </p:spTree>
    <p:extLst>
      <p:ext uri="{BB962C8B-B14F-4D97-AF65-F5344CB8AC3E}">
        <p14:creationId xmlns:p14="http://schemas.microsoft.com/office/powerpoint/2010/main" val="352309624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hu-HU" sz="1200" kern="1200" dirty="0">
                <a:solidFill>
                  <a:schemeClr val="tx1"/>
                </a:solidFill>
                <a:effectLst/>
                <a:latin typeface="+mn-lt"/>
                <a:ea typeface="+mn-ea"/>
                <a:cs typeface="+mn-cs"/>
              </a:rPr>
              <a:t>A projekt eredményeként egy stabil, központilag menedzselhető és jövőben bővíthető informatikai infrastruktúra jön létre, amely hosszú távon támogatja a </a:t>
            </a:r>
            <a:r>
              <a:rPr lang="hu-HU" sz="1200" kern="1200" dirty="0" err="1">
                <a:solidFill>
                  <a:schemeClr val="tx1"/>
                </a:solidFill>
                <a:effectLst/>
                <a:latin typeface="+mn-lt"/>
                <a:ea typeface="+mn-ea"/>
                <a:cs typeface="+mn-cs"/>
              </a:rPr>
              <a:t>Migazzi</a:t>
            </a:r>
            <a:r>
              <a:rPr lang="hu-HU" sz="1200" kern="1200" dirty="0">
                <a:solidFill>
                  <a:schemeClr val="tx1"/>
                </a:solidFill>
                <a:effectLst/>
                <a:latin typeface="+mn-lt"/>
                <a:ea typeface="+mn-ea"/>
                <a:cs typeface="+mn-cs"/>
              </a:rPr>
              <a:t> működését, csökkenti az üzemeltetési kockázatokat, és biztosítja a vállalati adatok integritását, rendelkezésre állását és bizalmasságát.</a:t>
            </a:r>
          </a:p>
          <a:p>
            <a:endParaRPr lang="hu-HU" dirty="0"/>
          </a:p>
        </p:txBody>
      </p:sp>
      <p:sp>
        <p:nvSpPr>
          <p:cNvPr id="4" name="Dia számának helye 3"/>
          <p:cNvSpPr>
            <a:spLocks noGrp="1"/>
          </p:cNvSpPr>
          <p:nvPr>
            <p:ph type="sldNum" sz="quarter" idx="5"/>
          </p:nvPr>
        </p:nvSpPr>
        <p:spPr/>
        <p:txBody>
          <a:bodyPr/>
          <a:lstStyle/>
          <a:p>
            <a:fld id="{A67D4F15-C7BC-4A56-B8AA-CF1F76BA253C}" type="slidenum">
              <a:rPr lang="hu-HU" smtClean="0"/>
              <a:t>4</a:t>
            </a:fld>
            <a:endParaRPr lang="hu-HU"/>
          </a:p>
        </p:txBody>
      </p:sp>
    </p:spTree>
    <p:extLst>
      <p:ext uri="{BB962C8B-B14F-4D97-AF65-F5344CB8AC3E}">
        <p14:creationId xmlns:p14="http://schemas.microsoft.com/office/powerpoint/2010/main" val="250651035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hu-HU" sz="1200" kern="1200" dirty="0">
                <a:solidFill>
                  <a:schemeClr val="tx1"/>
                </a:solidFill>
                <a:effectLst/>
                <a:latin typeface="+mn-lt"/>
                <a:ea typeface="+mn-ea"/>
                <a:cs typeface="+mn-cs"/>
              </a:rPr>
              <a:t>Ezen telephely lényege a cég könyvelésének, adminisztratív feladatainak ellátása, HR/PR, kommunikáció, és ehhez kapcsolódó ügyek intézése. A hálózatban kizárólag PC-k működnek végpontként. A struktúrát három </a:t>
            </a:r>
            <a:r>
              <a:rPr lang="hu-HU" sz="1200" kern="1200" dirty="0" err="1">
                <a:solidFill>
                  <a:schemeClr val="tx1"/>
                </a:solidFill>
                <a:effectLst/>
                <a:latin typeface="+mn-lt"/>
                <a:ea typeface="+mn-ea"/>
                <a:cs typeface="+mn-cs"/>
              </a:rPr>
              <a:t>switchre</a:t>
            </a:r>
            <a:r>
              <a:rPr lang="hu-HU" sz="1200" kern="1200" dirty="0">
                <a:solidFill>
                  <a:schemeClr val="tx1"/>
                </a:solidFill>
                <a:effectLst/>
                <a:latin typeface="+mn-lt"/>
                <a:ea typeface="+mn-ea"/>
                <a:cs typeface="+mn-cs"/>
              </a:rPr>
              <a:t> építettük, amelyek port-</a:t>
            </a:r>
            <a:r>
              <a:rPr lang="hu-HU" sz="1200" kern="1200" dirty="0" err="1">
                <a:solidFill>
                  <a:schemeClr val="tx1"/>
                </a:solidFill>
                <a:effectLst/>
                <a:latin typeface="+mn-lt"/>
                <a:ea typeface="+mn-ea"/>
                <a:cs typeface="+mn-cs"/>
              </a:rPr>
              <a:t>channel</a:t>
            </a:r>
            <a:r>
              <a:rPr lang="hu-HU" sz="1200" kern="1200" dirty="0">
                <a:solidFill>
                  <a:schemeClr val="tx1"/>
                </a:solidFill>
                <a:effectLst/>
                <a:latin typeface="+mn-lt"/>
                <a:ea typeface="+mn-ea"/>
                <a:cs typeface="+mn-cs"/>
              </a:rPr>
              <a:t> kapcsolattal csatlakoznak egymáshoz, így biztosítva a nagyobb sávszélességet és a redundanciát a belső kommunikáció során. A központi forgalomirányítást egy fő router látja el, amely kezeli az internetkapcsolatot, az alhálózatok közötti forgalmat és az alapvető hálózatbiztonsági funkciókat. </a:t>
            </a:r>
          </a:p>
          <a:p>
            <a:endParaRPr lang="hu-HU" dirty="0"/>
          </a:p>
        </p:txBody>
      </p:sp>
      <p:sp>
        <p:nvSpPr>
          <p:cNvPr id="4" name="Dia számának helye 3"/>
          <p:cNvSpPr>
            <a:spLocks noGrp="1"/>
          </p:cNvSpPr>
          <p:nvPr>
            <p:ph type="sldNum" sz="quarter" idx="5"/>
          </p:nvPr>
        </p:nvSpPr>
        <p:spPr/>
        <p:txBody>
          <a:bodyPr/>
          <a:lstStyle/>
          <a:p>
            <a:fld id="{A67D4F15-C7BC-4A56-B8AA-CF1F76BA253C}" type="slidenum">
              <a:rPr lang="hu-HU" smtClean="0"/>
              <a:t>6</a:t>
            </a:fld>
            <a:endParaRPr lang="hu-HU"/>
          </a:p>
        </p:txBody>
      </p:sp>
    </p:spTree>
    <p:extLst>
      <p:ext uri="{BB962C8B-B14F-4D97-AF65-F5344CB8AC3E}">
        <p14:creationId xmlns:p14="http://schemas.microsoft.com/office/powerpoint/2010/main" val="229674596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hu-HU" sz="1200" kern="1200" dirty="0">
                <a:solidFill>
                  <a:schemeClr val="tx1"/>
                </a:solidFill>
                <a:effectLst/>
                <a:latin typeface="+mn-lt"/>
                <a:ea typeface="+mn-ea"/>
                <a:cs typeface="+mn-cs"/>
              </a:rPr>
              <a:t>Itt történik az összes jelentős feladat az alkatrészek elkészítésétől egészen a dobozba csomagolásig. Itt látják el az összerakás, minőség-ellenőrzés, szervizelés, csomagolás, logisztika, szállításra előkészítés, és ezen feladatokhoz kötődő lépéseket. A vezeték nélküli hálózat lehetővé teszi a logisztikai folyamatok egyszerűsítését, illetve </a:t>
            </a:r>
            <a:r>
              <a:rPr lang="hu-HU" sz="1200" kern="1200" dirty="0" err="1">
                <a:solidFill>
                  <a:schemeClr val="tx1"/>
                </a:solidFill>
                <a:effectLst/>
                <a:latin typeface="+mn-lt"/>
                <a:ea typeface="+mn-ea"/>
                <a:cs typeface="+mn-cs"/>
              </a:rPr>
              <a:t>mobilissá</a:t>
            </a:r>
            <a:r>
              <a:rPr lang="hu-HU" sz="1200" kern="1200" dirty="0">
                <a:solidFill>
                  <a:schemeClr val="tx1"/>
                </a:solidFill>
                <a:effectLst/>
                <a:latin typeface="+mn-lt"/>
                <a:ea typeface="+mn-ea"/>
                <a:cs typeface="+mn-cs"/>
              </a:rPr>
              <a:t> teszi a munkakörnyezetet. A tűzfal mögötti szerverhez kizárólag az </a:t>
            </a:r>
            <a:r>
              <a:rPr lang="hu-HU" sz="1200" kern="1200" dirty="0" err="1">
                <a:solidFill>
                  <a:schemeClr val="tx1"/>
                </a:solidFill>
                <a:effectLst/>
                <a:latin typeface="+mn-lt"/>
                <a:ea typeface="+mn-ea"/>
                <a:cs typeface="+mn-cs"/>
              </a:rPr>
              <a:t>admin</a:t>
            </a:r>
            <a:r>
              <a:rPr lang="hu-HU" sz="1200" kern="1200" dirty="0">
                <a:solidFill>
                  <a:schemeClr val="tx1"/>
                </a:solidFill>
                <a:effectLst/>
                <a:latin typeface="+mn-lt"/>
                <a:ea typeface="+mn-ea"/>
                <a:cs typeface="+mn-cs"/>
              </a:rPr>
              <a:t> hálózatban lévő alkalmazottak érik el, és ezáltal felügyelik a dolgozói folyamatokat.</a:t>
            </a:r>
          </a:p>
          <a:p>
            <a:endParaRPr lang="hu-HU" dirty="0"/>
          </a:p>
        </p:txBody>
      </p:sp>
      <p:sp>
        <p:nvSpPr>
          <p:cNvPr id="4" name="Dia számának helye 3"/>
          <p:cNvSpPr>
            <a:spLocks noGrp="1"/>
          </p:cNvSpPr>
          <p:nvPr>
            <p:ph type="sldNum" sz="quarter" idx="5"/>
          </p:nvPr>
        </p:nvSpPr>
        <p:spPr/>
        <p:txBody>
          <a:bodyPr/>
          <a:lstStyle/>
          <a:p>
            <a:fld id="{A67D4F15-C7BC-4A56-B8AA-CF1F76BA253C}" type="slidenum">
              <a:rPr lang="hu-HU" smtClean="0"/>
              <a:t>7</a:t>
            </a:fld>
            <a:endParaRPr lang="hu-HU"/>
          </a:p>
        </p:txBody>
      </p:sp>
    </p:spTree>
    <p:extLst>
      <p:ext uri="{BB962C8B-B14F-4D97-AF65-F5344CB8AC3E}">
        <p14:creationId xmlns:p14="http://schemas.microsoft.com/office/powerpoint/2010/main" val="252372226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hu-HU" sz="1200" kern="1200" dirty="0">
                <a:solidFill>
                  <a:schemeClr val="tx1"/>
                </a:solidFill>
                <a:effectLst/>
                <a:latin typeface="+mn-lt"/>
                <a:ea typeface="+mn-ea"/>
                <a:cs typeface="+mn-cs"/>
              </a:rPr>
              <a:t>A legegyszerűbb, de egyben megbízható rendszerrel ellátott szaküzlet látja el az értékesítési feladatokat. A butikban emellett fogadásra kerülnek a szervízre beadott termékek, amiket majd később visszaküldenek a gyárüzembe.</a:t>
            </a:r>
          </a:p>
          <a:p>
            <a:endParaRPr lang="hu-HU" dirty="0"/>
          </a:p>
        </p:txBody>
      </p:sp>
      <p:sp>
        <p:nvSpPr>
          <p:cNvPr id="4" name="Dia számának helye 3"/>
          <p:cNvSpPr>
            <a:spLocks noGrp="1"/>
          </p:cNvSpPr>
          <p:nvPr>
            <p:ph type="sldNum" sz="quarter" idx="5"/>
          </p:nvPr>
        </p:nvSpPr>
        <p:spPr/>
        <p:txBody>
          <a:bodyPr/>
          <a:lstStyle/>
          <a:p>
            <a:fld id="{A67D4F15-C7BC-4A56-B8AA-CF1F76BA253C}" type="slidenum">
              <a:rPr lang="hu-HU" smtClean="0"/>
              <a:t>8</a:t>
            </a:fld>
            <a:endParaRPr lang="hu-HU"/>
          </a:p>
        </p:txBody>
      </p:sp>
    </p:spTree>
    <p:extLst>
      <p:ext uri="{BB962C8B-B14F-4D97-AF65-F5344CB8AC3E}">
        <p14:creationId xmlns:p14="http://schemas.microsoft.com/office/powerpoint/2010/main" val="333590674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r>
              <a:rPr lang="hu-HU" sz="1200" kern="1200" dirty="0">
                <a:solidFill>
                  <a:schemeClr val="tx1"/>
                </a:solidFill>
                <a:effectLst/>
                <a:latin typeface="+mn-lt"/>
                <a:ea typeface="+mn-ea"/>
                <a:cs typeface="+mn-cs"/>
              </a:rPr>
              <a:t>A legfontosabb elem a cég működésében ez a szerverpark. A cég pénzügyi adatai, a termékek, gyártási folyamatok, szabadalmaztatott technológiák, költségvetések, és minden olyan információ, ami kifejezett védelmet igényel, itt kerül tárolásra. Továbbá fájl-, webszerver, és adatbázis szolgáltatások biztosítunk a dolgozók, és ügyfelek számára. </a:t>
            </a:r>
          </a:p>
        </p:txBody>
      </p:sp>
      <p:sp>
        <p:nvSpPr>
          <p:cNvPr id="4" name="Dia számának helye 3"/>
          <p:cNvSpPr>
            <a:spLocks noGrp="1"/>
          </p:cNvSpPr>
          <p:nvPr>
            <p:ph type="sldNum" sz="quarter" idx="5"/>
          </p:nvPr>
        </p:nvSpPr>
        <p:spPr/>
        <p:txBody>
          <a:bodyPr/>
          <a:lstStyle/>
          <a:p>
            <a:fld id="{A67D4F15-C7BC-4A56-B8AA-CF1F76BA253C}" type="slidenum">
              <a:rPr lang="hu-HU" smtClean="0"/>
              <a:t>9</a:t>
            </a:fld>
            <a:endParaRPr lang="hu-HU"/>
          </a:p>
        </p:txBody>
      </p:sp>
    </p:spTree>
    <p:extLst>
      <p:ext uri="{BB962C8B-B14F-4D97-AF65-F5344CB8AC3E}">
        <p14:creationId xmlns:p14="http://schemas.microsoft.com/office/powerpoint/2010/main" val="283288179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hu-HU" sz="1200" kern="1200" dirty="0">
                <a:solidFill>
                  <a:schemeClr val="tx1"/>
                </a:solidFill>
                <a:effectLst/>
                <a:latin typeface="+mn-lt"/>
                <a:ea typeface="+mn-ea"/>
                <a:cs typeface="+mn-cs"/>
              </a:rPr>
              <a:t>Akkor beszélhetünk igazán redundáns hálózatról, ha az ehhez szükséges feltételek az internetszolgáltató részéről is megvalósulnak. Ezért a cégünk egy meg nem nevezett internetszolgáltató cégtől egy kétvonalas, </a:t>
            </a:r>
            <a:r>
              <a:rPr lang="hu-HU" sz="1200" kern="1200" dirty="0" err="1">
                <a:solidFill>
                  <a:schemeClr val="tx1"/>
                </a:solidFill>
                <a:effectLst/>
                <a:latin typeface="+mn-lt"/>
                <a:ea typeface="+mn-ea"/>
                <a:cs typeface="+mn-cs"/>
              </a:rPr>
              <a:t>full-mesh</a:t>
            </a:r>
            <a:r>
              <a:rPr lang="hu-HU" sz="1200" kern="1200" dirty="0">
                <a:solidFill>
                  <a:schemeClr val="tx1"/>
                </a:solidFill>
                <a:effectLst/>
                <a:latin typeface="+mn-lt"/>
                <a:ea typeface="+mn-ea"/>
                <a:cs typeface="+mn-cs"/>
              </a:rPr>
              <a:t> hálózatot bérel. Ez a gyakorlatban azt jelenti, hogy a telephelyeket 2 külön fizikai link köti össze a többi telephellyel. A belső hálózaton belül pedig minden router tud kommunikálni mindegyikkel, ettől lesz </a:t>
            </a:r>
            <a:r>
              <a:rPr lang="hu-HU" sz="1200" kern="1200" dirty="0" err="1">
                <a:solidFill>
                  <a:schemeClr val="tx1"/>
                </a:solidFill>
                <a:effectLst/>
                <a:latin typeface="+mn-lt"/>
                <a:ea typeface="+mn-ea"/>
                <a:cs typeface="+mn-cs"/>
              </a:rPr>
              <a:t>full-mesh</a:t>
            </a:r>
            <a:r>
              <a:rPr lang="hu-HU" sz="1200" kern="1200" dirty="0">
                <a:solidFill>
                  <a:schemeClr val="tx1"/>
                </a:solidFill>
                <a:effectLst/>
                <a:latin typeface="+mn-lt"/>
                <a:ea typeface="+mn-ea"/>
                <a:cs typeface="+mn-cs"/>
              </a:rPr>
              <a:t> hálózat.</a:t>
            </a:r>
          </a:p>
          <a:p>
            <a:endParaRPr lang="hu-HU" dirty="0"/>
          </a:p>
        </p:txBody>
      </p:sp>
      <p:sp>
        <p:nvSpPr>
          <p:cNvPr id="4" name="Dia számának helye 3"/>
          <p:cNvSpPr>
            <a:spLocks noGrp="1"/>
          </p:cNvSpPr>
          <p:nvPr>
            <p:ph type="sldNum" sz="quarter" idx="5"/>
          </p:nvPr>
        </p:nvSpPr>
        <p:spPr/>
        <p:txBody>
          <a:bodyPr/>
          <a:lstStyle/>
          <a:p>
            <a:fld id="{A67D4F15-C7BC-4A56-B8AA-CF1F76BA253C}" type="slidenum">
              <a:rPr lang="hu-HU" smtClean="0"/>
              <a:t>10</a:t>
            </a:fld>
            <a:endParaRPr lang="hu-HU"/>
          </a:p>
        </p:txBody>
      </p:sp>
    </p:spTree>
    <p:extLst>
      <p:ext uri="{BB962C8B-B14F-4D97-AF65-F5344CB8AC3E}">
        <p14:creationId xmlns:p14="http://schemas.microsoft.com/office/powerpoint/2010/main" val="422840785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hu-HU" sz="1200" kern="1200" dirty="0">
                <a:solidFill>
                  <a:schemeClr val="tx1"/>
                </a:solidFill>
                <a:effectLst/>
                <a:latin typeface="+mn-lt"/>
                <a:ea typeface="+mn-ea"/>
                <a:cs typeface="+mn-cs"/>
              </a:rPr>
              <a:t>Az Access </a:t>
            </a:r>
            <a:r>
              <a:rPr lang="hu-HU" sz="1200" kern="1200" dirty="0" err="1">
                <a:solidFill>
                  <a:schemeClr val="tx1"/>
                </a:solidFill>
                <a:effectLst/>
                <a:latin typeface="+mn-lt"/>
                <a:ea typeface="+mn-ea"/>
                <a:cs typeface="+mn-cs"/>
              </a:rPr>
              <a:t>Control</a:t>
            </a:r>
            <a:r>
              <a:rPr lang="hu-HU" sz="1200" kern="1200" dirty="0">
                <a:solidFill>
                  <a:schemeClr val="tx1"/>
                </a:solidFill>
                <a:effectLst/>
                <a:latin typeface="+mn-lt"/>
                <a:ea typeface="+mn-ea"/>
                <a:cs typeface="+mn-cs"/>
              </a:rPr>
              <a:t> List (ACL), magyarul hozzáférés-vezérlési lista vagy jogosultsági lista, egy sokoldalú eszköz, amit biztonsági, és forgalomirányítási feladatokra alkalmaznak. Meghatározza, hogy egy adott felhasználó, folyamat vagy eszköz milyen műveleteket (olvasás, írás, futtatás) végezhet el egy erőforrással. Az ACL-</a:t>
            </a:r>
            <a:r>
              <a:rPr lang="hu-HU" sz="1200" kern="1200" dirty="0" err="1">
                <a:solidFill>
                  <a:schemeClr val="tx1"/>
                </a:solidFill>
                <a:effectLst/>
                <a:latin typeface="+mn-lt"/>
                <a:ea typeface="+mn-ea"/>
                <a:cs typeface="+mn-cs"/>
              </a:rPr>
              <a:t>eket</a:t>
            </a:r>
            <a:r>
              <a:rPr lang="hu-HU" sz="1200" kern="1200" dirty="0">
                <a:solidFill>
                  <a:schemeClr val="tx1"/>
                </a:solidFill>
                <a:effectLst/>
                <a:latin typeface="+mn-lt"/>
                <a:ea typeface="+mn-ea"/>
                <a:cs typeface="+mn-cs"/>
              </a:rPr>
              <a:t> minden PAT-ot tartalmazó routeren (</a:t>
            </a:r>
            <a:r>
              <a:rPr lang="hu-HU" sz="1200" kern="1200" dirty="0" err="1">
                <a:solidFill>
                  <a:schemeClr val="tx1"/>
                </a:solidFill>
                <a:effectLst/>
                <a:latin typeface="+mn-lt"/>
                <a:ea typeface="+mn-ea"/>
                <a:cs typeface="+mn-cs"/>
              </a:rPr>
              <a:t>IrodaRouter</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BoltRouter</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FactoryRouter</a:t>
            </a:r>
            <a:r>
              <a:rPr lang="hu-HU" sz="1200" kern="1200" dirty="0">
                <a:solidFill>
                  <a:schemeClr val="tx1"/>
                </a:solidFill>
                <a:effectLst/>
                <a:latin typeface="+mn-lt"/>
                <a:ea typeface="+mn-ea"/>
                <a:cs typeface="+mn-cs"/>
              </a:rPr>
              <a:t>), illetve a tűzfalon használtuk különböző célokra. Alapjában forgalomszűrésre használtuk: bizonyos címek, tartományok engedélyezése, tiltása, protokollra szűrés. Ezek az </a:t>
            </a:r>
            <a:r>
              <a:rPr lang="hu-HU" sz="1200" kern="1200" dirty="0" err="1">
                <a:solidFill>
                  <a:schemeClr val="tx1"/>
                </a:solidFill>
                <a:effectLst/>
                <a:latin typeface="+mn-lt"/>
                <a:ea typeface="+mn-ea"/>
                <a:cs typeface="+mn-cs"/>
              </a:rPr>
              <a:t>access</a:t>
            </a:r>
            <a:r>
              <a:rPr lang="hu-HU" sz="1200" kern="1200" dirty="0">
                <a:solidFill>
                  <a:schemeClr val="tx1"/>
                </a:solidFill>
                <a:effectLst/>
                <a:latin typeface="+mn-lt"/>
                <a:ea typeface="+mn-ea"/>
                <a:cs typeface="+mn-cs"/>
              </a:rPr>
              <a:t> listák a PAT fordítást (erről később bővebben) teszik lehetővé. Ha ebből a </a:t>
            </a:r>
            <a:r>
              <a:rPr lang="hu-HU" sz="1200" kern="1200" dirty="0" err="1">
                <a:solidFill>
                  <a:schemeClr val="tx1"/>
                </a:solidFill>
                <a:effectLst/>
                <a:latin typeface="+mn-lt"/>
                <a:ea typeface="+mn-ea"/>
                <a:cs typeface="+mn-cs"/>
              </a:rPr>
              <a:t>subnetből</a:t>
            </a:r>
            <a:r>
              <a:rPr lang="hu-HU" sz="1200" kern="1200" dirty="0">
                <a:solidFill>
                  <a:schemeClr val="tx1"/>
                </a:solidFill>
                <a:effectLst/>
                <a:latin typeface="+mn-lt"/>
                <a:ea typeface="+mn-ea"/>
                <a:cs typeface="+mn-cs"/>
              </a:rPr>
              <a:t> érkezik ICMP </a:t>
            </a:r>
            <a:r>
              <a:rPr lang="hu-HU" sz="1200" kern="1200" dirty="0" err="1">
                <a:solidFill>
                  <a:schemeClr val="tx1"/>
                </a:solidFill>
                <a:effectLst/>
                <a:latin typeface="+mn-lt"/>
                <a:ea typeface="+mn-ea"/>
                <a:cs typeface="+mn-cs"/>
              </a:rPr>
              <a:t>packet</a:t>
            </a:r>
            <a:r>
              <a:rPr lang="hu-HU" sz="1200" kern="1200" dirty="0">
                <a:solidFill>
                  <a:schemeClr val="tx1"/>
                </a:solidFill>
                <a:effectLst/>
                <a:latin typeface="+mn-lt"/>
                <a:ea typeface="+mn-ea"/>
                <a:cs typeface="+mn-cs"/>
              </a:rPr>
              <a:t>, akkor a router tovább küldi. Ha eltér a forrás hálózatcíme, akkor eldobja. </a:t>
            </a:r>
          </a:p>
          <a:p>
            <a:endParaRPr lang="hu-HU" dirty="0"/>
          </a:p>
        </p:txBody>
      </p:sp>
      <p:sp>
        <p:nvSpPr>
          <p:cNvPr id="4" name="Dia számának helye 3"/>
          <p:cNvSpPr>
            <a:spLocks noGrp="1"/>
          </p:cNvSpPr>
          <p:nvPr>
            <p:ph type="sldNum" sz="quarter" idx="5"/>
          </p:nvPr>
        </p:nvSpPr>
        <p:spPr/>
        <p:txBody>
          <a:bodyPr/>
          <a:lstStyle/>
          <a:p>
            <a:fld id="{A67D4F15-C7BC-4A56-B8AA-CF1F76BA253C}" type="slidenum">
              <a:rPr lang="hu-HU" smtClean="0"/>
              <a:t>11</a:t>
            </a:fld>
            <a:endParaRPr lang="hu-HU"/>
          </a:p>
        </p:txBody>
      </p:sp>
    </p:spTree>
    <p:extLst>
      <p:ext uri="{BB962C8B-B14F-4D97-AF65-F5344CB8AC3E}">
        <p14:creationId xmlns:p14="http://schemas.microsoft.com/office/powerpoint/2010/main" val="283468238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hu-HU" sz="1200" kern="1200" dirty="0">
                <a:solidFill>
                  <a:schemeClr val="tx1"/>
                </a:solidFill>
                <a:effectLst/>
                <a:latin typeface="+mn-lt"/>
                <a:ea typeface="+mn-ea"/>
                <a:cs typeface="+mn-cs"/>
              </a:rPr>
              <a:t>A </a:t>
            </a:r>
            <a:r>
              <a:rPr lang="hu-HU" sz="1200" kern="1200" dirty="0" err="1">
                <a:solidFill>
                  <a:schemeClr val="tx1"/>
                </a:solidFill>
                <a:effectLst/>
                <a:latin typeface="+mn-lt"/>
                <a:ea typeface="+mn-ea"/>
                <a:cs typeface="+mn-cs"/>
              </a:rPr>
              <a:t>Dynamic</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Host</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Configuration</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Protocol</a:t>
            </a:r>
            <a:r>
              <a:rPr lang="hu-HU" sz="1200" kern="1200" dirty="0">
                <a:solidFill>
                  <a:schemeClr val="tx1"/>
                </a:solidFill>
                <a:effectLst/>
                <a:latin typeface="+mn-lt"/>
                <a:ea typeface="+mn-ea"/>
                <a:cs typeface="+mn-cs"/>
              </a:rPr>
              <a:t> (DHCP) hálózati címek, átjárók és DNS szerverek automatikus kisosztását teszi lehetővé, ezzel jelentős időt spórolva, és emberi hibalehetőséget kiiktatva. Ezt a protokollt 3 telephelyen is alkalmaztuk, routereken és szervereken is.  </a:t>
            </a:r>
          </a:p>
          <a:p>
            <a:endParaRPr lang="hu-HU" dirty="0"/>
          </a:p>
        </p:txBody>
      </p:sp>
      <p:sp>
        <p:nvSpPr>
          <p:cNvPr id="4" name="Dia számának helye 3"/>
          <p:cNvSpPr>
            <a:spLocks noGrp="1"/>
          </p:cNvSpPr>
          <p:nvPr>
            <p:ph type="sldNum" sz="quarter" idx="5"/>
          </p:nvPr>
        </p:nvSpPr>
        <p:spPr/>
        <p:txBody>
          <a:bodyPr/>
          <a:lstStyle/>
          <a:p>
            <a:fld id="{A67D4F15-C7BC-4A56-B8AA-CF1F76BA253C}" type="slidenum">
              <a:rPr lang="hu-HU" smtClean="0"/>
              <a:t>12</a:t>
            </a:fld>
            <a:endParaRPr lang="hu-HU"/>
          </a:p>
        </p:txBody>
      </p:sp>
    </p:spTree>
    <p:extLst>
      <p:ext uri="{BB962C8B-B14F-4D97-AF65-F5344CB8AC3E}">
        <p14:creationId xmlns:p14="http://schemas.microsoft.com/office/powerpoint/2010/main" val="141666177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hu-HU" sz="1200" kern="1200" dirty="0">
                <a:solidFill>
                  <a:schemeClr val="tx1"/>
                </a:solidFill>
                <a:effectLst/>
                <a:latin typeface="+mn-lt"/>
                <a:ea typeface="+mn-ea"/>
                <a:cs typeface="+mn-cs"/>
              </a:rPr>
              <a:t>Az előzővel kéz-a-kézben járó biztonsági protokoll megakadályozza, hogy illetéktelenek hamis DHCP konfigurációt adjanak ki, ezzel olyan támadásokat megakadályozva, mint Man-in-</a:t>
            </a:r>
            <a:r>
              <a:rPr lang="hu-HU" sz="1200" kern="1200" dirty="0" err="1">
                <a:solidFill>
                  <a:schemeClr val="tx1"/>
                </a:solidFill>
                <a:effectLst/>
                <a:latin typeface="+mn-lt"/>
                <a:ea typeface="+mn-ea"/>
                <a:cs typeface="+mn-cs"/>
              </a:rPr>
              <a:t>the</a:t>
            </a:r>
            <a:r>
              <a:rPr lang="hu-HU" sz="1200" kern="1200" dirty="0">
                <a:solidFill>
                  <a:schemeClr val="tx1"/>
                </a:solidFill>
                <a:effectLst/>
                <a:latin typeface="+mn-lt"/>
                <a:ea typeface="+mn-ea"/>
                <a:cs typeface="+mn-cs"/>
              </a:rPr>
              <a:t>-</a:t>
            </a:r>
            <a:r>
              <a:rPr lang="hu-HU" sz="1200" kern="1200" dirty="0" err="1">
                <a:solidFill>
                  <a:schemeClr val="tx1"/>
                </a:solidFill>
                <a:effectLst/>
                <a:latin typeface="+mn-lt"/>
                <a:ea typeface="+mn-ea"/>
                <a:cs typeface="+mn-cs"/>
              </a:rPr>
              <a:t>middle</a:t>
            </a:r>
            <a:r>
              <a:rPr lang="hu-HU" sz="1200" kern="1200" dirty="0">
                <a:solidFill>
                  <a:schemeClr val="tx1"/>
                </a:solidFill>
                <a:effectLst/>
                <a:latin typeface="+mn-lt"/>
                <a:ea typeface="+mn-ea"/>
                <a:cs typeface="+mn-cs"/>
              </a:rPr>
              <a:t> (azaz </a:t>
            </a:r>
            <a:r>
              <a:rPr lang="hu-HU" sz="1200" kern="1200" dirty="0" err="1">
                <a:solidFill>
                  <a:schemeClr val="tx1"/>
                </a:solidFill>
                <a:effectLst/>
                <a:latin typeface="+mn-lt"/>
                <a:ea typeface="+mn-ea"/>
                <a:cs typeface="+mn-cs"/>
              </a:rPr>
              <a:t>beékelődéses</a:t>
            </a:r>
            <a:r>
              <a:rPr lang="hu-HU" sz="1200" kern="1200" dirty="0">
                <a:solidFill>
                  <a:schemeClr val="tx1"/>
                </a:solidFill>
                <a:effectLst/>
                <a:latin typeface="+mn-lt"/>
                <a:ea typeface="+mn-ea"/>
                <a:cs typeface="+mn-cs"/>
              </a:rPr>
              <a:t>), és DHCP </a:t>
            </a:r>
            <a:r>
              <a:rPr lang="hu-HU" sz="1200" kern="1200" dirty="0" err="1">
                <a:solidFill>
                  <a:schemeClr val="tx1"/>
                </a:solidFill>
                <a:effectLst/>
                <a:latin typeface="+mn-lt"/>
                <a:ea typeface="+mn-ea"/>
                <a:cs typeface="+mn-cs"/>
              </a:rPr>
              <a:t>Starving</a:t>
            </a:r>
            <a:r>
              <a:rPr lang="hu-HU" sz="1200" kern="1200" dirty="0">
                <a:solidFill>
                  <a:schemeClr val="tx1"/>
                </a:solidFill>
                <a:effectLst/>
                <a:latin typeface="+mn-lt"/>
                <a:ea typeface="+mn-ea"/>
                <a:cs typeface="+mn-cs"/>
              </a:rPr>
              <a:t> támadásokat. </a:t>
            </a:r>
          </a:p>
          <a:p>
            <a:endParaRPr lang="hu-HU" dirty="0"/>
          </a:p>
        </p:txBody>
      </p:sp>
      <p:sp>
        <p:nvSpPr>
          <p:cNvPr id="4" name="Dia számának helye 3"/>
          <p:cNvSpPr>
            <a:spLocks noGrp="1"/>
          </p:cNvSpPr>
          <p:nvPr>
            <p:ph type="sldNum" sz="quarter" idx="5"/>
          </p:nvPr>
        </p:nvSpPr>
        <p:spPr/>
        <p:txBody>
          <a:bodyPr/>
          <a:lstStyle/>
          <a:p>
            <a:fld id="{A67D4F15-C7BC-4A56-B8AA-CF1F76BA253C}" type="slidenum">
              <a:rPr lang="hu-HU" smtClean="0"/>
              <a:t>13</a:t>
            </a:fld>
            <a:endParaRPr lang="hu-HU"/>
          </a:p>
        </p:txBody>
      </p:sp>
    </p:spTree>
    <p:extLst>
      <p:ext uri="{BB962C8B-B14F-4D97-AF65-F5344CB8AC3E}">
        <p14:creationId xmlns:p14="http://schemas.microsoft.com/office/powerpoint/2010/main" val="211979055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hu-HU" sz="1200" kern="1200" dirty="0">
                <a:solidFill>
                  <a:schemeClr val="tx1"/>
                </a:solidFill>
                <a:effectLst/>
                <a:latin typeface="+mn-lt"/>
                <a:ea typeface="+mn-ea"/>
                <a:cs typeface="+mn-cs"/>
              </a:rPr>
              <a:t>A GRE (</a:t>
            </a:r>
            <a:r>
              <a:rPr lang="hu-HU" sz="1200" kern="1200" dirty="0" err="1">
                <a:solidFill>
                  <a:schemeClr val="tx1"/>
                </a:solidFill>
                <a:effectLst/>
                <a:latin typeface="+mn-lt"/>
                <a:ea typeface="+mn-ea"/>
                <a:cs typeface="+mn-cs"/>
              </a:rPr>
              <a:t>Generic</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Routeing</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Encapsulation</a:t>
            </a:r>
            <a:r>
              <a:rPr lang="hu-HU" sz="1200" kern="1200" dirty="0">
                <a:solidFill>
                  <a:schemeClr val="tx1"/>
                </a:solidFill>
                <a:effectLst/>
                <a:latin typeface="+mn-lt"/>
                <a:ea typeface="+mn-ea"/>
                <a:cs typeface="+mn-cs"/>
              </a:rPr>
              <a:t>) tökéletes megoldás a VPN kapcsolatok felállítására, és a forgalom biztonságos és gyors mozgatására. Ezek egy logikai </a:t>
            </a:r>
            <a:r>
              <a:rPr lang="hu-HU" sz="1200" kern="1200" dirty="0" err="1">
                <a:solidFill>
                  <a:schemeClr val="tx1"/>
                </a:solidFill>
                <a:effectLst/>
                <a:latin typeface="+mn-lt"/>
                <a:ea typeface="+mn-ea"/>
                <a:cs typeface="+mn-cs"/>
              </a:rPr>
              <a:t>point-to-point</a:t>
            </a:r>
            <a:r>
              <a:rPr lang="hu-HU" sz="1200" kern="1200" dirty="0">
                <a:solidFill>
                  <a:schemeClr val="tx1"/>
                </a:solidFill>
                <a:effectLst/>
                <a:latin typeface="+mn-lt"/>
                <a:ea typeface="+mn-ea"/>
                <a:cs typeface="+mn-cs"/>
              </a:rPr>
              <a:t> kapcsolatot hoznak létre, az adatcsomagot egy másik csomagba berakva, ezzel elkerülve, hogy a köztes forgalomirányítók megnézzék vagy módosítsák a tartalmát. Ezt a telephelyek routerei között mind alkalmaztuk (OR1, OR2, </a:t>
            </a:r>
            <a:r>
              <a:rPr lang="hu-HU" sz="1200" kern="1200" dirty="0" err="1">
                <a:solidFill>
                  <a:schemeClr val="tx1"/>
                </a:solidFill>
                <a:effectLst/>
                <a:latin typeface="+mn-lt"/>
                <a:ea typeface="+mn-ea"/>
                <a:cs typeface="+mn-cs"/>
              </a:rPr>
              <a:t>FactoryRouter</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IrodaRouter</a:t>
            </a:r>
            <a:r>
              <a:rPr lang="hu-HU" sz="1200" kern="1200" dirty="0">
                <a:solidFill>
                  <a:schemeClr val="tx1"/>
                </a:solidFill>
                <a:effectLst/>
                <a:latin typeface="+mn-lt"/>
                <a:ea typeface="+mn-ea"/>
                <a:cs typeface="+mn-cs"/>
              </a:rPr>
              <a:t>). </a:t>
            </a:r>
          </a:p>
          <a:p>
            <a:endParaRPr lang="hu-HU" dirty="0"/>
          </a:p>
        </p:txBody>
      </p:sp>
      <p:sp>
        <p:nvSpPr>
          <p:cNvPr id="4" name="Dia számának helye 3"/>
          <p:cNvSpPr>
            <a:spLocks noGrp="1"/>
          </p:cNvSpPr>
          <p:nvPr>
            <p:ph type="sldNum" sz="quarter" idx="5"/>
          </p:nvPr>
        </p:nvSpPr>
        <p:spPr/>
        <p:txBody>
          <a:bodyPr/>
          <a:lstStyle/>
          <a:p>
            <a:fld id="{A67D4F15-C7BC-4A56-B8AA-CF1F76BA253C}" type="slidenum">
              <a:rPr lang="hu-HU" smtClean="0"/>
              <a:t>14</a:t>
            </a:fld>
            <a:endParaRPr lang="hu-HU"/>
          </a:p>
        </p:txBody>
      </p:sp>
    </p:spTree>
    <p:extLst>
      <p:ext uri="{BB962C8B-B14F-4D97-AF65-F5344CB8AC3E}">
        <p14:creationId xmlns:p14="http://schemas.microsoft.com/office/powerpoint/2010/main" val="254875041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hu-HU" sz="1200" kern="1200" dirty="0">
                <a:solidFill>
                  <a:schemeClr val="tx1"/>
                </a:solidFill>
                <a:effectLst/>
                <a:latin typeface="+mn-lt"/>
                <a:ea typeface="+mn-ea"/>
                <a:cs typeface="+mn-cs"/>
              </a:rPr>
              <a:t>A Hot </a:t>
            </a:r>
            <a:r>
              <a:rPr lang="hu-HU" sz="1200" kern="1200" dirty="0" err="1">
                <a:solidFill>
                  <a:schemeClr val="tx1"/>
                </a:solidFill>
                <a:effectLst/>
                <a:latin typeface="+mn-lt"/>
                <a:ea typeface="+mn-ea"/>
                <a:cs typeface="+mn-cs"/>
              </a:rPr>
              <a:t>Standby</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Routing</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Protocol</a:t>
            </a:r>
            <a:r>
              <a:rPr lang="hu-HU" sz="1200" kern="1200" dirty="0">
                <a:solidFill>
                  <a:schemeClr val="tx1"/>
                </a:solidFill>
                <a:effectLst/>
                <a:latin typeface="+mn-lt"/>
                <a:ea typeface="+mn-ea"/>
                <a:cs typeface="+mn-cs"/>
              </a:rPr>
              <a:t> a redundáns alapátjáró kezelést teszi lehetővé. Ilyenkor két azonos hálózatban lévő router egy közös logikai kapcsolatot teremtenek, és egymást állapotát észlelve továbbítják a forgalmat. A forgalom iránya változik, ha valamelyik fizikai link lekapcsol, vagy meghibásodik. Ezt az OR1 és OR2 routeren alkalmaztuk. </a:t>
            </a:r>
          </a:p>
          <a:p>
            <a:endParaRPr lang="hu-HU" dirty="0"/>
          </a:p>
        </p:txBody>
      </p:sp>
      <p:sp>
        <p:nvSpPr>
          <p:cNvPr id="4" name="Dia számának helye 3"/>
          <p:cNvSpPr>
            <a:spLocks noGrp="1"/>
          </p:cNvSpPr>
          <p:nvPr>
            <p:ph type="sldNum" sz="quarter" idx="5"/>
          </p:nvPr>
        </p:nvSpPr>
        <p:spPr/>
        <p:txBody>
          <a:bodyPr/>
          <a:lstStyle/>
          <a:p>
            <a:fld id="{A67D4F15-C7BC-4A56-B8AA-CF1F76BA253C}" type="slidenum">
              <a:rPr lang="hu-HU" smtClean="0"/>
              <a:t>15</a:t>
            </a:fld>
            <a:endParaRPr lang="hu-HU"/>
          </a:p>
        </p:txBody>
      </p:sp>
    </p:spTree>
    <p:extLst>
      <p:ext uri="{BB962C8B-B14F-4D97-AF65-F5344CB8AC3E}">
        <p14:creationId xmlns:p14="http://schemas.microsoft.com/office/powerpoint/2010/main" val="124428208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hu-HU" sz="1200" kern="1200" dirty="0">
                <a:solidFill>
                  <a:schemeClr val="tx1"/>
                </a:solidFill>
                <a:effectLst/>
                <a:latin typeface="+mn-lt"/>
                <a:ea typeface="+mn-ea"/>
                <a:cs typeface="+mn-cs"/>
              </a:rPr>
              <a:t>A NAT és a PAT hasonló célt szolgálnak, viszont máshogy érik el. Network </a:t>
            </a:r>
            <a:r>
              <a:rPr lang="hu-HU" sz="1200" kern="1200" dirty="0" err="1">
                <a:solidFill>
                  <a:schemeClr val="tx1"/>
                </a:solidFill>
                <a:effectLst/>
                <a:latin typeface="+mn-lt"/>
                <a:ea typeface="+mn-ea"/>
                <a:cs typeface="+mn-cs"/>
              </a:rPr>
              <a:t>Address</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Translationnál</a:t>
            </a:r>
            <a:r>
              <a:rPr lang="hu-HU" sz="1200" kern="1200" dirty="0">
                <a:solidFill>
                  <a:schemeClr val="tx1"/>
                </a:solidFill>
                <a:effectLst/>
                <a:latin typeface="+mn-lt"/>
                <a:ea typeface="+mn-ea"/>
                <a:cs typeface="+mn-cs"/>
              </a:rPr>
              <a:t> egy belső címet teszünk elérhetővé az internet, azaz hálózaton kívül lévő eszközök számára. A Port </a:t>
            </a:r>
            <a:r>
              <a:rPr lang="hu-HU" sz="1200" kern="1200" dirty="0" err="1">
                <a:solidFill>
                  <a:schemeClr val="tx1"/>
                </a:solidFill>
                <a:effectLst/>
                <a:latin typeface="+mn-lt"/>
                <a:ea typeface="+mn-ea"/>
                <a:cs typeface="+mn-cs"/>
              </a:rPr>
              <a:t>Address</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Translation</a:t>
            </a:r>
            <a:r>
              <a:rPr lang="hu-HU" sz="1200" kern="1200" dirty="0">
                <a:solidFill>
                  <a:schemeClr val="tx1"/>
                </a:solidFill>
                <a:effectLst/>
                <a:latin typeface="+mn-lt"/>
                <a:ea typeface="+mn-ea"/>
                <a:cs typeface="+mn-cs"/>
              </a:rPr>
              <a:t> Esetében a belső hálózat kimenő csomagjait a router külső </a:t>
            </a:r>
            <a:r>
              <a:rPr lang="hu-HU" sz="1200" kern="1200" dirty="0" err="1">
                <a:solidFill>
                  <a:schemeClr val="tx1"/>
                </a:solidFill>
                <a:effectLst/>
                <a:latin typeface="+mn-lt"/>
                <a:ea typeface="+mn-ea"/>
                <a:cs typeface="+mn-cs"/>
              </a:rPr>
              <a:t>portjához</a:t>
            </a:r>
            <a:r>
              <a:rPr lang="hu-HU" sz="1200" kern="1200" dirty="0">
                <a:solidFill>
                  <a:schemeClr val="tx1"/>
                </a:solidFill>
                <a:effectLst/>
                <a:latin typeface="+mn-lt"/>
                <a:ea typeface="+mn-ea"/>
                <a:cs typeface="+mn-cs"/>
              </a:rPr>
              <a:t> fűzzük, majd válasz esetén lefordítjuk, és megfelelő helyre küldjük vissza, szintén portok alapján. A NAT-ot minden internetről elérhető szerverhez, a PAT-ot pedig minden telephelyhez kötődő routeren konfiguráltuk Itt szükség lesz a fentebb említett </a:t>
            </a:r>
            <a:r>
              <a:rPr lang="hu-HU" sz="1200" kern="1200" dirty="0" err="1">
                <a:solidFill>
                  <a:schemeClr val="tx1"/>
                </a:solidFill>
                <a:effectLst/>
                <a:latin typeface="+mn-lt"/>
                <a:ea typeface="+mn-ea"/>
                <a:cs typeface="+mn-cs"/>
              </a:rPr>
              <a:t>access</a:t>
            </a:r>
            <a:r>
              <a:rPr lang="hu-HU" sz="1200" kern="1200" dirty="0">
                <a:solidFill>
                  <a:schemeClr val="tx1"/>
                </a:solidFill>
                <a:effectLst/>
                <a:latin typeface="+mn-lt"/>
                <a:ea typeface="+mn-ea"/>
                <a:cs typeface="+mn-cs"/>
              </a:rPr>
              <a:t> listákra, mert megmondják, mely belső IP tartományok fordíthatók le, és osztozhatnak egy külső címen.</a:t>
            </a:r>
          </a:p>
          <a:p>
            <a:endParaRPr lang="hu-HU" dirty="0"/>
          </a:p>
        </p:txBody>
      </p:sp>
      <p:sp>
        <p:nvSpPr>
          <p:cNvPr id="4" name="Dia számának helye 3"/>
          <p:cNvSpPr>
            <a:spLocks noGrp="1"/>
          </p:cNvSpPr>
          <p:nvPr>
            <p:ph type="sldNum" sz="quarter" idx="5"/>
          </p:nvPr>
        </p:nvSpPr>
        <p:spPr/>
        <p:txBody>
          <a:bodyPr/>
          <a:lstStyle/>
          <a:p>
            <a:fld id="{A67D4F15-C7BC-4A56-B8AA-CF1F76BA253C}" type="slidenum">
              <a:rPr lang="hu-HU" smtClean="0"/>
              <a:t>16</a:t>
            </a:fld>
            <a:endParaRPr lang="hu-HU"/>
          </a:p>
        </p:txBody>
      </p:sp>
    </p:spTree>
    <p:extLst>
      <p:ext uri="{BB962C8B-B14F-4D97-AF65-F5344CB8AC3E}">
        <p14:creationId xmlns:p14="http://schemas.microsoft.com/office/powerpoint/2010/main" val="234235009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hu-HU" sz="1200" kern="1200" dirty="0">
                <a:solidFill>
                  <a:schemeClr val="tx1"/>
                </a:solidFill>
                <a:effectLst/>
                <a:latin typeface="+mn-lt"/>
                <a:ea typeface="+mn-ea"/>
                <a:cs typeface="+mn-cs"/>
              </a:rPr>
              <a:t>The EIGRP, </a:t>
            </a:r>
            <a:r>
              <a:rPr lang="hu-HU" sz="1200" kern="1200" dirty="0" err="1">
                <a:solidFill>
                  <a:schemeClr val="tx1"/>
                </a:solidFill>
                <a:effectLst/>
                <a:latin typeface="+mn-lt"/>
                <a:ea typeface="+mn-ea"/>
                <a:cs typeface="+mn-cs"/>
              </a:rPr>
              <a:t>also</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known</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as</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Enhanced</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Interior</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Gateway</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Routing</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Protocol</a:t>
            </a:r>
            <a:r>
              <a:rPr lang="hu-HU" sz="1200" kern="1200" dirty="0">
                <a:solidFill>
                  <a:schemeClr val="tx1"/>
                </a:solidFill>
                <a:effectLst/>
                <a:latin typeface="+mn-lt"/>
                <a:ea typeface="+mn-ea"/>
                <a:cs typeface="+mn-cs"/>
              </a:rPr>
              <a:t>, is a </a:t>
            </a:r>
            <a:r>
              <a:rPr lang="hu-HU" sz="1200" kern="1200" dirty="0" err="1">
                <a:solidFill>
                  <a:schemeClr val="tx1"/>
                </a:solidFill>
                <a:effectLst/>
                <a:latin typeface="+mn-lt"/>
                <a:ea typeface="+mn-ea"/>
                <a:cs typeface="+mn-cs"/>
              </a:rPr>
              <a:t>proprietary</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protocol</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developed</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by</a:t>
            </a:r>
            <a:r>
              <a:rPr lang="hu-HU" sz="1200" kern="1200" dirty="0">
                <a:solidFill>
                  <a:schemeClr val="tx1"/>
                </a:solidFill>
                <a:effectLst/>
                <a:latin typeface="+mn-lt"/>
                <a:ea typeface="+mn-ea"/>
                <a:cs typeface="+mn-cs"/>
              </a:rPr>
              <a:t> Cisco. </a:t>
            </a:r>
            <a:r>
              <a:rPr lang="hu-HU" sz="1200" kern="1200" dirty="0" err="1">
                <a:solidFill>
                  <a:schemeClr val="tx1"/>
                </a:solidFill>
                <a:effectLst/>
                <a:latin typeface="+mn-lt"/>
                <a:ea typeface="+mn-ea"/>
                <a:cs typeface="+mn-cs"/>
              </a:rPr>
              <a:t>We</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found</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this</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to</a:t>
            </a:r>
            <a:r>
              <a:rPr lang="hu-HU" sz="1200" kern="1200" dirty="0">
                <a:solidFill>
                  <a:schemeClr val="tx1"/>
                </a:solidFill>
                <a:effectLst/>
                <a:latin typeface="+mn-lt"/>
                <a:ea typeface="+mn-ea"/>
                <a:cs typeface="+mn-cs"/>
              </a:rPr>
              <a:t> be </a:t>
            </a:r>
            <a:r>
              <a:rPr lang="hu-HU" sz="1200" kern="1200" dirty="0" err="1">
                <a:solidFill>
                  <a:schemeClr val="tx1"/>
                </a:solidFill>
                <a:effectLst/>
                <a:latin typeface="+mn-lt"/>
                <a:ea typeface="+mn-ea"/>
                <a:cs typeface="+mn-cs"/>
              </a:rPr>
              <a:t>the</a:t>
            </a:r>
            <a:r>
              <a:rPr lang="hu-HU" sz="1200" kern="1200" dirty="0">
                <a:solidFill>
                  <a:schemeClr val="tx1"/>
                </a:solidFill>
                <a:effectLst/>
                <a:latin typeface="+mn-lt"/>
                <a:ea typeface="+mn-ea"/>
                <a:cs typeface="+mn-cs"/>
              </a:rPr>
              <a:t> most </a:t>
            </a:r>
            <a:r>
              <a:rPr lang="hu-HU" sz="1200" kern="1200" dirty="0" err="1">
                <a:solidFill>
                  <a:schemeClr val="tx1"/>
                </a:solidFill>
                <a:effectLst/>
                <a:latin typeface="+mn-lt"/>
                <a:ea typeface="+mn-ea"/>
                <a:cs typeface="+mn-cs"/>
              </a:rPr>
              <a:t>optimal</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solution</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for</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simulating</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the</a:t>
            </a:r>
            <a:r>
              <a:rPr lang="hu-HU" sz="1200" kern="1200" dirty="0">
                <a:solidFill>
                  <a:schemeClr val="tx1"/>
                </a:solidFill>
                <a:effectLst/>
                <a:latin typeface="+mn-lt"/>
                <a:ea typeface="+mn-ea"/>
                <a:cs typeface="+mn-cs"/>
              </a:rPr>
              <a:t> Internet Service </a:t>
            </a:r>
            <a:r>
              <a:rPr lang="hu-HU" sz="1200" kern="1200" dirty="0" err="1">
                <a:solidFill>
                  <a:schemeClr val="tx1"/>
                </a:solidFill>
                <a:effectLst/>
                <a:latin typeface="+mn-lt"/>
                <a:ea typeface="+mn-ea"/>
                <a:cs typeface="+mn-cs"/>
              </a:rPr>
              <a:t>Provider</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network</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due</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to</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it’s</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low</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convergence</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time</a:t>
            </a:r>
            <a:r>
              <a:rPr lang="hu-HU" sz="1200" kern="1200" dirty="0">
                <a:solidFill>
                  <a:schemeClr val="tx1"/>
                </a:solidFill>
                <a:effectLst/>
                <a:latin typeface="+mn-lt"/>
                <a:ea typeface="+mn-ea"/>
                <a:cs typeface="+mn-cs"/>
              </a:rPr>
              <a:t> and </a:t>
            </a:r>
            <a:r>
              <a:rPr lang="hu-HU" sz="1200" kern="1200" dirty="0" err="1">
                <a:solidFill>
                  <a:schemeClr val="tx1"/>
                </a:solidFill>
                <a:effectLst/>
                <a:latin typeface="+mn-lt"/>
                <a:ea typeface="+mn-ea"/>
                <a:cs typeface="+mn-cs"/>
              </a:rPr>
              <a:t>scalability</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Applying</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this</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onto</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the</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routers</a:t>
            </a:r>
            <a:r>
              <a:rPr lang="hu-HU" sz="1200" kern="1200" dirty="0">
                <a:solidFill>
                  <a:schemeClr val="tx1"/>
                </a:solidFill>
                <a:effectLst/>
                <a:latin typeface="+mn-lt"/>
                <a:ea typeface="+mn-ea"/>
                <a:cs typeface="+mn-cs"/>
              </a:rPr>
              <a:t> ISP1-8, </a:t>
            </a:r>
            <a:r>
              <a:rPr lang="hu-HU" sz="1200" kern="1200" dirty="0" err="1">
                <a:solidFill>
                  <a:schemeClr val="tx1"/>
                </a:solidFill>
                <a:effectLst/>
                <a:latin typeface="+mn-lt"/>
                <a:ea typeface="+mn-ea"/>
                <a:cs typeface="+mn-cs"/>
              </a:rPr>
              <a:t>we</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ensure</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that</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all</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routers</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have</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up-to-date</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information</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on</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the</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network</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topology</a:t>
            </a:r>
            <a:r>
              <a:rPr lang="hu-HU" sz="1200" kern="1200" dirty="0">
                <a:solidFill>
                  <a:schemeClr val="tx1"/>
                </a:solidFill>
                <a:effectLst/>
                <a:latin typeface="+mn-lt"/>
                <a:ea typeface="+mn-ea"/>
                <a:cs typeface="+mn-cs"/>
              </a:rPr>
              <a:t> and </a:t>
            </a:r>
            <a:r>
              <a:rPr lang="hu-HU" sz="1200" kern="1200" dirty="0" err="1">
                <a:solidFill>
                  <a:schemeClr val="tx1"/>
                </a:solidFill>
                <a:effectLst/>
                <a:latin typeface="+mn-lt"/>
                <a:ea typeface="+mn-ea"/>
                <a:cs typeface="+mn-cs"/>
              </a:rPr>
              <a:t>provide</a:t>
            </a:r>
            <a:r>
              <a:rPr lang="hu-HU" sz="1200" kern="1200" dirty="0">
                <a:solidFill>
                  <a:schemeClr val="tx1"/>
                </a:solidFill>
                <a:effectLst/>
                <a:latin typeface="+mn-lt"/>
                <a:ea typeface="+mn-ea"/>
                <a:cs typeface="+mn-cs"/>
              </a:rPr>
              <a:t> consistent platform </a:t>
            </a:r>
            <a:r>
              <a:rPr lang="hu-HU" sz="1200" kern="1200" dirty="0" err="1">
                <a:solidFill>
                  <a:schemeClr val="tx1"/>
                </a:solidFill>
                <a:effectLst/>
                <a:latin typeface="+mn-lt"/>
                <a:ea typeface="+mn-ea"/>
                <a:cs typeface="+mn-cs"/>
              </a:rPr>
              <a:t>for</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the</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network</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traffic</a:t>
            </a:r>
            <a:r>
              <a:rPr lang="hu-HU" sz="1200" kern="1200" dirty="0">
                <a:solidFill>
                  <a:schemeClr val="tx1"/>
                </a:solidFill>
                <a:effectLst/>
                <a:latin typeface="+mn-lt"/>
                <a:ea typeface="+mn-ea"/>
                <a:cs typeface="+mn-cs"/>
              </a:rPr>
              <a:t>.</a:t>
            </a:r>
          </a:p>
          <a:p>
            <a:endParaRPr lang="hu-HU" dirty="0"/>
          </a:p>
        </p:txBody>
      </p:sp>
      <p:sp>
        <p:nvSpPr>
          <p:cNvPr id="4" name="Dia számának helye 3"/>
          <p:cNvSpPr>
            <a:spLocks noGrp="1"/>
          </p:cNvSpPr>
          <p:nvPr>
            <p:ph type="sldNum" sz="quarter" idx="5"/>
          </p:nvPr>
        </p:nvSpPr>
        <p:spPr/>
        <p:txBody>
          <a:bodyPr/>
          <a:lstStyle/>
          <a:p>
            <a:fld id="{A67D4F15-C7BC-4A56-B8AA-CF1F76BA253C}" type="slidenum">
              <a:rPr lang="hu-HU" smtClean="0"/>
              <a:t>17</a:t>
            </a:fld>
            <a:endParaRPr lang="hu-HU"/>
          </a:p>
        </p:txBody>
      </p:sp>
    </p:spTree>
    <p:extLst>
      <p:ext uri="{BB962C8B-B14F-4D97-AF65-F5344CB8AC3E}">
        <p14:creationId xmlns:p14="http://schemas.microsoft.com/office/powerpoint/2010/main" val="348398566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hu-HU" sz="1200" kern="1200" dirty="0" err="1">
                <a:solidFill>
                  <a:schemeClr val="tx1"/>
                </a:solidFill>
                <a:effectLst/>
                <a:latin typeface="+mn-lt"/>
                <a:ea typeface="+mn-ea"/>
                <a:cs typeface="+mn-cs"/>
              </a:rPr>
              <a:t>This</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protocol</a:t>
            </a:r>
            <a:r>
              <a:rPr lang="hu-HU" sz="1200" kern="1200" dirty="0">
                <a:solidFill>
                  <a:schemeClr val="tx1"/>
                </a:solidFill>
                <a:effectLst/>
                <a:latin typeface="+mn-lt"/>
                <a:ea typeface="+mn-ea"/>
                <a:cs typeface="+mn-cs"/>
              </a:rPr>
              <a:t> is </a:t>
            </a:r>
            <a:r>
              <a:rPr lang="hu-HU" sz="1200" kern="1200" dirty="0" err="1">
                <a:solidFill>
                  <a:schemeClr val="tx1"/>
                </a:solidFill>
                <a:effectLst/>
                <a:latin typeface="+mn-lt"/>
                <a:ea typeface="+mn-ea"/>
                <a:cs typeface="+mn-cs"/>
              </a:rPr>
              <a:t>crucial</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for</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ensuring</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redundancy</a:t>
            </a:r>
            <a:r>
              <a:rPr lang="hu-HU" sz="1200" kern="1200" dirty="0">
                <a:solidFill>
                  <a:schemeClr val="tx1"/>
                </a:solidFill>
                <a:effectLst/>
                <a:latin typeface="+mn-lt"/>
                <a:ea typeface="+mn-ea"/>
                <a:cs typeface="+mn-cs"/>
              </a:rPr>
              <a:t> in </a:t>
            </a:r>
            <a:r>
              <a:rPr lang="hu-HU" sz="1200" kern="1200" dirty="0" err="1">
                <a:solidFill>
                  <a:schemeClr val="tx1"/>
                </a:solidFill>
                <a:effectLst/>
                <a:latin typeface="+mn-lt"/>
                <a:ea typeface="+mn-ea"/>
                <a:cs typeface="+mn-cs"/>
              </a:rPr>
              <a:t>Layer</a:t>
            </a:r>
            <a:r>
              <a:rPr lang="hu-HU" sz="1200" kern="1200" dirty="0">
                <a:solidFill>
                  <a:schemeClr val="tx1"/>
                </a:solidFill>
                <a:effectLst/>
                <a:latin typeface="+mn-lt"/>
                <a:ea typeface="+mn-ea"/>
                <a:cs typeface="+mn-cs"/>
              </a:rPr>
              <a:t> 2 </a:t>
            </a:r>
            <a:r>
              <a:rPr lang="hu-HU" sz="1200" kern="1200" dirty="0" err="1">
                <a:solidFill>
                  <a:schemeClr val="tx1"/>
                </a:solidFill>
                <a:effectLst/>
                <a:latin typeface="+mn-lt"/>
                <a:ea typeface="+mn-ea"/>
                <a:cs typeface="+mn-cs"/>
              </a:rPr>
              <a:t>communications</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Applying</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this</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protocol</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automatically</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shuts</a:t>
            </a:r>
            <a:r>
              <a:rPr lang="hu-HU" sz="1200" kern="1200" dirty="0">
                <a:solidFill>
                  <a:schemeClr val="tx1"/>
                </a:solidFill>
                <a:effectLst/>
                <a:latin typeface="+mn-lt"/>
                <a:ea typeface="+mn-ea"/>
                <a:cs typeface="+mn-cs"/>
              </a:rPr>
              <a:t> down a </a:t>
            </a:r>
            <a:r>
              <a:rPr lang="hu-HU" sz="1200" kern="1200" dirty="0" err="1">
                <a:solidFill>
                  <a:schemeClr val="tx1"/>
                </a:solidFill>
                <a:effectLst/>
                <a:latin typeface="+mn-lt"/>
                <a:ea typeface="+mn-ea"/>
                <a:cs typeface="+mn-cs"/>
              </a:rPr>
              <a:t>pair</a:t>
            </a:r>
            <a:r>
              <a:rPr lang="hu-HU" sz="1200" kern="1200" dirty="0">
                <a:solidFill>
                  <a:schemeClr val="tx1"/>
                </a:solidFill>
                <a:effectLst/>
                <a:latin typeface="+mn-lt"/>
                <a:ea typeface="+mn-ea"/>
                <a:cs typeface="+mn-cs"/>
              </a:rPr>
              <a:t> of </a:t>
            </a:r>
            <a:r>
              <a:rPr lang="hu-HU" sz="1200" kern="1200" dirty="0" err="1">
                <a:solidFill>
                  <a:schemeClr val="tx1"/>
                </a:solidFill>
                <a:effectLst/>
                <a:latin typeface="+mn-lt"/>
                <a:ea typeface="+mn-ea"/>
                <a:cs typeface="+mn-cs"/>
              </a:rPr>
              <a:t>physical</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links</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preventing</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the</a:t>
            </a:r>
            <a:r>
              <a:rPr lang="hu-HU" sz="1200" kern="1200" dirty="0">
                <a:solidFill>
                  <a:schemeClr val="tx1"/>
                </a:solidFill>
                <a:effectLst/>
                <a:latin typeface="+mn-lt"/>
                <a:ea typeface="+mn-ea"/>
                <a:cs typeface="+mn-cs"/>
              </a:rPr>
              <a:t> 3 </a:t>
            </a:r>
            <a:r>
              <a:rPr lang="hu-HU" sz="1200" kern="1200" dirty="0" err="1">
                <a:solidFill>
                  <a:schemeClr val="tx1"/>
                </a:solidFill>
                <a:effectLst/>
                <a:latin typeface="+mn-lt"/>
                <a:ea typeface="+mn-ea"/>
                <a:cs typeface="+mn-cs"/>
              </a:rPr>
              <a:t>interconnected</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switches</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to</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cause</a:t>
            </a:r>
            <a:r>
              <a:rPr lang="hu-HU" sz="1200" kern="1200" dirty="0">
                <a:solidFill>
                  <a:schemeClr val="tx1"/>
                </a:solidFill>
                <a:effectLst/>
                <a:latin typeface="+mn-lt"/>
                <a:ea typeface="+mn-ea"/>
                <a:cs typeface="+mn-cs"/>
              </a:rPr>
              <a:t> a </a:t>
            </a:r>
            <a:r>
              <a:rPr lang="hu-HU" sz="1200" kern="1200" dirty="0" err="1">
                <a:solidFill>
                  <a:schemeClr val="tx1"/>
                </a:solidFill>
                <a:effectLst/>
                <a:latin typeface="+mn-lt"/>
                <a:ea typeface="+mn-ea"/>
                <a:cs typeface="+mn-cs"/>
              </a:rPr>
              <a:t>broadcast</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strom</a:t>
            </a:r>
            <a:r>
              <a:rPr lang="hu-HU" sz="1200" kern="1200" dirty="0">
                <a:solidFill>
                  <a:schemeClr val="tx1"/>
                </a:solidFill>
                <a:effectLst/>
                <a:latin typeface="+mn-lt"/>
                <a:ea typeface="+mn-ea"/>
                <a:cs typeface="+mn-cs"/>
              </a:rPr>
              <a:t>, and </a:t>
            </a:r>
            <a:r>
              <a:rPr lang="hu-HU" sz="1200" kern="1200" dirty="0" err="1">
                <a:solidFill>
                  <a:schemeClr val="tx1"/>
                </a:solidFill>
                <a:effectLst/>
                <a:latin typeface="+mn-lt"/>
                <a:ea typeface="+mn-ea"/>
                <a:cs typeface="+mn-cs"/>
              </a:rPr>
              <a:t>helps</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avoiding</a:t>
            </a:r>
            <a:r>
              <a:rPr lang="hu-HU" sz="1200" kern="1200" dirty="0">
                <a:solidFill>
                  <a:schemeClr val="tx1"/>
                </a:solidFill>
                <a:effectLst/>
                <a:latin typeface="+mn-lt"/>
                <a:ea typeface="+mn-ea"/>
                <a:cs typeface="+mn-cs"/>
              </a:rPr>
              <a:t> a </a:t>
            </a:r>
            <a:r>
              <a:rPr lang="hu-HU" sz="1200" kern="1200" dirty="0" err="1">
                <a:solidFill>
                  <a:schemeClr val="tx1"/>
                </a:solidFill>
                <a:effectLst/>
                <a:latin typeface="+mn-lt"/>
                <a:ea typeface="+mn-ea"/>
                <a:cs typeface="+mn-cs"/>
              </a:rPr>
              <a:t>catastrophic</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network</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failure</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Combining</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this</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with</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the</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EtherChannel</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protocol</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which</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combines</a:t>
            </a:r>
            <a:r>
              <a:rPr lang="hu-HU" sz="1200" kern="1200" dirty="0">
                <a:solidFill>
                  <a:schemeClr val="tx1"/>
                </a:solidFill>
                <a:effectLst/>
                <a:latin typeface="+mn-lt"/>
                <a:ea typeface="+mn-ea"/>
                <a:cs typeface="+mn-cs"/>
              </a:rPr>
              <a:t> 2 </a:t>
            </a:r>
            <a:r>
              <a:rPr lang="hu-HU" sz="1200" kern="1200" dirty="0" err="1">
                <a:solidFill>
                  <a:schemeClr val="tx1"/>
                </a:solidFill>
                <a:effectLst/>
                <a:latin typeface="+mn-lt"/>
                <a:ea typeface="+mn-ea"/>
                <a:cs typeface="+mn-cs"/>
              </a:rPr>
              <a:t>phisycal</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links</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into</a:t>
            </a:r>
            <a:r>
              <a:rPr lang="hu-HU" sz="1200" kern="1200" dirty="0">
                <a:solidFill>
                  <a:schemeClr val="tx1"/>
                </a:solidFill>
                <a:effectLst/>
                <a:latin typeface="+mn-lt"/>
                <a:ea typeface="+mn-ea"/>
                <a:cs typeface="+mn-cs"/>
              </a:rPr>
              <a:t> 1 </a:t>
            </a:r>
            <a:r>
              <a:rPr lang="hu-HU" sz="1200" kern="1200" dirty="0" err="1">
                <a:solidFill>
                  <a:schemeClr val="tx1"/>
                </a:solidFill>
                <a:effectLst/>
                <a:latin typeface="+mn-lt"/>
                <a:ea typeface="+mn-ea"/>
                <a:cs typeface="+mn-cs"/>
              </a:rPr>
              <a:t>logical</a:t>
            </a:r>
            <a:r>
              <a:rPr lang="hu-HU" sz="1200" kern="1200" dirty="0">
                <a:solidFill>
                  <a:schemeClr val="tx1"/>
                </a:solidFill>
                <a:effectLst/>
                <a:latin typeface="+mn-lt"/>
                <a:ea typeface="+mn-ea"/>
                <a:cs typeface="+mn-cs"/>
              </a:rPr>
              <a:t> link, </a:t>
            </a:r>
            <a:r>
              <a:rPr lang="hu-HU" sz="1200" kern="1200" dirty="0" err="1">
                <a:solidFill>
                  <a:schemeClr val="tx1"/>
                </a:solidFill>
                <a:effectLst/>
                <a:latin typeface="+mn-lt"/>
                <a:ea typeface="+mn-ea"/>
                <a:cs typeface="+mn-cs"/>
              </a:rPr>
              <a:t>gives</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us</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double</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the</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redundancy</a:t>
            </a:r>
            <a:r>
              <a:rPr lang="hu-HU" sz="1200" kern="1200" dirty="0">
                <a:solidFill>
                  <a:schemeClr val="tx1"/>
                </a:solidFill>
                <a:effectLst/>
                <a:latin typeface="+mn-lt"/>
                <a:ea typeface="+mn-ea"/>
                <a:cs typeface="+mn-cs"/>
              </a:rPr>
              <a:t>, and </a:t>
            </a:r>
            <a:r>
              <a:rPr lang="hu-HU" sz="1200" kern="1200" dirty="0" err="1">
                <a:solidFill>
                  <a:schemeClr val="tx1"/>
                </a:solidFill>
                <a:effectLst/>
                <a:latin typeface="+mn-lt"/>
                <a:ea typeface="+mn-ea"/>
                <a:cs typeface="+mn-cs"/>
              </a:rPr>
              <a:t>double</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the</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transfer</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speed</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We</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applied</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these</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practices</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inside</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the</a:t>
            </a:r>
            <a:r>
              <a:rPr lang="hu-HU" sz="1200" kern="1200" dirty="0">
                <a:solidFill>
                  <a:schemeClr val="tx1"/>
                </a:solidFill>
                <a:effectLst/>
                <a:latin typeface="+mn-lt"/>
                <a:ea typeface="+mn-ea"/>
                <a:cs typeface="+mn-cs"/>
              </a:rPr>
              <a:t> Office </a:t>
            </a:r>
            <a:r>
              <a:rPr lang="hu-HU" sz="1200" kern="1200" dirty="0" err="1">
                <a:solidFill>
                  <a:schemeClr val="tx1"/>
                </a:solidFill>
                <a:effectLst/>
                <a:latin typeface="+mn-lt"/>
                <a:ea typeface="+mn-ea"/>
                <a:cs typeface="+mn-cs"/>
              </a:rPr>
              <a:t>network</a:t>
            </a:r>
            <a:r>
              <a:rPr lang="hu-HU" sz="1200" kern="1200" dirty="0">
                <a:solidFill>
                  <a:schemeClr val="tx1"/>
                </a:solidFill>
                <a:effectLst/>
                <a:latin typeface="+mn-lt"/>
                <a:ea typeface="+mn-ea"/>
                <a:cs typeface="+mn-cs"/>
              </a:rPr>
              <a:t>.</a:t>
            </a:r>
          </a:p>
          <a:p>
            <a:endParaRPr lang="hu-HU" dirty="0"/>
          </a:p>
        </p:txBody>
      </p:sp>
      <p:sp>
        <p:nvSpPr>
          <p:cNvPr id="4" name="Dia számának helye 3"/>
          <p:cNvSpPr>
            <a:spLocks noGrp="1"/>
          </p:cNvSpPr>
          <p:nvPr>
            <p:ph type="sldNum" sz="quarter" idx="5"/>
          </p:nvPr>
        </p:nvSpPr>
        <p:spPr/>
        <p:txBody>
          <a:bodyPr/>
          <a:lstStyle/>
          <a:p>
            <a:fld id="{A67D4F15-C7BC-4A56-B8AA-CF1F76BA253C}" type="slidenum">
              <a:rPr lang="hu-HU" smtClean="0"/>
              <a:t>18</a:t>
            </a:fld>
            <a:endParaRPr lang="hu-HU"/>
          </a:p>
        </p:txBody>
      </p:sp>
    </p:spTree>
    <p:extLst>
      <p:ext uri="{BB962C8B-B14F-4D97-AF65-F5344CB8AC3E}">
        <p14:creationId xmlns:p14="http://schemas.microsoft.com/office/powerpoint/2010/main" val="93134015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hu-HU" sz="1200" kern="1200" dirty="0" err="1">
                <a:solidFill>
                  <a:schemeClr val="tx1"/>
                </a:solidFill>
                <a:effectLst/>
                <a:latin typeface="+mn-lt"/>
                <a:ea typeface="+mn-ea"/>
                <a:cs typeface="+mn-cs"/>
              </a:rPr>
              <a:t>Essential</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for</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managing</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network</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devices</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through</a:t>
            </a:r>
            <a:r>
              <a:rPr lang="hu-HU" sz="1200" kern="1200" dirty="0">
                <a:solidFill>
                  <a:schemeClr val="tx1"/>
                </a:solidFill>
                <a:effectLst/>
                <a:latin typeface="+mn-lt"/>
                <a:ea typeface="+mn-ea"/>
                <a:cs typeface="+mn-cs"/>
              </a:rPr>
              <a:t> a </a:t>
            </a:r>
            <a:r>
              <a:rPr lang="hu-HU" sz="1200" kern="1200" dirty="0" err="1">
                <a:solidFill>
                  <a:schemeClr val="tx1"/>
                </a:solidFill>
                <a:effectLst/>
                <a:latin typeface="+mn-lt"/>
                <a:ea typeface="+mn-ea"/>
                <a:cs typeface="+mn-cs"/>
              </a:rPr>
              <a:t>secure</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channel</a:t>
            </a:r>
            <a:r>
              <a:rPr lang="hu-HU" sz="1200" kern="1200" dirty="0">
                <a:solidFill>
                  <a:schemeClr val="tx1"/>
                </a:solidFill>
                <a:effectLst/>
                <a:latin typeface="+mn-lt"/>
                <a:ea typeface="+mn-ea"/>
                <a:cs typeface="+mn-cs"/>
              </a:rPr>
              <a:t>. SSH </a:t>
            </a:r>
            <a:r>
              <a:rPr lang="hu-HU" sz="1200" kern="1200" dirty="0" err="1">
                <a:solidFill>
                  <a:schemeClr val="tx1"/>
                </a:solidFill>
                <a:effectLst/>
                <a:latin typeface="+mn-lt"/>
                <a:ea typeface="+mn-ea"/>
                <a:cs typeface="+mn-cs"/>
              </a:rPr>
              <a:t>prevents</a:t>
            </a:r>
            <a:r>
              <a:rPr lang="hu-HU" sz="1200" kern="1200" dirty="0">
                <a:solidFill>
                  <a:schemeClr val="tx1"/>
                </a:solidFill>
                <a:effectLst/>
                <a:latin typeface="+mn-lt"/>
                <a:ea typeface="+mn-ea"/>
                <a:cs typeface="+mn-cs"/>
              </a:rPr>
              <a:t> Man-in-</a:t>
            </a:r>
            <a:r>
              <a:rPr lang="hu-HU" sz="1200" kern="1200" dirty="0" err="1">
                <a:solidFill>
                  <a:schemeClr val="tx1"/>
                </a:solidFill>
                <a:effectLst/>
                <a:latin typeface="+mn-lt"/>
                <a:ea typeface="+mn-ea"/>
                <a:cs typeface="+mn-cs"/>
              </a:rPr>
              <a:t>the</a:t>
            </a:r>
            <a:r>
              <a:rPr lang="hu-HU" sz="1200" kern="1200" dirty="0">
                <a:solidFill>
                  <a:schemeClr val="tx1"/>
                </a:solidFill>
                <a:effectLst/>
                <a:latin typeface="+mn-lt"/>
                <a:ea typeface="+mn-ea"/>
                <a:cs typeface="+mn-cs"/>
              </a:rPr>
              <a:t>-</a:t>
            </a:r>
            <a:r>
              <a:rPr lang="hu-HU" sz="1200" kern="1200" dirty="0" err="1">
                <a:solidFill>
                  <a:schemeClr val="tx1"/>
                </a:solidFill>
                <a:effectLst/>
                <a:latin typeface="+mn-lt"/>
                <a:ea typeface="+mn-ea"/>
                <a:cs typeface="+mn-cs"/>
              </a:rPr>
              <a:t>middle</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attacks</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from</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occouring</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due</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to</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it’s</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public</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key</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cryptography</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On</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routers</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this</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can</a:t>
            </a:r>
            <a:r>
              <a:rPr lang="hu-HU" sz="1200" kern="1200" dirty="0">
                <a:solidFill>
                  <a:schemeClr val="tx1"/>
                </a:solidFill>
                <a:effectLst/>
                <a:latin typeface="+mn-lt"/>
                <a:ea typeface="+mn-ea"/>
                <a:cs typeface="+mn-cs"/>
              </a:rPr>
              <a:t> be </a:t>
            </a:r>
            <a:r>
              <a:rPr lang="hu-HU" sz="1200" kern="1200" dirty="0" err="1">
                <a:solidFill>
                  <a:schemeClr val="tx1"/>
                </a:solidFill>
                <a:effectLst/>
                <a:latin typeface="+mn-lt"/>
                <a:ea typeface="+mn-ea"/>
                <a:cs typeface="+mn-cs"/>
              </a:rPr>
              <a:t>used</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on</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existing</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ports</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On</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switches</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there</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are</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virtual</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interfaces</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that</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can</a:t>
            </a:r>
            <a:r>
              <a:rPr lang="hu-HU" sz="1200" kern="1200" dirty="0">
                <a:solidFill>
                  <a:schemeClr val="tx1"/>
                </a:solidFill>
                <a:effectLst/>
                <a:latin typeface="+mn-lt"/>
                <a:ea typeface="+mn-ea"/>
                <a:cs typeface="+mn-cs"/>
              </a:rPr>
              <a:t> be </a:t>
            </a:r>
            <a:r>
              <a:rPr lang="hu-HU" sz="1200" kern="1200" dirty="0" err="1">
                <a:solidFill>
                  <a:schemeClr val="tx1"/>
                </a:solidFill>
                <a:effectLst/>
                <a:latin typeface="+mn-lt"/>
                <a:ea typeface="+mn-ea"/>
                <a:cs typeface="+mn-cs"/>
              </a:rPr>
              <a:t>used</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for</a:t>
            </a:r>
            <a:r>
              <a:rPr lang="hu-HU" sz="1200" kern="1200" dirty="0">
                <a:solidFill>
                  <a:schemeClr val="tx1"/>
                </a:solidFill>
                <a:effectLst/>
                <a:latin typeface="+mn-lt"/>
                <a:ea typeface="+mn-ea"/>
                <a:cs typeface="+mn-cs"/>
              </a:rPr>
              <a:t> SSH </a:t>
            </a:r>
            <a:r>
              <a:rPr lang="hu-HU" sz="1200" kern="1200" dirty="0" err="1">
                <a:solidFill>
                  <a:schemeClr val="tx1"/>
                </a:solidFill>
                <a:effectLst/>
                <a:latin typeface="+mn-lt"/>
                <a:ea typeface="+mn-ea"/>
                <a:cs typeface="+mn-cs"/>
              </a:rPr>
              <a:t>connection</a:t>
            </a:r>
            <a:r>
              <a:rPr lang="hu-HU" sz="1200" kern="1200" dirty="0">
                <a:solidFill>
                  <a:schemeClr val="tx1"/>
                </a:solidFill>
                <a:effectLst/>
                <a:latin typeface="+mn-lt"/>
                <a:ea typeface="+mn-ea"/>
                <a:cs typeface="+mn-cs"/>
              </a:rPr>
              <a:t>.</a:t>
            </a:r>
          </a:p>
          <a:p>
            <a:endParaRPr lang="hu-HU" dirty="0"/>
          </a:p>
        </p:txBody>
      </p:sp>
      <p:sp>
        <p:nvSpPr>
          <p:cNvPr id="4" name="Dia számának helye 3"/>
          <p:cNvSpPr>
            <a:spLocks noGrp="1"/>
          </p:cNvSpPr>
          <p:nvPr>
            <p:ph type="sldNum" sz="quarter" idx="5"/>
          </p:nvPr>
        </p:nvSpPr>
        <p:spPr/>
        <p:txBody>
          <a:bodyPr/>
          <a:lstStyle/>
          <a:p>
            <a:fld id="{A67D4F15-C7BC-4A56-B8AA-CF1F76BA253C}" type="slidenum">
              <a:rPr lang="hu-HU" smtClean="0"/>
              <a:t>19</a:t>
            </a:fld>
            <a:endParaRPr lang="hu-HU"/>
          </a:p>
        </p:txBody>
      </p:sp>
    </p:spTree>
    <p:extLst>
      <p:ext uri="{BB962C8B-B14F-4D97-AF65-F5344CB8AC3E}">
        <p14:creationId xmlns:p14="http://schemas.microsoft.com/office/powerpoint/2010/main" val="143031414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hu-HU" sz="1200" kern="1200" dirty="0" err="1">
                <a:solidFill>
                  <a:schemeClr val="tx1"/>
                </a:solidFill>
                <a:effectLst/>
                <a:latin typeface="+mn-lt"/>
                <a:ea typeface="+mn-ea"/>
                <a:cs typeface="+mn-cs"/>
              </a:rPr>
              <a:t>This</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section</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introduces</a:t>
            </a:r>
            <a:r>
              <a:rPr lang="hu-HU" sz="1200" kern="1200" dirty="0">
                <a:solidFill>
                  <a:schemeClr val="tx1"/>
                </a:solidFill>
                <a:effectLst/>
                <a:latin typeface="+mn-lt"/>
                <a:ea typeface="+mn-ea"/>
                <a:cs typeface="+mn-cs"/>
              </a:rPr>
              <a:t> a </a:t>
            </a:r>
            <a:r>
              <a:rPr lang="hu-HU" sz="1200" kern="1200" dirty="0" err="1">
                <a:solidFill>
                  <a:schemeClr val="tx1"/>
                </a:solidFill>
                <a:effectLst/>
                <a:latin typeface="+mn-lt"/>
                <a:ea typeface="+mn-ea"/>
                <a:cs typeface="+mn-cs"/>
              </a:rPr>
              <a:t>series</a:t>
            </a:r>
            <a:r>
              <a:rPr lang="hu-HU" sz="1200" kern="1200" dirty="0">
                <a:solidFill>
                  <a:schemeClr val="tx1"/>
                </a:solidFill>
                <a:effectLst/>
                <a:latin typeface="+mn-lt"/>
                <a:ea typeface="+mn-ea"/>
                <a:cs typeface="+mn-cs"/>
              </a:rPr>
              <a:t> of </a:t>
            </a:r>
            <a:r>
              <a:rPr lang="hu-HU" sz="1200" kern="1200" dirty="0" err="1">
                <a:solidFill>
                  <a:schemeClr val="tx1"/>
                </a:solidFill>
                <a:effectLst/>
                <a:latin typeface="+mn-lt"/>
                <a:ea typeface="+mn-ea"/>
                <a:cs typeface="+mn-cs"/>
              </a:rPr>
              <a:t>baseline</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endpoint</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protection</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protocols</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that</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prevent</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rouge</a:t>
            </a:r>
            <a:r>
              <a:rPr lang="hu-HU" sz="1200" kern="1200" dirty="0">
                <a:solidFill>
                  <a:schemeClr val="tx1"/>
                </a:solidFill>
                <a:effectLst/>
                <a:latin typeface="+mn-lt"/>
                <a:ea typeface="+mn-ea"/>
                <a:cs typeface="+mn-cs"/>
              </a:rPr>
              <a:t> end </a:t>
            </a:r>
            <a:r>
              <a:rPr lang="hu-HU" sz="1200" kern="1200" dirty="0" err="1">
                <a:solidFill>
                  <a:schemeClr val="tx1"/>
                </a:solidFill>
                <a:effectLst/>
                <a:latin typeface="+mn-lt"/>
                <a:ea typeface="+mn-ea"/>
                <a:cs typeface="+mn-cs"/>
              </a:rPr>
              <a:t>users</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from</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connecting</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to</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the</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network</a:t>
            </a:r>
            <a:r>
              <a:rPr lang="hu-HU" sz="1200" kern="1200" dirty="0">
                <a:solidFill>
                  <a:schemeClr val="tx1"/>
                </a:solidFill>
                <a:effectLst/>
                <a:latin typeface="+mn-lt"/>
                <a:ea typeface="+mn-ea"/>
                <a:cs typeface="+mn-cs"/>
              </a:rPr>
              <a:t>. The </a:t>
            </a:r>
            <a:r>
              <a:rPr lang="hu-HU" sz="1200" kern="1200" dirty="0" err="1">
                <a:solidFill>
                  <a:schemeClr val="tx1"/>
                </a:solidFill>
                <a:effectLst/>
                <a:latin typeface="+mn-lt"/>
                <a:ea typeface="+mn-ea"/>
                <a:cs typeface="+mn-cs"/>
              </a:rPr>
              <a:t>configured</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policies</a:t>
            </a:r>
            <a:r>
              <a:rPr lang="hu-HU" sz="1200" kern="1200" dirty="0">
                <a:solidFill>
                  <a:schemeClr val="tx1"/>
                </a:solidFill>
                <a:effectLst/>
                <a:latin typeface="+mn-lt"/>
                <a:ea typeface="+mn-ea"/>
                <a:cs typeface="+mn-cs"/>
              </a:rPr>
              <a:t> ont he </a:t>
            </a:r>
            <a:r>
              <a:rPr lang="hu-HU" sz="1200" kern="1200" dirty="0" err="1">
                <a:solidFill>
                  <a:schemeClr val="tx1"/>
                </a:solidFill>
                <a:effectLst/>
                <a:latin typeface="+mn-lt"/>
                <a:ea typeface="+mn-ea"/>
                <a:cs typeface="+mn-cs"/>
              </a:rPr>
              <a:t>switch</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are</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the</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following</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There</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can</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only</a:t>
            </a:r>
            <a:r>
              <a:rPr lang="hu-HU" sz="1200" kern="1200" dirty="0">
                <a:solidFill>
                  <a:schemeClr val="tx1"/>
                </a:solidFill>
                <a:effectLst/>
                <a:latin typeface="+mn-lt"/>
                <a:ea typeface="+mn-ea"/>
                <a:cs typeface="+mn-cs"/>
              </a:rPr>
              <a:t> be a </a:t>
            </a:r>
            <a:r>
              <a:rPr lang="hu-HU" sz="1200" kern="1200" dirty="0" err="1">
                <a:solidFill>
                  <a:schemeClr val="tx1"/>
                </a:solidFill>
                <a:effectLst/>
                <a:latin typeface="+mn-lt"/>
                <a:ea typeface="+mn-ea"/>
                <a:cs typeface="+mn-cs"/>
              </a:rPr>
              <a:t>specific</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amount</a:t>
            </a:r>
            <a:r>
              <a:rPr lang="hu-HU" sz="1200" kern="1200" dirty="0">
                <a:solidFill>
                  <a:schemeClr val="tx1"/>
                </a:solidFill>
                <a:effectLst/>
                <a:latin typeface="+mn-lt"/>
                <a:ea typeface="+mn-ea"/>
                <a:cs typeface="+mn-cs"/>
              </a:rPr>
              <a:t> of </a:t>
            </a:r>
            <a:r>
              <a:rPr lang="hu-HU" sz="1200" kern="1200" dirty="0" err="1">
                <a:solidFill>
                  <a:schemeClr val="tx1"/>
                </a:solidFill>
                <a:effectLst/>
                <a:latin typeface="+mn-lt"/>
                <a:ea typeface="+mn-ea"/>
                <a:cs typeface="+mn-cs"/>
              </a:rPr>
              <a:t>studied</a:t>
            </a:r>
            <a:r>
              <a:rPr lang="hu-HU" sz="1200" kern="1200" dirty="0">
                <a:solidFill>
                  <a:schemeClr val="tx1"/>
                </a:solidFill>
                <a:effectLst/>
                <a:latin typeface="+mn-lt"/>
                <a:ea typeface="+mn-ea"/>
                <a:cs typeface="+mn-cs"/>
              </a:rPr>
              <a:t> MAC-</a:t>
            </a:r>
            <a:r>
              <a:rPr lang="hu-HU" sz="1200" kern="1200" dirty="0" err="1">
                <a:solidFill>
                  <a:schemeClr val="tx1"/>
                </a:solidFill>
                <a:effectLst/>
                <a:latin typeface="+mn-lt"/>
                <a:ea typeface="+mn-ea"/>
                <a:cs typeface="+mn-cs"/>
              </a:rPr>
              <a:t>address</a:t>
            </a:r>
            <a:r>
              <a:rPr lang="hu-HU" sz="1200" kern="1200" dirty="0">
                <a:solidFill>
                  <a:schemeClr val="tx1"/>
                </a:solidFill>
                <a:effectLst/>
                <a:latin typeface="+mn-lt"/>
                <a:ea typeface="+mn-ea"/>
                <a:cs typeface="+mn-cs"/>
              </a:rPr>
              <a:t> per port, and </a:t>
            </a:r>
            <a:r>
              <a:rPr lang="hu-HU" sz="1200" kern="1200" dirty="0" err="1">
                <a:solidFill>
                  <a:schemeClr val="tx1"/>
                </a:solidFill>
                <a:effectLst/>
                <a:latin typeface="+mn-lt"/>
                <a:ea typeface="+mn-ea"/>
                <a:cs typeface="+mn-cs"/>
              </a:rPr>
              <a:t>violating</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this</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rule</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will</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cause</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that</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given</a:t>
            </a:r>
            <a:r>
              <a:rPr lang="hu-HU" sz="1200" kern="1200" dirty="0">
                <a:solidFill>
                  <a:schemeClr val="tx1"/>
                </a:solidFill>
                <a:effectLst/>
                <a:latin typeface="+mn-lt"/>
                <a:ea typeface="+mn-ea"/>
                <a:cs typeface="+mn-cs"/>
              </a:rPr>
              <a:t> port </a:t>
            </a:r>
            <a:r>
              <a:rPr lang="hu-HU" sz="1200" kern="1200" dirty="0" err="1">
                <a:solidFill>
                  <a:schemeClr val="tx1"/>
                </a:solidFill>
                <a:effectLst/>
                <a:latin typeface="+mn-lt"/>
                <a:ea typeface="+mn-ea"/>
                <a:cs typeface="+mn-cs"/>
              </a:rPr>
              <a:t>to</a:t>
            </a:r>
            <a:r>
              <a:rPr lang="hu-HU" sz="1200" kern="1200" dirty="0">
                <a:solidFill>
                  <a:schemeClr val="tx1"/>
                </a:solidFill>
                <a:effectLst/>
                <a:latin typeface="+mn-lt"/>
                <a:ea typeface="+mn-ea"/>
                <a:cs typeface="+mn-cs"/>
              </a:rPr>
              <a:t> be </a:t>
            </a:r>
            <a:r>
              <a:rPr lang="hu-HU" sz="1200" kern="1200" dirty="0" err="1">
                <a:solidFill>
                  <a:schemeClr val="tx1"/>
                </a:solidFill>
                <a:effectLst/>
                <a:latin typeface="+mn-lt"/>
                <a:ea typeface="+mn-ea"/>
                <a:cs typeface="+mn-cs"/>
              </a:rPr>
              <a:t>shut</a:t>
            </a:r>
            <a:r>
              <a:rPr lang="hu-HU" sz="1200" kern="1200" dirty="0">
                <a:solidFill>
                  <a:schemeClr val="tx1"/>
                </a:solidFill>
                <a:effectLst/>
                <a:latin typeface="+mn-lt"/>
                <a:ea typeface="+mn-ea"/>
                <a:cs typeface="+mn-cs"/>
              </a:rPr>
              <a:t> down.</a:t>
            </a:r>
          </a:p>
          <a:p>
            <a:endParaRPr lang="hu-HU" dirty="0"/>
          </a:p>
        </p:txBody>
      </p:sp>
      <p:sp>
        <p:nvSpPr>
          <p:cNvPr id="4" name="Dia számának helye 3"/>
          <p:cNvSpPr>
            <a:spLocks noGrp="1"/>
          </p:cNvSpPr>
          <p:nvPr>
            <p:ph type="sldNum" sz="quarter" idx="5"/>
          </p:nvPr>
        </p:nvSpPr>
        <p:spPr/>
        <p:txBody>
          <a:bodyPr/>
          <a:lstStyle/>
          <a:p>
            <a:fld id="{A67D4F15-C7BC-4A56-B8AA-CF1F76BA253C}" type="slidenum">
              <a:rPr lang="hu-HU" smtClean="0"/>
              <a:t>20</a:t>
            </a:fld>
            <a:endParaRPr lang="hu-HU"/>
          </a:p>
        </p:txBody>
      </p:sp>
    </p:spTree>
    <p:extLst>
      <p:ext uri="{BB962C8B-B14F-4D97-AF65-F5344CB8AC3E}">
        <p14:creationId xmlns:p14="http://schemas.microsoft.com/office/powerpoint/2010/main" val="37926683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hu-HU" sz="1200" kern="1200" dirty="0">
                <a:solidFill>
                  <a:schemeClr val="tx1"/>
                </a:solidFill>
                <a:effectLst/>
                <a:latin typeface="+mn-lt"/>
                <a:ea typeface="+mn-ea"/>
                <a:cs typeface="+mn-cs"/>
              </a:rPr>
              <a:t>In </a:t>
            </a:r>
            <a:r>
              <a:rPr lang="hu-HU" sz="1200" kern="1200" dirty="0" err="1">
                <a:solidFill>
                  <a:schemeClr val="tx1"/>
                </a:solidFill>
                <a:effectLst/>
                <a:latin typeface="+mn-lt"/>
                <a:ea typeface="+mn-ea"/>
                <a:cs typeface="+mn-cs"/>
              </a:rPr>
              <a:t>the</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factory</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the</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traffic</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towards</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the</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central</a:t>
            </a:r>
            <a:r>
              <a:rPr lang="hu-HU" sz="1200" kern="1200" dirty="0">
                <a:solidFill>
                  <a:schemeClr val="tx1"/>
                </a:solidFill>
                <a:effectLst/>
                <a:latin typeface="+mn-lt"/>
                <a:ea typeface="+mn-ea"/>
                <a:cs typeface="+mn-cs"/>
              </a:rPr>
              <a:t> server is </a:t>
            </a:r>
            <a:r>
              <a:rPr lang="hu-HU" sz="1200" kern="1200" dirty="0" err="1">
                <a:solidFill>
                  <a:schemeClr val="tx1"/>
                </a:solidFill>
                <a:effectLst/>
                <a:latin typeface="+mn-lt"/>
                <a:ea typeface="+mn-ea"/>
                <a:cs typeface="+mn-cs"/>
              </a:rPr>
              <a:t>monitorted</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by</a:t>
            </a:r>
            <a:r>
              <a:rPr lang="hu-HU" sz="1200" kern="1200" dirty="0">
                <a:solidFill>
                  <a:schemeClr val="tx1"/>
                </a:solidFill>
                <a:effectLst/>
                <a:latin typeface="+mn-lt"/>
                <a:ea typeface="+mn-ea"/>
                <a:cs typeface="+mn-cs"/>
              </a:rPr>
              <a:t> a </a:t>
            </a:r>
            <a:r>
              <a:rPr lang="hu-HU" sz="1200" kern="1200" dirty="0" err="1">
                <a:solidFill>
                  <a:schemeClr val="tx1"/>
                </a:solidFill>
                <a:effectLst/>
                <a:latin typeface="+mn-lt"/>
                <a:ea typeface="+mn-ea"/>
                <a:cs typeface="+mn-cs"/>
              </a:rPr>
              <a:t>firewall</a:t>
            </a:r>
            <a:r>
              <a:rPr lang="hu-HU" sz="1200" kern="1200" dirty="0">
                <a:solidFill>
                  <a:schemeClr val="tx1"/>
                </a:solidFill>
                <a:effectLst/>
                <a:latin typeface="+mn-lt"/>
                <a:ea typeface="+mn-ea"/>
                <a:cs typeface="+mn-cs"/>
              </a:rPr>
              <a:t>. The </a:t>
            </a:r>
            <a:r>
              <a:rPr lang="hu-HU" sz="1200" kern="1200" dirty="0" err="1">
                <a:solidFill>
                  <a:schemeClr val="tx1"/>
                </a:solidFill>
                <a:effectLst/>
                <a:latin typeface="+mn-lt"/>
                <a:ea typeface="+mn-ea"/>
                <a:cs typeface="+mn-cs"/>
              </a:rPr>
              <a:t>firewall</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only</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allows</a:t>
            </a:r>
            <a:r>
              <a:rPr lang="hu-HU" sz="1200" kern="1200" dirty="0">
                <a:solidFill>
                  <a:schemeClr val="tx1"/>
                </a:solidFill>
                <a:effectLst/>
                <a:latin typeface="+mn-lt"/>
                <a:ea typeface="+mn-ea"/>
                <a:cs typeface="+mn-cs"/>
              </a:rPr>
              <a:t> a </a:t>
            </a:r>
            <a:r>
              <a:rPr lang="hu-HU" sz="1200" kern="1200" dirty="0" err="1">
                <a:solidFill>
                  <a:schemeClr val="tx1"/>
                </a:solidFill>
                <a:effectLst/>
                <a:latin typeface="+mn-lt"/>
                <a:ea typeface="+mn-ea"/>
                <a:cs typeface="+mn-cs"/>
              </a:rPr>
              <a:t>handful</a:t>
            </a:r>
            <a:r>
              <a:rPr lang="hu-HU" sz="1200" kern="1200" dirty="0">
                <a:solidFill>
                  <a:schemeClr val="tx1"/>
                </a:solidFill>
                <a:effectLst/>
                <a:latin typeface="+mn-lt"/>
                <a:ea typeface="+mn-ea"/>
                <a:cs typeface="+mn-cs"/>
              </a:rPr>
              <a:t> of </a:t>
            </a:r>
            <a:r>
              <a:rPr lang="hu-HU" sz="1200" kern="1200" dirty="0" err="1">
                <a:solidFill>
                  <a:schemeClr val="tx1"/>
                </a:solidFill>
                <a:effectLst/>
                <a:latin typeface="+mn-lt"/>
                <a:ea typeface="+mn-ea"/>
                <a:cs typeface="+mn-cs"/>
              </a:rPr>
              <a:t>manually</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picked</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hosts</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to</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access</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the</a:t>
            </a:r>
            <a:r>
              <a:rPr lang="hu-HU" sz="1200" kern="1200" dirty="0">
                <a:solidFill>
                  <a:schemeClr val="tx1"/>
                </a:solidFill>
                <a:effectLst/>
                <a:latin typeface="+mn-lt"/>
                <a:ea typeface="+mn-ea"/>
                <a:cs typeface="+mn-cs"/>
              </a:rPr>
              <a:t> server, and </a:t>
            </a:r>
            <a:r>
              <a:rPr lang="hu-HU" sz="1200" kern="1200" dirty="0" err="1">
                <a:solidFill>
                  <a:schemeClr val="tx1"/>
                </a:solidFill>
                <a:effectLst/>
                <a:latin typeface="+mn-lt"/>
                <a:ea typeface="+mn-ea"/>
                <a:cs typeface="+mn-cs"/>
              </a:rPr>
              <a:t>only</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alllows</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encrypted</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protocols</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to</a:t>
            </a:r>
            <a:r>
              <a:rPr lang="hu-HU" sz="1200" kern="1200" dirty="0">
                <a:solidFill>
                  <a:schemeClr val="tx1"/>
                </a:solidFill>
                <a:effectLst/>
                <a:latin typeface="+mn-lt"/>
                <a:ea typeface="+mn-ea"/>
                <a:cs typeface="+mn-cs"/>
              </a:rPr>
              <a:t> be </a:t>
            </a:r>
            <a:r>
              <a:rPr lang="hu-HU" sz="1200" kern="1200" dirty="0" err="1">
                <a:solidFill>
                  <a:schemeClr val="tx1"/>
                </a:solidFill>
                <a:effectLst/>
                <a:latin typeface="+mn-lt"/>
                <a:ea typeface="+mn-ea"/>
                <a:cs typeface="+mn-cs"/>
              </a:rPr>
              <a:t>used</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during</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communication</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This</a:t>
            </a:r>
            <a:r>
              <a:rPr lang="hu-HU" sz="1200" kern="1200" dirty="0">
                <a:solidFill>
                  <a:schemeClr val="tx1"/>
                </a:solidFill>
                <a:effectLst/>
                <a:latin typeface="+mn-lt"/>
                <a:ea typeface="+mn-ea"/>
                <a:cs typeface="+mn-cs"/>
              </a:rPr>
              <a:t> is </a:t>
            </a:r>
            <a:r>
              <a:rPr lang="hu-HU" sz="1200" kern="1200" dirty="0" err="1">
                <a:solidFill>
                  <a:schemeClr val="tx1"/>
                </a:solidFill>
                <a:effectLst/>
                <a:latin typeface="+mn-lt"/>
                <a:ea typeface="+mn-ea"/>
                <a:cs typeface="+mn-cs"/>
              </a:rPr>
              <a:t>achieved</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by</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detecting</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certain</a:t>
            </a:r>
            <a:r>
              <a:rPr lang="hu-HU" sz="1200" kern="1200" dirty="0">
                <a:solidFill>
                  <a:schemeClr val="tx1"/>
                </a:solidFill>
                <a:effectLst/>
                <a:latin typeface="+mn-lt"/>
                <a:ea typeface="+mn-ea"/>
                <a:cs typeface="+mn-cs"/>
              </a:rPr>
              <a:t> IP </a:t>
            </a:r>
            <a:r>
              <a:rPr lang="hu-HU" sz="1200" kern="1200" dirty="0" err="1">
                <a:solidFill>
                  <a:schemeClr val="tx1"/>
                </a:solidFill>
                <a:effectLst/>
                <a:latin typeface="+mn-lt"/>
                <a:ea typeface="+mn-ea"/>
                <a:cs typeface="+mn-cs"/>
              </a:rPr>
              <a:t>protocols</a:t>
            </a:r>
            <a:r>
              <a:rPr lang="hu-HU" sz="1200" kern="1200" dirty="0">
                <a:solidFill>
                  <a:schemeClr val="tx1"/>
                </a:solidFill>
                <a:effectLst/>
                <a:latin typeface="+mn-lt"/>
                <a:ea typeface="+mn-ea"/>
                <a:cs typeface="+mn-cs"/>
              </a:rPr>
              <a:t>, and </a:t>
            </a:r>
            <a:r>
              <a:rPr lang="hu-HU" sz="1200" kern="1200" dirty="0" err="1">
                <a:solidFill>
                  <a:schemeClr val="tx1"/>
                </a:solidFill>
                <a:effectLst/>
                <a:latin typeface="+mn-lt"/>
                <a:ea typeface="+mn-ea"/>
                <a:cs typeface="+mn-cs"/>
              </a:rPr>
              <a:t>blocking</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their</a:t>
            </a:r>
            <a:r>
              <a:rPr lang="hu-HU" sz="1200" kern="1200" dirty="0">
                <a:solidFill>
                  <a:schemeClr val="tx1"/>
                </a:solidFill>
                <a:effectLst/>
                <a:latin typeface="+mn-lt"/>
                <a:ea typeface="+mn-ea"/>
                <a:cs typeface="+mn-cs"/>
              </a:rPr>
              <a:t> port </a:t>
            </a:r>
            <a:r>
              <a:rPr lang="hu-HU" sz="1200" kern="1200" dirty="0" err="1">
                <a:solidFill>
                  <a:schemeClr val="tx1"/>
                </a:solidFill>
                <a:effectLst/>
                <a:latin typeface="+mn-lt"/>
                <a:ea typeface="+mn-ea"/>
                <a:cs typeface="+mn-cs"/>
              </a:rPr>
              <a:t>number</a:t>
            </a:r>
            <a:r>
              <a:rPr lang="hu-HU" sz="1200" kern="1200" dirty="0">
                <a:solidFill>
                  <a:schemeClr val="tx1"/>
                </a:solidFill>
                <a:effectLst/>
                <a:latin typeface="+mn-lt"/>
                <a:ea typeface="+mn-ea"/>
                <a:cs typeface="+mn-cs"/>
              </a:rPr>
              <a:t>.</a:t>
            </a:r>
          </a:p>
          <a:p>
            <a:endParaRPr lang="hu-HU" dirty="0"/>
          </a:p>
        </p:txBody>
      </p:sp>
      <p:sp>
        <p:nvSpPr>
          <p:cNvPr id="4" name="Dia számának helye 3"/>
          <p:cNvSpPr>
            <a:spLocks noGrp="1"/>
          </p:cNvSpPr>
          <p:nvPr>
            <p:ph type="sldNum" sz="quarter" idx="5"/>
          </p:nvPr>
        </p:nvSpPr>
        <p:spPr/>
        <p:txBody>
          <a:bodyPr/>
          <a:lstStyle/>
          <a:p>
            <a:fld id="{A67D4F15-C7BC-4A56-B8AA-CF1F76BA253C}" type="slidenum">
              <a:rPr lang="hu-HU" smtClean="0"/>
              <a:t>21</a:t>
            </a:fld>
            <a:endParaRPr lang="hu-HU"/>
          </a:p>
        </p:txBody>
      </p:sp>
    </p:spTree>
    <p:extLst>
      <p:ext uri="{BB962C8B-B14F-4D97-AF65-F5344CB8AC3E}">
        <p14:creationId xmlns:p14="http://schemas.microsoft.com/office/powerpoint/2010/main" val="95894485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hu-HU" sz="1200" kern="1200" dirty="0">
                <a:solidFill>
                  <a:schemeClr val="tx1"/>
                </a:solidFill>
                <a:effectLst/>
                <a:latin typeface="+mn-lt"/>
                <a:ea typeface="+mn-ea"/>
                <a:cs typeface="+mn-cs"/>
              </a:rPr>
              <a:t>Az </a:t>
            </a:r>
            <a:r>
              <a:rPr lang="hu-HU" sz="1200" kern="1200" dirty="0" err="1">
                <a:solidFill>
                  <a:schemeClr val="tx1"/>
                </a:solidFill>
                <a:effectLst/>
                <a:latin typeface="+mn-lt"/>
                <a:ea typeface="+mn-ea"/>
                <a:cs typeface="+mn-cs"/>
              </a:rPr>
              <a:t>Active</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Directory</a:t>
            </a:r>
            <a:r>
              <a:rPr lang="hu-HU" sz="1200" kern="1200" dirty="0">
                <a:solidFill>
                  <a:schemeClr val="tx1"/>
                </a:solidFill>
                <a:effectLst/>
                <a:latin typeface="+mn-lt"/>
                <a:ea typeface="+mn-ea"/>
                <a:cs typeface="+mn-cs"/>
              </a:rPr>
              <a:t>-t használjuk, mint központi hitelesítő rendszer. Ez biztosít nekünk felhasználókezelést, csoport alapú jogosultság kezelést, erőforrás hozzáférés szabályozást.</a:t>
            </a:r>
          </a:p>
          <a:p>
            <a:endParaRPr lang="hu-HU" dirty="0"/>
          </a:p>
        </p:txBody>
      </p:sp>
      <p:sp>
        <p:nvSpPr>
          <p:cNvPr id="4" name="Dia számának helye 3"/>
          <p:cNvSpPr>
            <a:spLocks noGrp="1"/>
          </p:cNvSpPr>
          <p:nvPr>
            <p:ph type="sldNum" sz="quarter" idx="5"/>
          </p:nvPr>
        </p:nvSpPr>
        <p:spPr/>
        <p:txBody>
          <a:bodyPr/>
          <a:lstStyle/>
          <a:p>
            <a:fld id="{A67D4F15-C7BC-4A56-B8AA-CF1F76BA253C}" type="slidenum">
              <a:rPr lang="hu-HU" smtClean="0"/>
              <a:t>23</a:t>
            </a:fld>
            <a:endParaRPr lang="hu-HU"/>
          </a:p>
        </p:txBody>
      </p:sp>
    </p:spTree>
    <p:extLst>
      <p:ext uri="{BB962C8B-B14F-4D97-AF65-F5344CB8AC3E}">
        <p14:creationId xmlns:p14="http://schemas.microsoft.com/office/powerpoint/2010/main" val="73252765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hu-HU" sz="1200" kern="1200" dirty="0">
                <a:solidFill>
                  <a:schemeClr val="tx1"/>
                </a:solidFill>
                <a:effectLst/>
                <a:latin typeface="+mn-lt"/>
                <a:ea typeface="+mn-ea"/>
                <a:cs typeface="+mn-cs"/>
              </a:rPr>
              <a:t>Az </a:t>
            </a:r>
            <a:r>
              <a:rPr lang="hu-HU" sz="1200" kern="1200" dirty="0" err="1">
                <a:solidFill>
                  <a:schemeClr val="tx1"/>
                </a:solidFill>
                <a:effectLst/>
                <a:latin typeface="+mn-lt"/>
                <a:ea typeface="+mn-ea"/>
                <a:cs typeface="+mn-cs"/>
              </a:rPr>
              <a:t>egydomaines</a:t>
            </a:r>
            <a:r>
              <a:rPr lang="hu-HU" sz="1200" kern="1200" dirty="0">
                <a:solidFill>
                  <a:schemeClr val="tx1"/>
                </a:solidFill>
                <a:effectLst/>
                <a:latin typeface="+mn-lt"/>
                <a:ea typeface="+mn-ea"/>
                <a:cs typeface="+mn-cs"/>
              </a:rPr>
              <a:t> környezet: </a:t>
            </a:r>
            <a:r>
              <a:rPr lang="hu-HU" sz="1200" b="1" kern="1200" dirty="0">
                <a:solidFill>
                  <a:schemeClr val="tx1"/>
                </a:solidFill>
                <a:effectLst/>
                <a:latin typeface="+mn-lt"/>
                <a:ea typeface="+mn-ea"/>
                <a:cs typeface="+mn-cs"/>
              </a:rPr>
              <a:t>corp.migazzi.com</a:t>
            </a:r>
            <a:r>
              <a:rPr lang="hu-HU" sz="1200" kern="1200" dirty="0">
                <a:solidFill>
                  <a:schemeClr val="tx1"/>
                </a:solidFill>
                <a:effectLst/>
                <a:latin typeface="+mn-lt"/>
                <a:ea typeface="+mn-ea"/>
                <a:cs typeface="+mn-cs"/>
              </a:rPr>
              <a:t>. Részleg alapú OU struktúrát alapítottunk ki, ez biztosítja, hogy a GPO-</a:t>
            </a:r>
            <a:r>
              <a:rPr lang="hu-HU" sz="1200" kern="1200" dirty="0" err="1">
                <a:solidFill>
                  <a:schemeClr val="tx1"/>
                </a:solidFill>
                <a:effectLst/>
                <a:latin typeface="+mn-lt"/>
                <a:ea typeface="+mn-ea"/>
                <a:cs typeface="+mn-cs"/>
              </a:rPr>
              <a:t>kat</a:t>
            </a:r>
            <a:r>
              <a:rPr lang="hu-HU" sz="1200" kern="1200" dirty="0">
                <a:solidFill>
                  <a:schemeClr val="tx1"/>
                </a:solidFill>
                <a:effectLst/>
                <a:latin typeface="+mn-lt"/>
                <a:ea typeface="+mn-ea"/>
                <a:cs typeface="+mn-cs"/>
              </a:rPr>
              <a:t> tudjuk a megfelelő szinteken alkalmazni. 3 fő OU található, és alattuk a különböző céges szervezeti egységek. </a:t>
            </a:r>
            <a:r>
              <a:rPr lang="hu-HU" sz="1200" kern="1200" dirty="0" err="1">
                <a:solidFill>
                  <a:schemeClr val="tx1"/>
                </a:solidFill>
                <a:effectLst/>
                <a:latin typeface="+mn-lt"/>
                <a:ea typeface="+mn-ea"/>
                <a:cs typeface="+mn-cs"/>
              </a:rPr>
              <a:t>Emelett</a:t>
            </a:r>
            <a:r>
              <a:rPr lang="hu-HU" sz="1200" kern="1200" dirty="0">
                <a:solidFill>
                  <a:schemeClr val="tx1"/>
                </a:solidFill>
                <a:effectLst/>
                <a:latin typeface="+mn-lt"/>
                <a:ea typeface="+mn-ea"/>
                <a:cs typeface="+mn-cs"/>
              </a:rPr>
              <a:t> van egy külön service </a:t>
            </a:r>
            <a:r>
              <a:rPr lang="hu-HU" sz="1200" kern="1200" dirty="0" err="1">
                <a:solidFill>
                  <a:schemeClr val="tx1"/>
                </a:solidFill>
                <a:effectLst/>
                <a:latin typeface="+mn-lt"/>
                <a:ea typeface="+mn-ea"/>
                <a:cs typeface="+mn-cs"/>
              </a:rPr>
              <a:t>accounts</a:t>
            </a:r>
            <a:r>
              <a:rPr lang="hu-HU" sz="1200" kern="1200" dirty="0">
                <a:solidFill>
                  <a:schemeClr val="tx1"/>
                </a:solidFill>
                <a:effectLst/>
                <a:latin typeface="+mn-lt"/>
                <a:ea typeface="+mn-ea"/>
                <a:cs typeface="+mn-cs"/>
              </a:rPr>
              <a:t> tároló is.</a:t>
            </a:r>
          </a:p>
          <a:p>
            <a:endParaRPr lang="hu-HU" dirty="0"/>
          </a:p>
        </p:txBody>
      </p:sp>
      <p:sp>
        <p:nvSpPr>
          <p:cNvPr id="4" name="Dia számának helye 3"/>
          <p:cNvSpPr>
            <a:spLocks noGrp="1"/>
          </p:cNvSpPr>
          <p:nvPr>
            <p:ph type="sldNum" sz="quarter" idx="5"/>
          </p:nvPr>
        </p:nvSpPr>
        <p:spPr/>
        <p:txBody>
          <a:bodyPr/>
          <a:lstStyle/>
          <a:p>
            <a:fld id="{A67D4F15-C7BC-4A56-B8AA-CF1F76BA253C}" type="slidenum">
              <a:rPr lang="hu-HU" smtClean="0"/>
              <a:t>24</a:t>
            </a:fld>
            <a:endParaRPr lang="hu-HU"/>
          </a:p>
        </p:txBody>
      </p:sp>
    </p:spTree>
    <p:extLst>
      <p:ext uri="{BB962C8B-B14F-4D97-AF65-F5344CB8AC3E}">
        <p14:creationId xmlns:p14="http://schemas.microsoft.com/office/powerpoint/2010/main" val="92288993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hu-HU" sz="1200" kern="1200" dirty="0">
                <a:solidFill>
                  <a:schemeClr val="tx1"/>
                </a:solidFill>
                <a:effectLst/>
                <a:latin typeface="+mn-lt"/>
                <a:ea typeface="+mn-ea"/>
                <a:cs typeface="+mn-cs"/>
              </a:rPr>
              <a:t>Van egy </a:t>
            </a:r>
            <a:r>
              <a:rPr lang="hu-HU" sz="1200" kern="1200" dirty="0" err="1">
                <a:solidFill>
                  <a:schemeClr val="tx1"/>
                </a:solidFill>
                <a:effectLst/>
                <a:latin typeface="+mn-lt"/>
                <a:ea typeface="+mn-ea"/>
                <a:cs typeface="+mn-cs"/>
              </a:rPr>
              <a:t>domain</a:t>
            </a:r>
            <a:r>
              <a:rPr lang="hu-HU" sz="1200" kern="1200" dirty="0">
                <a:solidFill>
                  <a:schemeClr val="tx1"/>
                </a:solidFill>
                <a:effectLst/>
                <a:latin typeface="+mn-lt"/>
                <a:ea typeface="+mn-ea"/>
                <a:cs typeface="+mn-cs"/>
              </a:rPr>
              <a:t> szintű jelszóházirend, ami kötelező jelszócserét kér első bejelentkezéskor. 90 napos lejárata van egy jelszónak, illetve az első 5 jelszót megjegyzi, hogy ne lehessen ugyanazt a 2 jelszót cserélgetni. A megadott jelszónak meg kell felelnie egy bizonyos jelszó-komplexitási előírásnak. Ebben az esetben: Minimum 8 karakter, és tartalmazzon kell: kisbetűt, nagybetűt, számot és speciális karaktert is.</a:t>
            </a:r>
          </a:p>
          <a:p>
            <a:endParaRPr lang="hu-HU" dirty="0"/>
          </a:p>
        </p:txBody>
      </p:sp>
      <p:sp>
        <p:nvSpPr>
          <p:cNvPr id="4" name="Dia számának helye 3"/>
          <p:cNvSpPr>
            <a:spLocks noGrp="1"/>
          </p:cNvSpPr>
          <p:nvPr>
            <p:ph type="sldNum" sz="quarter" idx="5"/>
          </p:nvPr>
        </p:nvSpPr>
        <p:spPr/>
        <p:txBody>
          <a:bodyPr/>
          <a:lstStyle/>
          <a:p>
            <a:fld id="{A67D4F15-C7BC-4A56-B8AA-CF1F76BA253C}" type="slidenum">
              <a:rPr lang="hu-HU" smtClean="0"/>
              <a:t>25</a:t>
            </a:fld>
            <a:endParaRPr lang="hu-HU"/>
          </a:p>
        </p:txBody>
      </p:sp>
    </p:spTree>
    <p:extLst>
      <p:ext uri="{BB962C8B-B14F-4D97-AF65-F5344CB8AC3E}">
        <p14:creationId xmlns:p14="http://schemas.microsoft.com/office/powerpoint/2010/main" val="90332716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hu-HU" sz="1200" kern="1200" dirty="0">
                <a:solidFill>
                  <a:schemeClr val="tx1"/>
                </a:solidFill>
                <a:effectLst/>
                <a:latin typeface="+mn-lt"/>
                <a:ea typeface="+mn-ea"/>
                <a:cs typeface="+mn-cs"/>
              </a:rPr>
              <a:t>Jogosultságokat nem személyes, hanem csoport alapon osszuk ki. Ezek </a:t>
            </a:r>
            <a:r>
              <a:rPr lang="hu-HU" sz="1200" kern="1200" dirty="0" err="1">
                <a:solidFill>
                  <a:schemeClr val="tx1"/>
                </a:solidFill>
                <a:effectLst/>
                <a:latin typeface="+mn-lt"/>
                <a:ea typeface="+mn-ea"/>
                <a:cs typeface="+mn-cs"/>
              </a:rPr>
              <a:t>Security</a:t>
            </a:r>
            <a:r>
              <a:rPr lang="hu-HU" sz="1200" kern="1200" dirty="0">
                <a:solidFill>
                  <a:schemeClr val="tx1"/>
                </a:solidFill>
                <a:effectLst/>
                <a:latin typeface="+mn-lt"/>
                <a:ea typeface="+mn-ea"/>
                <a:cs typeface="+mn-cs"/>
              </a:rPr>
              <a:t> Groupok, amelyeknek tagjai bizonyos felhasználók. A képen lévő példa egy megosztott mappa írási, olvasási jogosultságai kezeli.</a:t>
            </a:r>
          </a:p>
          <a:p>
            <a:endParaRPr lang="hu-HU" dirty="0"/>
          </a:p>
        </p:txBody>
      </p:sp>
      <p:sp>
        <p:nvSpPr>
          <p:cNvPr id="4" name="Dia számának helye 3"/>
          <p:cNvSpPr>
            <a:spLocks noGrp="1"/>
          </p:cNvSpPr>
          <p:nvPr>
            <p:ph type="sldNum" sz="quarter" idx="5"/>
          </p:nvPr>
        </p:nvSpPr>
        <p:spPr/>
        <p:txBody>
          <a:bodyPr/>
          <a:lstStyle/>
          <a:p>
            <a:fld id="{A67D4F15-C7BC-4A56-B8AA-CF1F76BA253C}" type="slidenum">
              <a:rPr lang="hu-HU" smtClean="0"/>
              <a:t>26</a:t>
            </a:fld>
            <a:endParaRPr lang="hu-HU"/>
          </a:p>
        </p:txBody>
      </p:sp>
    </p:spTree>
    <p:extLst>
      <p:ext uri="{BB962C8B-B14F-4D97-AF65-F5344CB8AC3E}">
        <p14:creationId xmlns:p14="http://schemas.microsoft.com/office/powerpoint/2010/main" val="10196106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hu-HU" sz="1200" kern="1200" dirty="0">
                <a:solidFill>
                  <a:schemeClr val="tx1"/>
                </a:solidFill>
                <a:effectLst/>
                <a:latin typeface="+mn-lt"/>
                <a:ea typeface="+mn-ea"/>
                <a:cs typeface="+mn-cs"/>
              </a:rPr>
              <a:t>Fontos nekünk a rendszer redundanciája, ezért 2 </a:t>
            </a:r>
            <a:r>
              <a:rPr lang="hu-HU" sz="1200" kern="1200" dirty="0" err="1">
                <a:solidFill>
                  <a:schemeClr val="tx1"/>
                </a:solidFill>
                <a:effectLst/>
                <a:latin typeface="+mn-lt"/>
                <a:ea typeface="+mn-ea"/>
                <a:cs typeface="+mn-cs"/>
              </a:rPr>
              <a:t>domain</a:t>
            </a:r>
            <a:r>
              <a:rPr lang="hu-HU" sz="1200" kern="1200" dirty="0">
                <a:solidFill>
                  <a:schemeClr val="tx1"/>
                </a:solidFill>
                <a:effectLst/>
                <a:latin typeface="+mn-lt"/>
                <a:ea typeface="+mn-ea"/>
                <a:cs typeface="+mn-cs"/>
              </a:rPr>
              <a:t> kontrollert csatoltunk a tartományhoz, mindkettő folyamatosan aktív, és nem </a:t>
            </a:r>
            <a:r>
              <a:rPr lang="hu-HU" sz="1200" kern="1200" dirty="0" err="1">
                <a:solidFill>
                  <a:schemeClr val="tx1"/>
                </a:solidFill>
                <a:effectLst/>
                <a:latin typeface="+mn-lt"/>
                <a:ea typeface="+mn-ea"/>
                <a:cs typeface="+mn-cs"/>
              </a:rPr>
              <a:t>failoverben</a:t>
            </a:r>
            <a:r>
              <a:rPr lang="hu-HU" sz="1200" kern="1200" dirty="0">
                <a:solidFill>
                  <a:schemeClr val="tx1"/>
                </a:solidFill>
                <a:effectLst/>
                <a:latin typeface="+mn-lt"/>
                <a:ea typeface="+mn-ea"/>
                <a:cs typeface="+mn-cs"/>
              </a:rPr>
              <a:t> működnek. Ez egy bent terheléses elosztást is tud biztosítani. Mindkettő egyben AD integrált DNS szerver is. Ez azért fontos, mert DNS nélkül nincs AD. Replikáció is működik, tehát ha az egyiken változás történik, akkor a másik is </a:t>
            </a:r>
            <a:r>
              <a:rPr lang="hu-HU" sz="1200" kern="1200" dirty="0" err="1">
                <a:solidFill>
                  <a:schemeClr val="tx1"/>
                </a:solidFill>
                <a:effectLst/>
                <a:latin typeface="+mn-lt"/>
                <a:ea typeface="+mn-ea"/>
                <a:cs typeface="+mn-cs"/>
              </a:rPr>
              <a:t>végrehajtódik</a:t>
            </a:r>
            <a:r>
              <a:rPr lang="hu-HU" sz="1200" kern="1200" dirty="0">
                <a:solidFill>
                  <a:schemeClr val="tx1"/>
                </a:solidFill>
                <a:effectLst/>
                <a:latin typeface="+mn-lt"/>
                <a:ea typeface="+mn-ea"/>
                <a:cs typeface="+mn-cs"/>
              </a:rPr>
              <a:t>.</a:t>
            </a:r>
          </a:p>
          <a:p>
            <a:endParaRPr lang="hu-HU" dirty="0"/>
          </a:p>
        </p:txBody>
      </p:sp>
      <p:sp>
        <p:nvSpPr>
          <p:cNvPr id="4" name="Dia számának helye 3"/>
          <p:cNvSpPr>
            <a:spLocks noGrp="1"/>
          </p:cNvSpPr>
          <p:nvPr>
            <p:ph type="sldNum" sz="quarter" idx="5"/>
          </p:nvPr>
        </p:nvSpPr>
        <p:spPr/>
        <p:txBody>
          <a:bodyPr/>
          <a:lstStyle/>
          <a:p>
            <a:fld id="{A67D4F15-C7BC-4A56-B8AA-CF1F76BA253C}" type="slidenum">
              <a:rPr lang="hu-HU" smtClean="0"/>
              <a:t>27</a:t>
            </a:fld>
            <a:endParaRPr lang="hu-HU"/>
          </a:p>
        </p:txBody>
      </p:sp>
    </p:spTree>
    <p:extLst>
      <p:ext uri="{BB962C8B-B14F-4D97-AF65-F5344CB8AC3E}">
        <p14:creationId xmlns:p14="http://schemas.microsoft.com/office/powerpoint/2010/main" val="151378032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hu-HU" sz="1200" kern="1200" dirty="0">
                <a:solidFill>
                  <a:schemeClr val="tx1"/>
                </a:solidFill>
                <a:effectLst/>
                <a:latin typeface="+mn-lt"/>
                <a:ea typeface="+mn-ea"/>
                <a:cs typeface="+mn-cs"/>
              </a:rPr>
              <a:t>Mint előbb említettük, ez az AD működés alapja, vannak </a:t>
            </a:r>
            <a:r>
              <a:rPr lang="hu-HU" sz="1200" kern="1200" dirty="0" err="1">
                <a:solidFill>
                  <a:schemeClr val="tx1"/>
                </a:solidFill>
                <a:effectLst/>
                <a:latin typeface="+mn-lt"/>
                <a:ea typeface="+mn-ea"/>
                <a:cs typeface="+mn-cs"/>
              </a:rPr>
              <a:t>forward</a:t>
            </a:r>
            <a:r>
              <a:rPr lang="hu-HU" sz="1200" kern="1200" dirty="0">
                <a:solidFill>
                  <a:schemeClr val="tx1"/>
                </a:solidFill>
                <a:effectLst/>
                <a:latin typeface="+mn-lt"/>
                <a:ea typeface="+mn-ea"/>
                <a:cs typeface="+mn-cs"/>
              </a:rPr>
              <a:t> és </a:t>
            </a:r>
            <a:r>
              <a:rPr lang="hu-HU" sz="1200" kern="1200" dirty="0" err="1">
                <a:solidFill>
                  <a:schemeClr val="tx1"/>
                </a:solidFill>
                <a:effectLst/>
                <a:latin typeface="+mn-lt"/>
                <a:ea typeface="+mn-ea"/>
                <a:cs typeface="+mn-cs"/>
              </a:rPr>
              <a:t>reverse</a:t>
            </a:r>
            <a:r>
              <a:rPr lang="hu-HU" sz="1200" kern="1200" dirty="0">
                <a:solidFill>
                  <a:schemeClr val="tx1"/>
                </a:solidFill>
                <a:effectLst/>
                <a:latin typeface="+mn-lt"/>
                <a:ea typeface="+mn-ea"/>
                <a:cs typeface="+mn-cs"/>
              </a:rPr>
              <a:t> keresési zónáink: IP címhez keresünk </a:t>
            </a:r>
            <a:r>
              <a:rPr lang="hu-HU" sz="1200" kern="1200" dirty="0" err="1">
                <a:solidFill>
                  <a:schemeClr val="tx1"/>
                </a:solidFill>
                <a:effectLst/>
                <a:latin typeface="+mn-lt"/>
                <a:ea typeface="+mn-ea"/>
                <a:cs typeface="+mn-cs"/>
              </a:rPr>
              <a:t>hostnevet</a:t>
            </a:r>
            <a:r>
              <a:rPr lang="hu-HU" sz="1200" kern="1200" dirty="0">
                <a:solidFill>
                  <a:schemeClr val="tx1"/>
                </a:solidFill>
                <a:effectLst/>
                <a:latin typeface="+mn-lt"/>
                <a:ea typeface="+mn-ea"/>
                <a:cs typeface="+mn-cs"/>
              </a:rPr>
              <a:t>, vagy </a:t>
            </a:r>
            <a:r>
              <a:rPr lang="hu-HU" sz="1200" kern="1200" dirty="0" err="1">
                <a:solidFill>
                  <a:schemeClr val="tx1"/>
                </a:solidFill>
                <a:effectLst/>
                <a:latin typeface="+mn-lt"/>
                <a:ea typeface="+mn-ea"/>
                <a:cs typeface="+mn-cs"/>
              </a:rPr>
              <a:t>hostnévhez</a:t>
            </a:r>
            <a:r>
              <a:rPr lang="hu-HU" sz="1200" kern="1200" dirty="0">
                <a:solidFill>
                  <a:schemeClr val="tx1"/>
                </a:solidFill>
                <a:effectLst/>
                <a:latin typeface="+mn-lt"/>
                <a:ea typeface="+mn-ea"/>
                <a:cs typeface="+mn-cs"/>
              </a:rPr>
              <a:t> keresünk IP címet. A képen egy </a:t>
            </a:r>
            <a:r>
              <a:rPr lang="hu-HU" sz="1200" kern="1200" dirty="0" err="1">
                <a:solidFill>
                  <a:schemeClr val="tx1"/>
                </a:solidFill>
                <a:effectLst/>
                <a:latin typeface="+mn-lt"/>
                <a:ea typeface="+mn-ea"/>
                <a:cs typeface="+mn-cs"/>
              </a:rPr>
              <a:t>forward</a:t>
            </a:r>
            <a:r>
              <a:rPr lang="hu-HU" sz="1200" kern="1200" dirty="0">
                <a:solidFill>
                  <a:schemeClr val="tx1"/>
                </a:solidFill>
                <a:effectLst/>
                <a:latin typeface="+mn-lt"/>
                <a:ea typeface="+mn-ea"/>
                <a:cs typeface="+mn-cs"/>
              </a:rPr>
              <a:t> keresési zónát láthatunk. </a:t>
            </a:r>
          </a:p>
          <a:p>
            <a:endParaRPr lang="hu-HU" dirty="0"/>
          </a:p>
        </p:txBody>
      </p:sp>
      <p:sp>
        <p:nvSpPr>
          <p:cNvPr id="4" name="Dia számának helye 3"/>
          <p:cNvSpPr>
            <a:spLocks noGrp="1"/>
          </p:cNvSpPr>
          <p:nvPr>
            <p:ph type="sldNum" sz="quarter" idx="5"/>
          </p:nvPr>
        </p:nvSpPr>
        <p:spPr/>
        <p:txBody>
          <a:bodyPr/>
          <a:lstStyle/>
          <a:p>
            <a:fld id="{A67D4F15-C7BC-4A56-B8AA-CF1F76BA253C}" type="slidenum">
              <a:rPr lang="hu-HU" smtClean="0"/>
              <a:t>28</a:t>
            </a:fld>
            <a:endParaRPr lang="hu-HU"/>
          </a:p>
        </p:txBody>
      </p:sp>
    </p:spTree>
    <p:extLst>
      <p:ext uri="{BB962C8B-B14F-4D97-AF65-F5344CB8AC3E}">
        <p14:creationId xmlns:p14="http://schemas.microsoft.com/office/powerpoint/2010/main" val="13222450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hu-HU" sz="1200" kern="1200" dirty="0">
                <a:solidFill>
                  <a:schemeClr val="tx1"/>
                </a:solidFill>
                <a:effectLst/>
                <a:latin typeface="+mn-lt"/>
                <a:ea typeface="+mn-ea"/>
                <a:cs typeface="+mn-cs"/>
              </a:rPr>
              <a:t>Ezeket meghajtó csatolására, vállalati arculatra, és szoftvertelepítésre használtuk, de ezen kívül még rengeteg másra képesek. </a:t>
            </a:r>
          </a:p>
          <a:p>
            <a:endParaRPr lang="hu-HU" dirty="0"/>
          </a:p>
        </p:txBody>
      </p:sp>
      <p:sp>
        <p:nvSpPr>
          <p:cNvPr id="4" name="Dia számának helye 3"/>
          <p:cNvSpPr>
            <a:spLocks noGrp="1"/>
          </p:cNvSpPr>
          <p:nvPr>
            <p:ph type="sldNum" sz="quarter" idx="5"/>
          </p:nvPr>
        </p:nvSpPr>
        <p:spPr/>
        <p:txBody>
          <a:bodyPr/>
          <a:lstStyle/>
          <a:p>
            <a:fld id="{A67D4F15-C7BC-4A56-B8AA-CF1F76BA253C}" type="slidenum">
              <a:rPr lang="hu-HU" smtClean="0"/>
              <a:t>29</a:t>
            </a:fld>
            <a:endParaRPr lang="hu-HU"/>
          </a:p>
        </p:txBody>
      </p:sp>
    </p:spTree>
    <p:extLst>
      <p:ext uri="{BB962C8B-B14F-4D97-AF65-F5344CB8AC3E}">
        <p14:creationId xmlns:p14="http://schemas.microsoft.com/office/powerpoint/2010/main" val="295997310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hu-HU" sz="1200" kern="1200" dirty="0">
                <a:solidFill>
                  <a:schemeClr val="tx1"/>
                </a:solidFill>
                <a:effectLst/>
                <a:latin typeface="+mn-lt"/>
                <a:ea typeface="+mn-ea"/>
                <a:cs typeface="+mn-cs"/>
              </a:rPr>
              <a:t>A képen látható példa minden dolgozó számára </a:t>
            </a:r>
            <a:r>
              <a:rPr lang="hu-HU" sz="1200" kern="1200" dirty="0" err="1">
                <a:solidFill>
                  <a:schemeClr val="tx1"/>
                </a:solidFill>
                <a:effectLst/>
                <a:latin typeface="+mn-lt"/>
                <a:ea typeface="+mn-ea"/>
                <a:cs typeface="+mn-cs"/>
              </a:rPr>
              <a:t>felcsatolódik</a:t>
            </a:r>
            <a:r>
              <a:rPr lang="hu-HU" sz="1200" kern="1200" dirty="0">
                <a:solidFill>
                  <a:schemeClr val="tx1"/>
                </a:solidFill>
                <a:effectLst/>
                <a:latin typeface="+mn-lt"/>
                <a:ea typeface="+mn-ea"/>
                <a:cs typeface="+mn-cs"/>
              </a:rPr>
              <a:t>, S: néven (</a:t>
            </a:r>
            <a:r>
              <a:rPr lang="hu-HU" sz="1200" kern="1200" dirty="0" err="1">
                <a:solidFill>
                  <a:schemeClr val="tx1"/>
                </a:solidFill>
                <a:effectLst/>
                <a:latin typeface="+mn-lt"/>
                <a:ea typeface="+mn-ea"/>
                <a:cs typeface="+mn-cs"/>
              </a:rPr>
              <a:t>shared</a:t>
            </a:r>
            <a:r>
              <a:rPr lang="hu-HU" sz="1200" kern="1200" dirty="0">
                <a:solidFill>
                  <a:schemeClr val="tx1"/>
                </a:solidFill>
                <a:effectLst/>
                <a:latin typeface="+mn-lt"/>
                <a:ea typeface="+mn-ea"/>
                <a:cs typeface="+mn-cs"/>
              </a:rPr>
              <a:t>). Ebben céges dokumentációk, szabályzatok találhatók, amik minden alkalmazottra érvényesek.</a:t>
            </a:r>
          </a:p>
          <a:p>
            <a:endParaRPr lang="hu-HU" dirty="0"/>
          </a:p>
        </p:txBody>
      </p:sp>
      <p:sp>
        <p:nvSpPr>
          <p:cNvPr id="4" name="Dia számának helye 3"/>
          <p:cNvSpPr>
            <a:spLocks noGrp="1"/>
          </p:cNvSpPr>
          <p:nvPr>
            <p:ph type="sldNum" sz="quarter" idx="5"/>
          </p:nvPr>
        </p:nvSpPr>
        <p:spPr/>
        <p:txBody>
          <a:bodyPr/>
          <a:lstStyle/>
          <a:p>
            <a:fld id="{A67D4F15-C7BC-4A56-B8AA-CF1F76BA253C}" type="slidenum">
              <a:rPr lang="hu-HU" smtClean="0"/>
              <a:t>30</a:t>
            </a:fld>
            <a:endParaRPr lang="hu-HU"/>
          </a:p>
        </p:txBody>
      </p:sp>
    </p:spTree>
    <p:extLst>
      <p:ext uri="{BB962C8B-B14F-4D97-AF65-F5344CB8AC3E}">
        <p14:creationId xmlns:p14="http://schemas.microsoft.com/office/powerpoint/2010/main" val="60206720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hu-HU" sz="1200" kern="1200" dirty="0">
                <a:solidFill>
                  <a:schemeClr val="tx1"/>
                </a:solidFill>
                <a:effectLst/>
                <a:latin typeface="+mn-lt"/>
                <a:ea typeface="+mn-ea"/>
                <a:cs typeface="+mn-cs"/>
              </a:rPr>
              <a:t>Csak a megfelelő </a:t>
            </a:r>
            <a:r>
              <a:rPr lang="hu-HU" sz="1200" kern="1200" dirty="0" err="1">
                <a:solidFill>
                  <a:schemeClr val="tx1"/>
                </a:solidFill>
                <a:effectLst/>
                <a:latin typeface="+mn-lt"/>
                <a:ea typeface="+mn-ea"/>
                <a:cs typeface="+mn-cs"/>
              </a:rPr>
              <a:t>security</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groupnak</a:t>
            </a:r>
            <a:r>
              <a:rPr lang="hu-HU" sz="1200" kern="1200" dirty="0">
                <a:solidFill>
                  <a:schemeClr val="tx1"/>
                </a:solidFill>
                <a:effectLst/>
                <a:latin typeface="+mn-lt"/>
                <a:ea typeface="+mn-ea"/>
                <a:cs typeface="+mn-cs"/>
              </a:rPr>
              <a:t> a tagjainak van hozzáférése, illetve üzleti indokkal más szervezetek is kaphatnak hozzá olvasási jogot. Ezzel megvalósul a legkisebb jogosultság elve. *Képen lévő példát szemléltetjük*</a:t>
            </a:r>
          </a:p>
          <a:p>
            <a:endParaRPr lang="hu-HU" dirty="0"/>
          </a:p>
        </p:txBody>
      </p:sp>
      <p:sp>
        <p:nvSpPr>
          <p:cNvPr id="4" name="Dia számának helye 3"/>
          <p:cNvSpPr>
            <a:spLocks noGrp="1"/>
          </p:cNvSpPr>
          <p:nvPr>
            <p:ph type="sldNum" sz="quarter" idx="5"/>
          </p:nvPr>
        </p:nvSpPr>
        <p:spPr/>
        <p:txBody>
          <a:bodyPr/>
          <a:lstStyle/>
          <a:p>
            <a:fld id="{A67D4F15-C7BC-4A56-B8AA-CF1F76BA253C}" type="slidenum">
              <a:rPr lang="hu-HU" smtClean="0"/>
              <a:t>31</a:t>
            </a:fld>
            <a:endParaRPr lang="hu-HU"/>
          </a:p>
        </p:txBody>
      </p:sp>
    </p:spTree>
    <p:extLst>
      <p:ext uri="{BB962C8B-B14F-4D97-AF65-F5344CB8AC3E}">
        <p14:creationId xmlns:p14="http://schemas.microsoft.com/office/powerpoint/2010/main" val="372184295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hu-HU" sz="1200" kern="1200" dirty="0">
                <a:solidFill>
                  <a:schemeClr val="tx1"/>
                </a:solidFill>
                <a:effectLst/>
                <a:latin typeface="+mn-lt"/>
                <a:ea typeface="+mn-ea"/>
                <a:cs typeface="+mn-cs"/>
              </a:rPr>
              <a:t>Van egy egységes </a:t>
            </a:r>
            <a:r>
              <a:rPr lang="hu-HU" sz="1200" kern="1200" dirty="0" err="1">
                <a:solidFill>
                  <a:schemeClr val="tx1"/>
                </a:solidFill>
                <a:effectLst/>
                <a:latin typeface="+mn-lt"/>
                <a:ea typeface="+mn-ea"/>
                <a:cs typeface="+mn-cs"/>
              </a:rPr>
              <a:t>domain</a:t>
            </a:r>
            <a:r>
              <a:rPr lang="hu-HU" sz="1200" kern="1200" dirty="0">
                <a:solidFill>
                  <a:schemeClr val="tx1"/>
                </a:solidFill>
                <a:effectLst/>
                <a:latin typeface="+mn-lt"/>
                <a:ea typeface="+mn-ea"/>
                <a:cs typeface="+mn-cs"/>
              </a:rPr>
              <a:t> háttérképünk, ami 2 funkciót tölt be: Egységes vállalti arculatot ad, és egyben biztonsági funkciót ad, ezzel kiszűrhetők az illetéktelen felhasználók. Van egy alap háttérkép, ami minden </a:t>
            </a:r>
            <a:r>
              <a:rPr lang="hu-HU" sz="1200" kern="1200" dirty="0" err="1">
                <a:solidFill>
                  <a:schemeClr val="tx1"/>
                </a:solidFill>
                <a:effectLst/>
                <a:latin typeface="+mn-lt"/>
                <a:ea typeface="+mn-ea"/>
                <a:cs typeface="+mn-cs"/>
              </a:rPr>
              <a:t>domainba</a:t>
            </a:r>
            <a:r>
              <a:rPr lang="hu-HU" sz="1200" kern="1200" dirty="0">
                <a:solidFill>
                  <a:schemeClr val="tx1"/>
                </a:solidFill>
                <a:effectLst/>
                <a:latin typeface="+mn-lt"/>
                <a:ea typeface="+mn-ea"/>
                <a:cs typeface="+mn-cs"/>
              </a:rPr>
              <a:t> tartozó gépnek van, illetve egy </a:t>
            </a:r>
            <a:r>
              <a:rPr lang="hu-HU" sz="1200" kern="1200" dirty="0" err="1">
                <a:solidFill>
                  <a:schemeClr val="tx1"/>
                </a:solidFill>
                <a:effectLst/>
                <a:latin typeface="+mn-lt"/>
                <a:ea typeface="+mn-ea"/>
                <a:cs typeface="+mn-cs"/>
              </a:rPr>
              <a:t>exklúzív</a:t>
            </a:r>
            <a:r>
              <a:rPr lang="hu-HU" sz="1200" kern="1200" dirty="0">
                <a:solidFill>
                  <a:schemeClr val="tx1"/>
                </a:solidFill>
                <a:effectLst/>
                <a:latin typeface="+mn-lt"/>
                <a:ea typeface="+mn-ea"/>
                <a:cs typeface="+mn-cs"/>
              </a:rPr>
              <a:t> háttér a management-</a:t>
            </a:r>
            <a:r>
              <a:rPr lang="hu-HU" sz="1200" kern="1200" dirty="0" err="1">
                <a:solidFill>
                  <a:schemeClr val="tx1"/>
                </a:solidFill>
                <a:effectLst/>
                <a:latin typeface="+mn-lt"/>
                <a:ea typeface="+mn-ea"/>
                <a:cs typeface="+mn-cs"/>
              </a:rPr>
              <a:t>nek</a:t>
            </a:r>
            <a:r>
              <a:rPr lang="hu-HU" sz="1200" kern="1200" dirty="0">
                <a:solidFill>
                  <a:schemeClr val="tx1"/>
                </a:solidFill>
                <a:effectLst/>
                <a:latin typeface="+mn-lt"/>
                <a:ea typeface="+mn-ea"/>
                <a:cs typeface="+mn-cs"/>
              </a:rPr>
              <a:t>.</a:t>
            </a:r>
          </a:p>
          <a:p>
            <a:endParaRPr lang="hu-HU" dirty="0"/>
          </a:p>
        </p:txBody>
      </p:sp>
      <p:sp>
        <p:nvSpPr>
          <p:cNvPr id="4" name="Dia számának helye 3"/>
          <p:cNvSpPr>
            <a:spLocks noGrp="1"/>
          </p:cNvSpPr>
          <p:nvPr>
            <p:ph type="sldNum" sz="quarter" idx="5"/>
          </p:nvPr>
        </p:nvSpPr>
        <p:spPr/>
        <p:txBody>
          <a:bodyPr/>
          <a:lstStyle/>
          <a:p>
            <a:fld id="{A67D4F15-C7BC-4A56-B8AA-CF1F76BA253C}" type="slidenum">
              <a:rPr lang="hu-HU" smtClean="0"/>
              <a:t>32</a:t>
            </a:fld>
            <a:endParaRPr lang="hu-HU"/>
          </a:p>
        </p:txBody>
      </p:sp>
    </p:spTree>
    <p:extLst>
      <p:ext uri="{BB962C8B-B14F-4D97-AF65-F5344CB8AC3E}">
        <p14:creationId xmlns:p14="http://schemas.microsoft.com/office/powerpoint/2010/main" val="22644392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hu-HU" sz="1200" kern="1200" dirty="0">
                <a:solidFill>
                  <a:schemeClr val="tx1"/>
                </a:solidFill>
                <a:effectLst/>
                <a:latin typeface="+mn-lt"/>
                <a:ea typeface="+mn-ea"/>
                <a:cs typeface="+mn-cs"/>
              </a:rPr>
              <a:t>Annyiban eltér a többitől, hogy telepítést alkalmaztunk a </a:t>
            </a:r>
            <a:r>
              <a:rPr lang="hu-HU" sz="1200" kern="1200" dirty="0" err="1">
                <a:solidFill>
                  <a:schemeClr val="tx1"/>
                </a:solidFill>
                <a:effectLst/>
                <a:latin typeface="+mn-lt"/>
                <a:ea typeface="+mn-ea"/>
                <a:cs typeface="+mn-cs"/>
              </a:rPr>
              <a:t>PuTTY</a:t>
            </a:r>
            <a:r>
              <a:rPr lang="hu-HU" sz="1200" kern="1200" dirty="0">
                <a:solidFill>
                  <a:schemeClr val="tx1"/>
                </a:solidFill>
                <a:effectLst/>
                <a:latin typeface="+mn-lt"/>
                <a:ea typeface="+mn-ea"/>
                <a:cs typeface="+mn-cs"/>
              </a:rPr>
              <a:t> és </a:t>
            </a:r>
            <a:r>
              <a:rPr lang="hu-HU" sz="1200" kern="1200" dirty="0" err="1">
                <a:solidFill>
                  <a:schemeClr val="tx1"/>
                </a:solidFill>
                <a:effectLst/>
                <a:latin typeface="+mn-lt"/>
                <a:ea typeface="+mn-ea"/>
                <a:cs typeface="+mn-cs"/>
              </a:rPr>
              <a:t>WinSCP</a:t>
            </a:r>
            <a:r>
              <a:rPr lang="hu-HU" sz="1200" kern="1200" dirty="0">
                <a:solidFill>
                  <a:schemeClr val="tx1"/>
                </a:solidFill>
                <a:effectLst/>
                <a:latin typeface="+mn-lt"/>
                <a:ea typeface="+mn-ea"/>
                <a:cs typeface="+mn-cs"/>
              </a:rPr>
              <a:t> programokra. Ezek lényegében előre jóvá hagyott csomagok kézzel indított telepítése. Ezt azért kell így csinálni, mert ők tagjai a tartományi adminisztrátorok csoportnak, ezért nekik semmi nem telepíthető fel automatikusan.</a:t>
            </a:r>
          </a:p>
          <a:p>
            <a:endParaRPr lang="hu-HU" dirty="0"/>
          </a:p>
        </p:txBody>
      </p:sp>
      <p:sp>
        <p:nvSpPr>
          <p:cNvPr id="4" name="Dia számának helye 3"/>
          <p:cNvSpPr>
            <a:spLocks noGrp="1"/>
          </p:cNvSpPr>
          <p:nvPr>
            <p:ph type="sldNum" sz="quarter" idx="5"/>
          </p:nvPr>
        </p:nvSpPr>
        <p:spPr/>
        <p:txBody>
          <a:bodyPr/>
          <a:lstStyle/>
          <a:p>
            <a:fld id="{A67D4F15-C7BC-4A56-B8AA-CF1F76BA253C}" type="slidenum">
              <a:rPr lang="hu-HU" smtClean="0"/>
              <a:t>33</a:t>
            </a:fld>
            <a:endParaRPr lang="hu-HU"/>
          </a:p>
        </p:txBody>
      </p:sp>
    </p:spTree>
    <p:extLst>
      <p:ext uri="{BB962C8B-B14F-4D97-AF65-F5344CB8AC3E}">
        <p14:creationId xmlns:p14="http://schemas.microsoft.com/office/powerpoint/2010/main" val="242805532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hu-HU" sz="1200" kern="1200" dirty="0">
                <a:solidFill>
                  <a:schemeClr val="tx1"/>
                </a:solidFill>
                <a:effectLst/>
                <a:latin typeface="+mn-lt"/>
                <a:ea typeface="+mn-ea"/>
                <a:cs typeface="+mn-cs"/>
              </a:rPr>
              <a:t>Mivel üzleti szempontból kritikus adatbázisokat működtetünk, ezért nem engedhető meg semmilyen adatvesztés, vagy üzemből való kiesés. Ezeknek 0-24-ben működnie kell.</a:t>
            </a:r>
          </a:p>
          <a:p>
            <a:endParaRPr lang="hu-HU" dirty="0"/>
          </a:p>
        </p:txBody>
      </p:sp>
      <p:sp>
        <p:nvSpPr>
          <p:cNvPr id="4" name="Dia számának helye 3"/>
          <p:cNvSpPr>
            <a:spLocks noGrp="1"/>
          </p:cNvSpPr>
          <p:nvPr>
            <p:ph type="sldNum" sz="quarter" idx="5"/>
          </p:nvPr>
        </p:nvSpPr>
        <p:spPr/>
        <p:txBody>
          <a:bodyPr/>
          <a:lstStyle/>
          <a:p>
            <a:fld id="{A67D4F15-C7BC-4A56-B8AA-CF1F76BA253C}" type="slidenum">
              <a:rPr lang="hu-HU" smtClean="0"/>
              <a:t>34</a:t>
            </a:fld>
            <a:endParaRPr lang="hu-HU"/>
          </a:p>
        </p:txBody>
      </p:sp>
    </p:spTree>
    <p:extLst>
      <p:ext uri="{BB962C8B-B14F-4D97-AF65-F5344CB8AC3E}">
        <p14:creationId xmlns:p14="http://schemas.microsoft.com/office/powerpoint/2010/main" val="318046324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hu-HU" sz="1200" kern="1200" dirty="0">
                <a:solidFill>
                  <a:schemeClr val="tx1"/>
                </a:solidFill>
                <a:effectLst/>
                <a:latin typeface="+mn-lt"/>
                <a:ea typeface="+mn-ea"/>
                <a:cs typeface="+mn-cs"/>
              </a:rPr>
              <a:t>2db SQL </a:t>
            </a:r>
            <a:r>
              <a:rPr lang="hu-HU" sz="1200" kern="1200" dirty="0" err="1">
                <a:solidFill>
                  <a:schemeClr val="tx1"/>
                </a:solidFill>
                <a:effectLst/>
                <a:latin typeface="+mn-lt"/>
                <a:ea typeface="+mn-ea"/>
                <a:cs typeface="+mn-cs"/>
              </a:rPr>
              <a:t>node</a:t>
            </a:r>
            <a:r>
              <a:rPr lang="hu-HU" sz="1200" kern="1200" dirty="0">
                <a:solidFill>
                  <a:schemeClr val="tx1"/>
                </a:solidFill>
                <a:effectLst/>
                <a:latin typeface="+mn-lt"/>
                <a:ea typeface="+mn-ea"/>
                <a:cs typeface="+mn-cs"/>
              </a:rPr>
              <a:t> van. Az „</a:t>
            </a:r>
            <a:r>
              <a:rPr lang="hu-HU" sz="1200" kern="1200" dirty="0" err="1">
                <a:solidFill>
                  <a:schemeClr val="tx1"/>
                </a:solidFill>
                <a:effectLst/>
                <a:latin typeface="+mn-lt"/>
                <a:ea typeface="+mn-ea"/>
                <a:cs typeface="+mn-cs"/>
              </a:rPr>
              <a:t>Always</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on</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High</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Availability</a:t>
            </a:r>
            <a:r>
              <a:rPr lang="hu-HU" sz="1200" kern="1200" dirty="0">
                <a:solidFill>
                  <a:schemeClr val="tx1"/>
                </a:solidFill>
                <a:effectLst/>
                <a:latin typeface="+mn-lt"/>
                <a:ea typeface="+mn-ea"/>
                <a:cs typeface="+mn-cs"/>
              </a:rPr>
              <a:t>” a Windows Server </a:t>
            </a:r>
            <a:r>
              <a:rPr lang="hu-HU" sz="1200" kern="1200" dirty="0" err="1">
                <a:solidFill>
                  <a:schemeClr val="tx1"/>
                </a:solidFill>
                <a:effectLst/>
                <a:latin typeface="+mn-lt"/>
                <a:ea typeface="+mn-ea"/>
                <a:cs typeface="+mn-cs"/>
              </a:rPr>
              <a:t>Failover</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Clusterre</a:t>
            </a:r>
            <a:r>
              <a:rPr lang="hu-HU" sz="1200" kern="1200" dirty="0">
                <a:solidFill>
                  <a:schemeClr val="tx1"/>
                </a:solidFill>
                <a:effectLst/>
                <a:latin typeface="+mn-lt"/>
                <a:ea typeface="+mn-ea"/>
                <a:cs typeface="+mn-cs"/>
              </a:rPr>
              <a:t> alapuló speciális rendszer. </a:t>
            </a:r>
            <a:r>
              <a:rPr lang="hu-HU" sz="1200" b="1" kern="1200" dirty="0">
                <a:solidFill>
                  <a:schemeClr val="tx1"/>
                </a:solidFill>
                <a:effectLst/>
                <a:latin typeface="+mn-lt"/>
                <a:ea typeface="+mn-ea"/>
                <a:cs typeface="+mn-cs"/>
              </a:rPr>
              <a:t>EZT MÉG KI KELL EGÉSZÍTENI </a:t>
            </a:r>
            <a:r>
              <a:rPr lang="hu-HU" sz="1200" kern="1200" dirty="0">
                <a:solidFill>
                  <a:schemeClr val="tx1"/>
                </a:solidFill>
                <a:effectLst/>
                <a:latin typeface="+mn-lt"/>
                <a:ea typeface="+mn-ea"/>
                <a:cs typeface="+mn-cs"/>
              </a:rPr>
              <a:t>Létre kell hozni egy </a:t>
            </a:r>
            <a:r>
              <a:rPr lang="hu-HU" sz="1200" kern="1200" dirty="0" err="1">
                <a:solidFill>
                  <a:schemeClr val="tx1"/>
                </a:solidFill>
                <a:effectLst/>
                <a:latin typeface="+mn-lt"/>
                <a:ea typeface="+mn-ea"/>
                <a:cs typeface="+mn-cs"/>
              </a:rPr>
              <a:t>Availability</a:t>
            </a:r>
            <a:r>
              <a:rPr lang="hu-HU" sz="1200" kern="1200" dirty="0">
                <a:solidFill>
                  <a:schemeClr val="tx1"/>
                </a:solidFill>
                <a:effectLst/>
                <a:latin typeface="+mn-lt"/>
                <a:ea typeface="+mn-ea"/>
                <a:cs typeface="+mn-cs"/>
              </a:rPr>
              <a:t> Group-ot, ebbe tartozik bele a 2 </a:t>
            </a:r>
            <a:r>
              <a:rPr lang="hu-HU" sz="1200" kern="1200" dirty="0" err="1">
                <a:solidFill>
                  <a:schemeClr val="tx1"/>
                </a:solidFill>
                <a:effectLst/>
                <a:latin typeface="+mn-lt"/>
                <a:ea typeface="+mn-ea"/>
                <a:cs typeface="+mn-cs"/>
              </a:rPr>
              <a:t>node</a:t>
            </a:r>
            <a:r>
              <a:rPr lang="hu-HU" sz="1200" kern="1200" dirty="0">
                <a:solidFill>
                  <a:schemeClr val="tx1"/>
                </a:solidFill>
                <a:effectLst/>
                <a:latin typeface="+mn-lt"/>
                <a:ea typeface="+mn-ea"/>
                <a:cs typeface="+mn-cs"/>
              </a:rPr>
              <a:t>, és van egy </a:t>
            </a:r>
            <a:r>
              <a:rPr lang="hu-HU" sz="1200" kern="1200" dirty="0" err="1">
                <a:solidFill>
                  <a:schemeClr val="tx1"/>
                </a:solidFill>
                <a:effectLst/>
                <a:latin typeface="+mn-lt"/>
                <a:ea typeface="+mn-ea"/>
                <a:cs typeface="+mn-cs"/>
              </a:rPr>
              <a:t>Listenerje</a:t>
            </a:r>
            <a:r>
              <a:rPr lang="hu-HU" sz="1200" kern="1200" dirty="0">
                <a:solidFill>
                  <a:schemeClr val="tx1"/>
                </a:solidFill>
                <a:effectLst/>
                <a:latin typeface="+mn-lt"/>
                <a:ea typeface="+mn-ea"/>
                <a:cs typeface="+mn-cs"/>
              </a:rPr>
              <a:t> és egy File </a:t>
            </a:r>
            <a:r>
              <a:rPr lang="hu-HU" sz="1200" kern="1200" dirty="0" err="1">
                <a:solidFill>
                  <a:schemeClr val="tx1"/>
                </a:solidFill>
                <a:effectLst/>
                <a:latin typeface="+mn-lt"/>
                <a:ea typeface="+mn-ea"/>
                <a:cs typeface="+mn-cs"/>
              </a:rPr>
              <a:t>Share</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Witness</a:t>
            </a:r>
            <a:r>
              <a:rPr lang="hu-HU" sz="1200" kern="1200" dirty="0">
                <a:solidFill>
                  <a:schemeClr val="tx1"/>
                </a:solidFill>
                <a:effectLst/>
                <a:latin typeface="+mn-lt"/>
                <a:ea typeface="+mn-ea"/>
                <a:cs typeface="+mn-cs"/>
              </a:rPr>
              <a:t>-e.</a:t>
            </a:r>
          </a:p>
          <a:p>
            <a:endParaRPr lang="hu-HU" dirty="0"/>
          </a:p>
        </p:txBody>
      </p:sp>
      <p:sp>
        <p:nvSpPr>
          <p:cNvPr id="4" name="Dia számának helye 3"/>
          <p:cNvSpPr>
            <a:spLocks noGrp="1"/>
          </p:cNvSpPr>
          <p:nvPr>
            <p:ph type="sldNum" sz="quarter" idx="5"/>
          </p:nvPr>
        </p:nvSpPr>
        <p:spPr/>
        <p:txBody>
          <a:bodyPr/>
          <a:lstStyle/>
          <a:p>
            <a:fld id="{A67D4F15-C7BC-4A56-B8AA-CF1F76BA253C}" type="slidenum">
              <a:rPr lang="hu-HU" smtClean="0"/>
              <a:t>35</a:t>
            </a:fld>
            <a:endParaRPr lang="hu-HU"/>
          </a:p>
        </p:txBody>
      </p:sp>
    </p:spTree>
    <p:extLst>
      <p:ext uri="{BB962C8B-B14F-4D97-AF65-F5344CB8AC3E}">
        <p14:creationId xmlns:p14="http://schemas.microsoft.com/office/powerpoint/2010/main" val="169505993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hu-HU" sz="1200" kern="1200" dirty="0">
                <a:solidFill>
                  <a:schemeClr val="tx1"/>
                </a:solidFill>
                <a:effectLst/>
                <a:latin typeface="+mn-lt"/>
                <a:ea typeface="+mn-ea"/>
                <a:cs typeface="+mn-cs"/>
              </a:rPr>
              <a:t>Szinkron replikáción alapul, a képen is lehet látni a </a:t>
            </a:r>
            <a:r>
              <a:rPr lang="hu-HU" sz="1200" kern="1200" dirty="0" err="1">
                <a:solidFill>
                  <a:schemeClr val="tx1"/>
                </a:solidFill>
                <a:effectLst/>
                <a:latin typeface="+mn-lt"/>
                <a:ea typeface="+mn-ea"/>
                <a:cs typeface="+mn-cs"/>
              </a:rPr>
              <a:t>primary</a:t>
            </a:r>
            <a:r>
              <a:rPr lang="hu-HU" sz="1200" kern="1200" dirty="0">
                <a:solidFill>
                  <a:schemeClr val="tx1"/>
                </a:solidFill>
                <a:effectLst/>
                <a:latin typeface="+mn-lt"/>
                <a:ea typeface="+mn-ea"/>
                <a:cs typeface="+mn-cs"/>
              </a:rPr>
              <a:t> és </a:t>
            </a:r>
            <a:r>
              <a:rPr lang="hu-HU" sz="1200" kern="1200" dirty="0" err="1">
                <a:solidFill>
                  <a:schemeClr val="tx1"/>
                </a:solidFill>
                <a:effectLst/>
                <a:latin typeface="+mn-lt"/>
                <a:ea typeface="+mn-ea"/>
                <a:cs typeface="+mn-cs"/>
              </a:rPr>
              <a:t>secondary</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groupban</a:t>
            </a:r>
            <a:r>
              <a:rPr lang="hu-HU" sz="1200" kern="1200" dirty="0">
                <a:solidFill>
                  <a:schemeClr val="tx1"/>
                </a:solidFill>
                <a:effectLst/>
                <a:latin typeface="+mn-lt"/>
                <a:ea typeface="+mn-ea"/>
                <a:cs typeface="+mn-cs"/>
              </a:rPr>
              <a:t> lévő SQLAG elemeket, amik </a:t>
            </a:r>
            <a:r>
              <a:rPr lang="hu-HU" sz="1200" kern="1200" dirty="0" err="1">
                <a:solidFill>
                  <a:schemeClr val="tx1"/>
                </a:solidFill>
                <a:effectLst/>
                <a:latin typeface="+mn-lt"/>
                <a:ea typeface="+mn-ea"/>
                <a:cs typeface="+mn-cs"/>
              </a:rPr>
              <a:t>failover</a:t>
            </a:r>
            <a:r>
              <a:rPr lang="hu-HU" sz="1200" kern="1200" dirty="0">
                <a:solidFill>
                  <a:schemeClr val="tx1"/>
                </a:solidFill>
                <a:effectLst/>
                <a:latin typeface="+mn-lt"/>
                <a:ea typeface="+mn-ea"/>
                <a:cs typeface="+mn-cs"/>
              </a:rPr>
              <a:t> esetén megfordulnak. A replikáció szerint, ha az egyik adatbázisban változás van, akkor a másikban is átíródik. A </a:t>
            </a:r>
            <a:r>
              <a:rPr lang="hu-HU" sz="1200" kern="1200" dirty="0" err="1">
                <a:solidFill>
                  <a:schemeClr val="tx1"/>
                </a:solidFill>
                <a:effectLst/>
                <a:latin typeface="+mn-lt"/>
                <a:ea typeface="+mn-ea"/>
                <a:cs typeface="+mn-cs"/>
              </a:rPr>
              <a:t>failover</a:t>
            </a:r>
            <a:r>
              <a:rPr lang="hu-HU" sz="1200" kern="1200" dirty="0">
                <a:solidFill>
                  <a:schemeClr val="tx1"/>
                </a:solidFill>
                <a:effectLst/>
                <a:latin typeface="+mn-lt"/>
                <a:ea typeface="+mn-ea"/>
                <a:cs typeface="+mn-cs"/>
              </a:rPr>
              <a:t> lehet automatikus vagy kézzel indított is. A </a:t>
            </a:r>
            <a:r>
              <a:rPr lang="hu-HU" sz="1200" kern="1200" dirty="0" err="1">
                <a:solidFill>
                  <a:schemeClr val="tx1"/>
                </a:solidFill>
                <a:effectLst/>
                <a:latin typeface="+mn-lt"/>
                <a:ea typeface="+mn-ea"/>
                <a:cs typeface="+mn-cs"/>
              </a:rPr>
              <a:t>Listener</a:t>
            </a:r>
            <a:r>
              <a:rPr lang="hu-HU" sz="1200" kern="1200" dirty="0">
                <a:solidFill>
                  <a:schemeClr val="tx1"/>
                </a:solidFill>
                <a:effectLst/>
                <a:latin typeface="+mn-lt"/>
                <a:ea typeface="+mn-ea"/>
                <a:cs typeface="+mn-cs"/>
              </a:rPr>
              <a:t> IP az </a:t>
            </a:r>
            <a:r>
              <a:rPr lang="hu-HU" sz="1200" kern="1200" dirty="0" err="1">
                <a:solidFill>
                  <a:schemeClr val="tx1"/>
                </a:solidFill>
                <a:effectLst/>
                <a:latin typeface="+mn-lt"/>
                <a:ea typeface="+mn-ea"/>
                <a:cs typeface="+mn-cs"/>
              </a:rPr>
              <a:t>availability</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groupnak</a:t>
            </a:r>
            <a:r>
              <a:rPr lang="hu-HU" sz="1200" kern="1200" dirty="0">
                <a:solidFill>
                  <a:schemeClr val="tx1"/>
                </a:solidFill>
                <a:effectLst/>
                <a:latin typeface="+mn-lt"/>
                <a:ea typeface="+mn-ea"/>
                <a:cs typeface="+mn-cs"/>
              </a:rPr>
              <a:t> az IP címe. Ez egy virtuális IP, aminek a segítségével mindkettő szervert tudjuk használni, és a csoportkezelő tudja, hogy melyik </a:t>
            </a:r>
            <a:r>
              <a:rPr lang="hu-HU" sz="1200" kern="1200" dirty="0" err="1">
                <a:solidFill>
                  <a:schemeClr val="tx1"/>
                </a:solidFill>
                <a:effectLst/>
                <a:latin typeface="+mn-lt"/>
                <a:ea typeface="+mn-ea"/>
                <a:cs typeface="+mn-cs"/>
              </a:rPr>
              <a:t>node-al</a:t>
            </a:r>
            <a:r>
              <a:rPr lang="hu-HU" sz="1200" kern="1200" dirty="0">
                <a:solidFill>
                  <a:schemeClr val="tx1"/>
                </a:solidFill>
                <a:effectLst/>
                <a:latin typeface="+mn-lt"/>
                <a:ea typeface="+mn-ea"/>
                <a:cs typeface="+mn-cs"/>
              </a:rPr>
              <a:t> kell kommunikálni.</a:t>
            </a:r>
          </a:p>
          <a:p>
            <a:endParaRPr lang="hu-HU" dirty="0"/>
          </a:p>
        </p:txBody>
      </p:sp>
      <p:sp>
        <p:nvSpPr>
          <p:cNvPr id="4" name="Dia számának helye 3"/>
          <p:cNvSpPr>
            <a:spLocks noGrp="1"/>
          </p:cNvSpPr>
          <p:nvPr>
            <p:ph type="sldNum" sz="quarter" idx="5"/>
          </p:nvPr>
        </p:nvSpPr>
        <p:spPr/>
        <p:txBody>
          <a:bodyPr/>
          <a:lstStyle/>
          <a:p>
            <a:fld id="{A67D4F15-C7BC-4A56-B8AA-CF1F76BA253C}" type="slidenum">
              <a:rPr lang="hu-HU" smtClean="0"/>
              <a:t>36</a:t>
            </a:fld>
            <a:endParaRPr lang="hu-HU"/>
          </a:p>
        </p:txBody>
      </p:sp>
    </p:spTree>
    <p:extLst>
      <p:ext uri="{BB962C8B-B14F-4D97-AF65-F5344CB8AC3E}">
        <p14:creationId xmlns:p14="http://schemas.microsoft.com/office/powerpoint/2010/main" val="131956705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hu-HU" sz="1200" kern="1200" dirty="0">
                <a:solidFill>
                  <a:schemeClr val="tx1"/>
                </a:solidFill>
                <a:effectLst/>
                <a:latin typeface="+mn-lt"/>
                <a:ea typeface="+mn-ea"/>
                <a:cs typeface="+mn-cs"/>
              </a:rPr>
              <a:t>Egy </a:t>
            </a:r>
            <a:r>
              <a:rPr lang="hu-HU" sz="1200" kern="1200" dirty="0" err="1">
                <a:solidFill>
                  <a:schemeClr val="tx1"/>
                </a:solidFill>
                <a:effectLst/>
                <a:latin typeface="+mn-lt"/>
                <a:ea typeface="+mn-ea"/>
                <a:cs typeface="+mn-cs"/>
              </a:rPr>
              <a:t>clusternek</a:t>
            </a:r>
            <a:r>
              <a:rPr lang="hu-HU" sz="1200" kern="1200" dirty="0">
                <a:solidFill>
                  <a:schemeClr val="tx1"/>
                </a:solidFill>
                <a:effectLst/>
                <a:latin typeface="+mn-lt"/>
                <a:ea typeface="+mn-ea"/>
                <a:cs typeface="+mn-cs"/>
              </a:rPr>
              <a:t> bizonyos mennyiségű szavazatra van szüksége, hogy </a:t>
            </a:r>
            <a:r>
              <a:rPr lang="hu-HU" sz="1200" kern="1200" dirty="0" err="1">
                <a:solidFill>
                  <a:schemeClr val="tx1"/>
                </a:solidFill>
                <a:effectLst/>
                <a:latin typeface="+mn-lt"/>
                <a:ea typeface="+mn-ea"/>
                <a:cs typeface="+mn-cs"/>
              </a:rPr>
              <a:t>működjön</a:t>
            </a:r>
            <a:r>
              <a:rPr lang="hu-HU" sz="1200" kern="1200" dirty="0">
                <a:solidFill>
                  <a:schemeClr val="tx1"/>
                </a:solidFill>
                <a:effectLst/>
                <a:latin typeface="+mn-lt"/>
                <a:ea typeface="+mn-ea"/>
                <a:cs typeface="+mn-cs"/>
              </a:rPr>
              <a:t>, másképpen leáll. Ebben az esetben ez 2. Ha egy </a:t>
            </a:r>
            <a:r>
              <a:rPr lang="hu-HU" sz="1200" kern="1200" dirty="0" err="1">
                <a:solidFill>
                  <a:schemeClr val="tx1"/>
                </a:solidFill>
                <a:effectLst/>
                <a:latin typeface="+mn-lt"/>
                <a:ea typeface="+mn-ea"/>
                <a:cs typeface="+mn-cs"/>
              </a:rPr>
              <a:t>node</a:t>
            </a:r>
            <a:r>
              <a:rPr lang="hu-HU" sz="1200" kern="1200" dirty="0">
                <a:solidFill>
                  <a:schemeClr val="tx1"/>
                </a:solidFill>
                <a:effectLst/>
                <a:latin typeface="+mn-lt"/>
                <a:ea typeface="+mn-ea"/>
                <a:cs typeface="+mn-cs"/>
              </a:rPr>
              <a:t> megáll, akkor nem teljesül a </a:t>
            </a:r>
            <a:r>
              <a:rPr lang="hu-HU" sz="1200" kern="1200" dirty="0" err="1">
                <a:solidFill>
                  <a:schemeClr val="tx1"/>
                </a:solidFill>
                <a:effectLst/>
                <a:latin typeface="+mn-lt"/>
                <a:ea typeface="+mn-ea"/>
                <a:cs typeface="+mn-cs"/>
              </a:rPr>
              <a:t>Quorum</a:t>
            </a:r>
            <a:r>
              <a:rPr lang="hu-HU" sz="1200" kern="1200" dirty="0">
                <a:solidFill>
                  <a:schemeClr val="tx1"/>
                </a:solidFill>
                <a:effectLst/>
                <a:latin typeface="+mn-lt"/>
                <a:ea typeface="+mn-ea"/>
                <a:cs typeface="+mn-cs"/>
              </a:rPr>
              <a:t>, nincs meg 2 szavazat, és a </a:t>
            </a:r>
            <a:r>
              <a:rPr lang="hu-HU" sz="1200" kern="1200" dirty="0" err="1">
                <a:solidFill>
                  <a:schemeClr val="tx1"/>
                </a:solidFill>
                <a:effectLst/>
                <a:latin typeface="+mn-lt"/>
                <a:ea typeface="+mn-ea"/>
                <a:cs typeface="+mn-cs"/>
              </a:rPr>
              <a:t>cluster</a:t>
            </a:r>
            <a:r>
              <a:rPr lang="hu-HU" sz="1200" kern="1200" dirty="0">
                <a:solidFill>
                  <a:schemeClr val="tx1"/>
                </a:solidFill>
                <a:effectLst/>
                <a:latin typeface="+mn-lt"/>
                <a:ea typeface="+mn-ea"/>
                <a:cs typeface="+mn-cs"/>
              </a:rPr>
              <a:t> megáll. A file </a:t>
            </a:r>
            <a:r>
              <a:rPr lang="hu-HU" sz="1200" kern="1200" dirty="0" err="1">
                <a:solidFill>
                  <a:schemeClr val="tx1"/>
                </a:solidFill>
                <a:effectLst/>
                <a:latin typeface="+mn-lt"/>
                <a:ea typeface="+mn-ea"/>
                <a:cs typeface="+mn-cs"/>
              </a:rPr>
              <a:t>share</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witness</a:t>
            </a:r>
            <a:r>
              <a:rPr lang="hu-HU" sz="1200" kern="1200" dirty="0">
                <a:solidFill>
                  <a:schemeClr val="tx1"/>
                </a:solidFill>
                <a:effectLst/>
                <a:latin typeface="+mn-lt"/>
                <a:ea typeface="+mn-ea"/>
                <a:cs typeface="+mn-cs"/>
              </a:rPr>
              <a:t> feladata, hogy hozza a szükséges szavazatot, mert ő meg tudja állapítani, hogy melyik </a:t>
            </a:r>
            <a:r>
              <a:rPr lang="hu-HU" sz="1200" kern="1200" dirty="0" err="1">
                <a:solidFill>
                  <a:schemeClr val="tx1"/>
                </a:solidFill>
                <a:effectLst/>
                <a:latin typeface="+mn-lt"/>
                <a:ea typeface="+mn-ea"/>
                <a:cs typeface="+mn-cs"/>
              </a:rPr>
              <a:t>node</a:t>
            </a:r>
            <a:r>
              <a:rPr lang="hu-HU" sz="1200" kern="1200" dirty="0">
                <a:solidFill>
                  <a:schemeClr val="tx1"/>
                </a:solidFill>
                <a:effectLst/>
                <a:latin typeface="+mn-lt"/>
                <a:ea typeface="+mn-ea"/>
                <a:cs typeface="+mn-cs"/>
              </a:rPr>
              <a:t> működik és melyik nem. Tehát ő csak megfigyel. Ez elkerüli a </a:t>
            </a:r>
            <a:r>
              <a:rPr lang="hu-HU" sz="1200" kern="1200" dirty="0" err="1">
                <a:solidFill>
                  <a:schemeClr val="tx1"/>
                </a:solidFill>
                <a:effectLst/>
                <a:latin typeface="+mn-lt"/>
                <a:ea typeface="+mn-ea"/>
                <a:cs typeface="+mn-cs"/>
              </a:rPr>
              <a:t>split-brain</a:t>
            </a:r>
            <a:r>
              <a:rPr lang="hu-HU" sz="1200" kern="1200" dirty="0">
                <a:solidFill>
                  <a:schemeClr val="tx1"/>
                </a:solidFill>
                <a:effectLst/>
                <a:latin typeface="+mn-lt"/>
                <a:ea typeface="+mn-ea"/>
                <a:cs typeface="+mn-cs"/>
              </a:rPr>
              <a:t> állapotot, amiben mindkettő </a:t>
            </a:r>
            <a:r>
              <a:rPr lang="hu-HU" sz="1200" kern="1200" dirty="0" err="1">
                <a:solidFill>
                  <a:schemeClr val="tx1"/>
                </a:solidFill>
                <a:effectLst/>
                <a:latin typeface="+mn-lt"/>
                <a:ea typeface="+mn-ea"/>
                <a:cs typeface="+mn-cs"/>
              </a:rPr>
              <a:t>node</a:t>
            </a:r>
            <a:r>
              <a:rPr lang="hu-HU" sz="1200" kern="1200" dirty="0">
                <a:solidFill>
                  <a:schemeClr val="tx1"/>
                </a:solidFill>
                <a:effectLst/>
                <a:latin typeface="+mn-lt"/>
                <a:ea typeface="+mn-ea"/>
                <a:cs typeface="+mn-cs"/>
              </a:rPr>
              <a:t> azt hiszi, hogy ő az aktív.</a:t>
            </a:r>
          </a:p>
          <a:p>
            <a:endParaRPr lang="hu-HU" dirty="0"/>
          </a:p>
        </p:txBody>
      </p:sp>
      <p:sp>
        <p:nvSpPr>
          <p:cNvPr id="4" name="Dia számának helye 3"/>
          <p:cNvSpPr>
            <a:spLocks noGrp="1"/>
          </p:cNvSpPr>
          <p:nvPr>
            <p:ph type="sldNum" sz="quarter" idx="5"/>
          </p:nvPr>
        </p:nvSpPr>
        <p:spPr/>
        <p:txBody>
          <a:bodyPr/>
          <a:lstStyle/>
          <a:p>
            <a:fld id="{A67D4F15-C7BC-4A56-B8AA-CF1F76BA253C}" type="slidenum">
              <a:rPr lang="hu-HU" smtClean="0"/>
              <a:t>37</a:t>
            </a:fld>
            <a:endParaRPr lang="hu-HU"/>
          </a:p>
        </p:txBody>
      </p:sp>
    </p:spTree>
    <p:extLst>
      <p:ext uri="{BB962C8B-B14F-4D97-AF65-F5344CB8AC3E}">
        <p14:creationId xmlns:p14="http://schemas.microsoft.com/office/powerpoint/2010/main" val="395890012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hu-HU" sz="1200" kern="1200" dirty="0">
                <a:solidFill>
                  <a:schemeClr val="tx1"/>
                </a:solidFill>
                <a:effectLst/>
                <a:latin typeface="+mn-lt"/>
                <a:ea typeface="+mn-ea"/>
                <a:cs typeface="+mn-cs"/>
              </a:rPr>
              <a:t>2 db-ot használunk, egyez az SQL </a:t>
            </a:r>
            <a:r>
              <a:rPr lang="hu-HU" sz="1200" kern="1200" dirty="0" err="1">
                <a:solidFill>
                  <a:schemeClr val="tx1"/>
                </a:solidFill>
                <a:effectLst/>
                <a:latin typeface="+mn-lt"/>
                <a:ea typeface="+mn-ea"/>
                <a:cs typeface="+mn-cs"/>
              </a:rPr>
              <a:t>Engine-nek</a:t>
            </a:r>
            <a:r>
              <a:rPr lang="hu-HU" sz="1200" kern="1200" dirty="0">
                <a:solidFill>
                  <a:schemeClr val="tx1"/>
                </a:solidFill>
                <a:effectLst/>
                <a:latin typeface="+mn-lt"/>
                <a:ea typeface="+mn-ea"/>
                <a:cs typeface="+mn-cs"/>
              </a:rPr>
              <a:t>, másikat az SQL </a:t>
            </a:r>
            <a:r>
              <a:rPr lang="hu-HU" sz="1200" kern="1200" dirty="0" err="1">
                <a:solidFill>
                  <a:schemeClr val="tx1"/>
                </a:solidFill>
                <a:effectLst/>
                <a:latin typeface="+mn-lt"/>
                <a:ea typeface="+mn-ea"/>
                <a:cs typeface="+mn-cs"/>
              </a:rPr>
              <a:t>Agent-nek</a:t>
            </a:r>
            <a:r>
              <a:rPr lang="hu-HU" sz="1200" kern="1200" dirty="0">
                <a:solidFill>
                  <a:schemeClr val="tx1"/>
                </a:solidFill>
                <a:effectLst/>
                <a:latin typeface="+mn-lt"/>
                <a:ea typeface="+mn-ea"/>
                <a:cs typeface="+mn-cs"/>
              </a:rPr>
              <a:t>. Mivel jobb </a:t>
            </a:r>
            <a:r>
              <a:rPr lang="hu-HU" sz="1200" kern="1200" dirty="0" err="1">
                <a:solidFill>
                  <a:schemeClr val="tx1"/>
                </a:solidFill>
                <a:effectLst/>
                <a:latin typeface="+mn-lt"/>
                <a:ea typeface="+mn-ea"/>
                <a:cs typeface="+mn-cs"/>
              </a:rPr>
              <a:t>gMSA</a:t>
            </a:r>
            <a:r>
              <a:rPr lang="hu-HU" sz="1200" kern="1200" dirty="0">
                <a:solidFill>
                  <a:schemeClr val="tx1"/>
                </a:solidFill>
                <a:effectLst/>
                <a:latin typeface="+mn-lt"/>
                <a:ea typeface="+mn-ea"/>
                <a:cs typeface="+mn-cs"/>
              </a:rPr>
              <a:t>-t használni, mint sima </a:t>
            </a:r>
            <a:r>
              <a:rPr lang="hu-HU" sz="1200" kern="1200" dirty="0" err="1">
                <a:solidFill>
                  <a:schemeClr val="tx1"/>
                </a:solidFill>
                <a:effectLst/>
                <a:latin typeface="+mn-lt"/>
                <a:ea typeface="+mn-ea"/>
                <a:cs typeface="+mn-cs"/>
              </a:rPr>
              <a:t>user</a:t>
            </a:r>
            <a:r>
              <a:rPr lang="hu-HU" sz="1200" kern="1200" dirty="0">
                <a:solidFill>
                  <a:schemeClr val="tx1"/>
                </a:solidFill>
                <a:effectLst/>
                <a:latin typeface="+mn-lt"/>
                <a:ea typeface="+mn-ea"/>
                <a:cs typeface="+mn-cs"/>
              </a:rPr>
              <a:t> accountokat, azért, mert ők automatikusan kezelik a saját </a:t>
            </a:r>
            <a:r>
              <a:rPr lang="hu-HU" sz="1200" kern="1200" dirty="0" err="1">
                <a:solidFill>
                  <a:schemeClr val="tx1"/>
                </a:solidFill>
                <a:effectLst/>
                <a:latin typeface="+mn-lt"/>
                <a:ea typeface="+mn-ea"/>
                <a:cs typeface="+mn-cs"/>
              </a:rPr>
              <a:t>jelszavukat</a:t>
            </a:r>
            <a:r>
              <a:rPr lang="hu-HU" sz="1200" kern="1200" dirty="0">
                <a:solidFill>
                  <a:schemeClr val="tx1"/>
                </a:solidFill>
                <a:effectLst/>
                <a:latin typeface="+mn-lt"/>
                <a:ea typeface="+mn-ea"/>
                <a:cs typeface="+mn-cs"/>
              </a:rPr>
              <a:t> az AD feltételei szerint. Egyszerre több </a:t>
            </a:r>
            <a:r>
              <a:rPr lang="hu-HU" sz="1200" kern="1200" dirty="0" err="1">
                <a:solidFill>
                  <a:schemeClr val="tx1"/>
                </a:solidFill>
                <a:effectLst/>
                <a:latin typeface="+mn-lt"/>
                <a:ea typeface="+mn-ea"/>
                <a:cs typeface="+mn-cs"/>
              </a:rPr>
              <a:t>node</a:t>
            </a:r>
            <a:r>
              <a:rPr lang="hu-HU" sz="1200" kern="1200" dirty="0">
                <a:solidFill>
                  <a:schemeClr val="tx1"/>
                </a:solidFill>
                <a:effectLst/>
                <a:latin typeface="+mn-lt"/>
                <a:ea typeface="+mn-ea"/>
                <a:cs typeface="+mn-cs"/>
              </a:rPr>
              <a:t> is tudja használni ugyanazt a </a:t>
            </a:r>
            <a:r>
              <a:rPr lang="hu-HU" sz="1200" kern="1200" dirty="0" err="1">
                <a:solidFill>
                  <a:schemeClr val="tx1"/>
                </a:solidFill>
                <a:effectLst/>
                <a:latin typeface="+mn-lt"/>
                <a:ea typeface="+mn-ea"/>
                <a:cs typeface="+mn-cs"/>
              </a:rPr>
              <a:t>gMSA</a:t>
            </a:r>
            <a:r>
              <a:rPr lang="hu-HU" sz="1200" kern="1200" dirty="0">
                <a:solidFill>
                  <a:schemeClr val="tx1"/>
                </a:solidFill>
                <a:effectLst/>
                <a:latin typeface="+mn-lt"/>
                <a:ea typeface="+mn-ea"/>
                <a:cs typeface="+mn-cs"/>
              </a:rPr>
              <a:t>-t, és ez által </a:t>
            </a:r>
            <a:r>
              <a:rPr lang="hu-HU" sz="1200" kern="1200" dirty="0" err="1">
                <a:solidFill>
                  <a:schemeClr val="tx1"/>
                </a:solidFill>
                <a:effectLst/>
                <a:latin typeface="+mn-lt"/>
                <a:ea typeface="+mn-ea"/>
                <a:cs typeface="+mn-cs"/>
              </a:rPr>
              <a:t>cluster</a:t>
            </a:r>
            <a:r>
              <a:rPr lang="hu-HU" sz="1200" kern="1200" dirty="0">
                <a:solidFill>
                  <a:schemeClr val="tx1"/>
                </a:solidFill>
                <a:effectLst/>
                <a:latin typeface="+mn-lt"/>
                <a:ea typeface="+mn-ea"/>
                <a:cs typeface="+mn-cs"/>
              </a:rPr>
              <a:t> kompatibilis lesz.</a:t>
            </a:r>
          </a:p>
          <a:p>
            <a:endParaRPr lang="hu-HU" dirty="0"/>
          </a:p>
        </p:txBody>
      </p:sp>
      <p:sp>
        <p:nvSpPr>
          <p:cNvPr id="4" name="Dia számának helye 3"/>
          <p:cNvSpPr>
            <a:spLocks noGrp="1"/>
          </p:cNvSpPr>
          <p:nvPr>
            <p:ph type="sldNum" sz="quarter" idx="5"/>
          </p:nvPr>
        </p:nvSpPr>
        <p:spPr/>
        <p:txBody>
          <a:bodyPr/>
          <a:lstStyle/>
          <a:p>
            <a:fld id="{A67D4F15-C7BC-4A56-B8AA-CF1F76BA253C}" type="slidenum">
              <a:rPr lang="hu-HU" smtClean="0"/>
              <a:t>38</a:t>
            </a:fld>
            <a:endParaRPr lang="hu-HU"/>
          </a:p>
        </p:txBody>
      </p:sp>
    </p:spTree>
    <p:extLst>
      <p:ext uri="{BB962C8B-B14F-4D97-AF65-F5344CB8AC3E}">
        <p14:creationId xmlns:p14="http://schemas.microsoft.com/office/powerpoint/2010/main" val="17092058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Címdia">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8D7E72A1-DCEB-C0D7-144D-3B36E3C9FE24}"/>
              </a:ext>
            </a:extLst>
          </p:cNvPr>
          <p:cNvSpPr>
            <a:spLocks noGrp="1"/>
          </p:cNvSpPr>
          <p:nvPr>
            <p:ph type="ctrTitle"/>
          </p:nvPr>
        </p:nvSpPr>
        <p:spPr>
          <a:xfrm>
            <a:off x="1524000" y="1122363"/>
            <a:ext cx="9144000" cy="2387600"/>
          </a:xfrm>
        </p:spPr>
        <p:txBody>
          <a:bodyPr anchor="b"/>
          <a:lstStyle>
            <a:lvl1pPr algn="ctr">
              <a:defRPr sz="6000"/>
            </a:lvl1pPr>
          </a:lstStyle>
          <a:p>
            <a:r>
              <a:rPr lang="hu-HU"/>
              <a:t>Mintacím szerkesztése</a:t>
            </a:r>
          </a:p>
        </p:txBody>
      </p:sp>
      <p:sp>
        <p:nvSpPr>
          <p:cNvPr id="3" name="Alcím 2">
            <a:extLst>
              <a:ext uri="{FF2B5EF4-FFF2-40B4-BE49-F238E27FC236}">
                <a16:creationId xmlns:a16="http://schemas.microsoft.com/office/drawing/2014/main" id="{AED3F8A8-E88B-DAF7-D841-493D5D57E25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hu-HU"/>
              <a:t>Kattintson ide az alcím mintájának szerkesztéséhez</a:t>
            </a:r>
          </a:p>
        </p:txBody>
      </p:sp>
      <p:sp>
        <p:nvSpPr>
          <p:cNvPr id="4" name="Dátum helye 3">
            <a:extLst>
              <a:ext uri="{FF2B5EF4-FFF2-40B4-BE49-F238E27FC236}">
                <a16:creationId xmlns:a16="http://schemas.microsoft.com/office/drawing/2014/main" id="{B8EEC2EF-78F9-7B27-BF8B-952FD857E009}"/>
              </a:ext>
            </a:extLst>
          </p:cNvPr>
          <p:cNvSpPr>
            <a:spLocks noGrp="1"/>
          </p:cNvSpPr>
          <p:nvPr>
            <p:ph type="dt" sz="half" idx="10"/>
          </p:nvPr>
        </p:nvSpPr>
        <p:spPr/>
        <p:txBody>
          <a:bodyPr/>
          <a:lstStyle/>
          <a:p>
            <a:fld id="{274D99E6-559B-4424-821D-44BF482F5060}" type="datetimeFigureOut">
              <a:rPr lang="hu-HU" smtClean="0"/>
              <a:t>2026. 05. 26.</a:t>
            </a:fld>
            <a:endParaRPr lang="hu-HU"/>
          </a:p>
        </p:txBody>
      </p:sp>
      <p:sp>
        <p:nvSpPr>
          <p:cNvPr id="5" name="Élőláb helye 4">
            <a:extLst>
              <a:ext uri="{FF2B5EF4-FFF2-40B4-BE49-F238E27FC236}">
                <a16:creationId xmlns:a16="http://schemas.microsoft.com/office/drawing/2014/main" id="{1CB81949-2137-E68B-DB08-A8BCD6A579A0}"/>
              </a:ext>
            </a:extLst>
          </p:cNvPr>
          <p:cNvSpPr>
            <a:spLocks noGrp="1"/>
          </p:cNvSpPr>
          <p:nvPr>
            <p:ph type="ftr" sz="quarter" idx="11"/>
          </p:nvPr>
        </p:nvSpPr>
        <p:spPr/>
        <p:txBody>
          <a:bodyPr/>
          <a:lstStyle/>
          <a:p>
            <a:endParaRPr lang="hu-HU"/>
          </a:p>
        </p:txBody>
      </p:sp>
      <p:sp>
        <p:nvSpPr>
          <p:cNvPr id="6" name="Dia számának helye 5">
            <a:extLst>
              <a:ext uri="{FF2B5EF4-FFF2-40B4-BE49-F238E27FC236}">
                <a16:creationId xmlns:a16="http://schemas.microsoft.com/office/drawing/2014/main" id="{4B4B7D41-ACBB-0D15-36C2-D3A6A1DAA1C2}"/>
              </a:ext>
            </a:extLst>
          </p:cNvPr>
          <p:cNvSpPr>
            <a:spLocks noGrp="1"/>
          </p:cNvSpPr>
          <p:nvPr>
            <p:ph type="sldNum" sz="quarter" idx="12"/>
          </p:nvPr>
        </p:nvSpPr>
        <p:spPr/>
        <p:txBody>
          <a:bodyPr/>
          <a:lstStyle/>
          <a:p>
            <a:fld id="{5E91D3DE-6CAE-49D9-8E7D-AE364AF008FC}" type="slidenum">
              <a:rPr lang="hu-HU" smtClean="0"/>
              <a:t>‹#›</a:t>
            </a:fld>
            <a:endParaRPr lang="hu-HU"/>
          </a:p>
        </p:txBody>
      </p:sp>
    </p:spTree>
    <p:extLst>
      <p:ext uri="{BB962C8B-B14F-4D97-AF65-F5344CB8AC3E}">
        <p14:creationId xmlns:p14="http://schemas.microsoft.com/office/powerpoint/2010/main" val="28622313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ím és tartalom">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1E94C500-AE06-1DF4-E563-2139D6B33F30}"/>
              </a:ext>
            </a:extLst>
          </p:cNvPr>
          <p:cNvSpPr>
            <a:spLocks noGrp="1"/>
          </p:cNvSpPr>
          <p:nvPr>
            <p:ph type="title"/>
          </p:nvPr>
        </p:nvSpPr>
        <p:spPr/>
        <p:txBody>
          <a:bodyPr/>
          <a:lstStyle/>
          <a:p>
            <a:r>
              <a:rPr lang="hu-HU"/>
              <a:t>Mintacím szerkesztése</a:t>
            </a:r>
          </a:p>
        </p:txBody>
      </p:sp>
      <p:sp>
        <p:nvSpPr>
          <p:cNvPr id="3" name="Tartalom helye 2">
            <a:extLst>
              <a:ext uri="{FF2B5EF4-FFF2-40B4-BE49-F238E27FC236}">
                <a16:creationId xmlns:a16="http://schemas.microsoft.com/office/drawing/2014/main" id="{D05B3A07-2894-2AAD-6B77-8EABE325FBF2}"/>
              </a:ext>
            </a:extLst>
          </p:cNvPr>
          <p:cNvSpPr>
            <a:spLocks noGrp="1"/>
          </p:cNvSpPr>
          <p:nvPr>
            <p:ph idx="1"/>
          </p:nvPr>
        </p:nvSpPr>
        <p:spPr/>
        <p:txBody>
          <a:bodyPr/>
          <a:lstStyle/>
          <a:p>
            <a:pPr lvl="0"/>
            <a:r>
              <a:rPr lang="hu-HU"/>
              <a:t>Mintaszöveg szerkesztése</a:t>
            </a:r>
          </a:p>
          <a:p>
            <a:pPr lvl="1"/>
            <a:r>
              <a:rPr lang="hu-HU"/>
              <a:t>Második szint</a:t>
            </a:r>
          </a:p>
          <a:p>
            <a:pPr lvl="2"/>
            <a:r>
              <a:rPr lang="hu-HU"/>
              <a:t>Harmadik szint</a:t>
            </a:r>
          </a:p>
          <a:p>
            <a:pPr lvl="3"/>
            <a:r>
              <a:rPr lang="hu-HU"/>
              <a:t>Negyedik szint</a:t>
            </a:r>
          </a:p>
          <a:p>
            <a:pPr lvl="4"/>
            <a:r>
              <a:rPr lang="hu-HU"/>
              <a:t>Ötödik szint</a:t>
            </a:r>
          </a:p>
        </p:txBody>
      </p:sp>
      <p:sp>
        <p:nvSpPr>
          <p:cNvPr id="4" name="Dátum helye 3">
            <a:extLst>
              <a:ext uri="{FF2B5EF4-FFF2-40B4-BE49-F238E27FC236}">
                <a16:creationId xmlns:a16="http://schemas.microsoft.com/office/drawing/2014/main" id="{FF69DCC6-8B47-9366-C6FC-C18B80892179}"/>
              </a:ext>
            </a:extLst>
          </p:cNvPr>
          <p:cNvSpPr>
            <a:spLocks noGrp="1"/>
          </p:cNvSpPr>
          <p:nvPr>
            <p:ph type="dt" sz="half" idx="10"/>
          </p:nvPr>
        </p:nvSpPr>
        <p:spPr/>
        <p:txBody>
          <a:bodyPr/>
          <a:lstStyle/>
          <a:p>
            <a:fld id="{274D99E6-559B-4424-821D-44BF482F5060}" type="datetimeFigureOut">
              <a:rPr lang="hu-HU" smtClean="0"/>
              <a:t>2026. 05. 26.</a:t>
            </a:fld>
            <a:endParaRPr lang="hu-HU"/>
          </a:p>
        </p:txBody>
      </p:sp>
      <p:sp>
        <p:nvSpPr>
          <p:cNvPr id="5" name="Élőláb helye 4">
            <a:extLst>
              <a:ext uri="{FF2B5EF4-FFF2-40B4-BE49-F238E27FC236}">
                <a16:creationId xmlns:a16="http://schemas.microsoft.com/office/drawing/2014/main" id="{E004229E-3C2A-FA67-FAD7-5FA52AA313EE}"/>
              </a:ext>
            </a:extLst>
          </p:cNvPr>
          <p:cNvSpPr>
            <a:spLocks noGrp="1"/>
          </p:cNvSpPr>
          <p:nvPr>
            <p:ph type="ftr" sz="quarter" idx="11"/>
          </p:nvPr>
        </p:nvSpPr>
        <p:spPr/>
        <p:txBody>
          <a:bodyPr/>
          <a:lstStyle/>
          <a:p>
            <a:endParaRPr lang="hu-HU"/>
          </a:p>
        </p:txBody>
      </p:sp>
      <p:sp>
        <p:nvSpPr>
          <p:cNvPr id="6" name="Dia számának helye 5">
            <a:extLst>
              <a:ext uri="{FF2B5EF4-FFF2-40B4-BE49-F238E27FC236}">
                <a16:creationId xmlns:a16="http://schemas.microsoft.com/office/drawing/2014/main" id="{640C1C4C-4D3D-620F-96ED-F6E8A729C98C}"/>
              </a:ext>
            </a:extLst>
          </p:cNvPr>
          <p:cNvSpPr>
            <a:spLocks noGrp="1"/>
          </p:cNvSpPr>
          <p:nvPr>
            <p:ph type="sldNum" sz="quarter" idx="12"/>
          </p:nvPr>
        </p:nvSpPr>
        <p:spPr/>
        <p:txBody>
          <a:bodyPr/>
          <a:lstStyle/>
          <a:p>
            <a:fld id="{5E91D3DE-6CAE-49D9-8E7D-AE364AF008FC}" type="slidenum">
              <a:rPr lang="hu-HU" smtClean="0"/>
              <a:t>‹#›</a:t>
            </a:fld>
            <a:endParaRPr lang="hu-HU"/>
          </a:p>
        </p:txBody>
      </p:sp>
    </p:spTree>
    <p:extLst>
      <p:ext uri="{BB962C8B-B14F-4D97-AF65-F5344CB8AC3E}">
        <p14:creationId xmlns:p14="http://schemas.microsoft.com/office/powerpoint/2010/main" val="16563598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zakaszfejléc">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8C2CFF53-B860-81DE-3A3D-1595A678B5FF}"/>
              </a:ext>
            </a:extLst>
          </p:cNvPr>
          <p:cNvSpPr>
            <a:spLocks noGrp="1"/>
          </p:cNvSpPr>
          <p:nvPr>
            <p:ph type="title"/>
          </p:nvPr>
        </p:nvSpPr>
        <p:spPr>
          <a:xfrm>
            <a:off x="831850" y="1709738"/>
            <a:ext cx="10515600" cy="2852737"/>
          </a:xfrm>
        </p:spPr>
        <p:txBody>
          <a:bodyPr anchor="b"/>
          <a:lstStyle>
            <a:lvl1pPr>
              <a:defRPr sz="6000"/>
            </a:lvl1pPr>
          </a:lstStyle>
          <a:p>
            <a:r>
              <a:rPr lang="hu-HU"/>
              <a:t>Mintacím szerkesztése</a:t>
            </a:r>
          </a:p>
        </p:txBody>
      </p:sp>
      <p:sp>
        <p:nvSpPr>
          <p:cNvPr id="3" name="Szöveg helye 2">
            <a:extLst>
              <a:ext uri="{FF2B5EF4-FFF2-40B4-BE49-F238E27FC236}">
                <a16:creationId xmlns:a16="http://schemas.microsoft.com/office/drawing/2014/main" id="{23C04196-70D4-43A3-286F-4D974A7818F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hu-HU"/>
              <a:t>Mintaszöveg szerkesztése</a:t>
            </a:r>
          </a:p>
        </p:txBody>
      </p:sp>
      <p:sp>
        <p:nvSpPr>
          <p:cNvPr id="4" name="Dátum helye 3">
            <a:extLst>
              <a:ext uri="{FF2B5EF4-FFF2-40B4-BE49-F238E27FC236}">
                <a16:creationId xmlns:a16="http://schemas.microsoft.com/office/drawing/2014/main" id="{A8E18EBA-87D4-72B3-0ACF-5DCCE3C03B61}"/>
              </a:ext>
            </a:extLst>
          </p:cNvPr>
          <p:cNvSpPr>
            <a:spLocks noGrp="1"/>
          </p:cNvSpPr>
          <p:nvPr>
            <p:ph type="dt" sz="half" idx="10"/>
          </p:nvPr>
        </p:nvSpPr>
        <p:spPr/>
        <p:txBody>
          <a:bodyPr/>
          <a:lstStyle/>
          <a:p>
            <a:fld id="{274D99E6-559B-4424-821D-44BF482F5060}" type="datetimeFigureOut">
              <a:rPr lang="hu-HU" smtClean="0"/>
              <a:t>2026. 05. 26.</a:t>
            </a:fld>
            <a:endParaRPr lang="hu-HU"/>
          </a:p>
        </p:txBody>
      </p:sp>
      <p:sp>
        <p:nvSpPr>
          <p:cNvPr id="5" name="Élőláb helye 4">
            <a:extLst>
              <a:ext uri="{FF2B5EF4-FFF2-40B4-BE49-F238E27FC236}">
                <a16:creationId xmlns:a16="http://schemas.microsoft.com/office/drawing/2014/main" id="{8DFF81BF-CA6D-291D-328D-0770E4ACD7BF}"/>
              </a:ext>
            </a:extLst>
          </p:cNvPr>
          <p:cNvSpPr>
            <a:spLocks noGrp="1"/>
          </p:cNvSpPr>
          <p:nvPr>
            <p:ph type="ftr" sz="quarter" idx="11"/>
          </p:nvPr>
        </p:nvSpPr>
        <p:spPr/>
        <p:txBody>
          <a:bodyPr/>
          <a:lstStyle/>
          <a:p>
            <a:endParaRPr lang="hu-HU"/>
          </a:p>
        </p:txBody>
      </p:sp>
      <p:sp>
        <p:nvSpPr>
          <p:cNvPr id="6" name="Dia számának helye 5">
            <a:extLst>
              <a:ext uri="{FF2B5EF4-FFF2-40B4-BE49-F238E27FC236}">
                <a16:creationId xmlns:a16="http://schemas.microsoft.com/office/drawing/2014/main" id="{2B139E50-2133-A0FD-7C68-910EB4A2CE3D}"/>
              </a:ext>
            </a:extLst>
          </p:cNvPr>
          <p:cNvSpPr>
            <a:spLocks noGrp="1"/>
          </p:cNvSpPr>
          <p:nvPr>
            <p:ph type="sldNum" sz="quarter" idx="12"/>
          </p:nvPr>
        </p:nvSpPr>
        <p:spPr/>
        <p:txBody>
          <a:bodyPr/>
          <a:lstStyle/>
          <a:p>
            <a:fld id="{5E91D3DE-6CAE-49D9-8E7D-AE364AF008FC}" type="slidenum">
              <a:rPr lang="hu-HU" smtClean="0"/>
              <a:t>‹#›</a:t>
            </a:fld>
            <a:endParaRPr lang="hu-HU"/>
          </a:p>
        </p:txBody>
      </p:sp>
    </p:spTree>
    <p:extLst>
      <p:ext uri="{BB962C8B-B14F-4D97-AF65-F5344CB8AC3E}">
        <p14:creationId xmlns:p14="http://schemas.microsoft.com/office/powerpoint/2010/main" val="30732263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tartalomrész">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FA757003-A21C-D3A0-F6D7-B7BED6E81EC5}"/>
              </a:ext>
            </a:extLst>
          </p:cNvPr>
          <p:cNvSpPr>
            <a:spLocks noGrp="1"/>
          </p:cNvSpPr>
          <p:nvPr>
            <p:ph type="title"/>
          </p:nvPr>
        </p:nvSpPr>
        <p:spPr/>
        <p:txBody>
          <a:bodyPr/>
          <a:lstStyle/>
          <a:p>
            <a:r>
              <a:rPr lang="hu-HU"/>
              <a:t>Mintacím szerkesztése</a:t>
            </a:r>
          </a:p>
        </p:txBody>
      </p:sp>
      <p:sp>
        <p:nvSpPr>
          <p:cNvPr id="3" name="Tartalom helye 2">
            <a:extLst>
              <a:ext uri="{FF2B5EF4-FFF2-40B4-BE49-F238E27FC236}">
                <a16:creationId xmlns:a16="http://schemas.microsoft.com/office/drawing/2014/main" id="{A2D188E3-A8A0-4F74-78AE-FFAF0E0CCAE6}"/>
              </a:ext>
            </a:extLst>
          </p:cNvPr>
          <p:cNvSpPr>
            <a:spLocks noGrp="1"/>
          </p:cNvSpPr>
          <p:nvPr>
            <p:ph sz="half" idx="1"/>
          </p:nvPr>
        </p:nvSpPr>
        <p:spPr>
          <a:xfrm>
            <a:off x="838200" y="1825625"/>
            <a:ext cx="5181600" cy="4351338"/>
          </a:xfrm>
        </p:spPr>
        <p:txBody>
          <a:bodyPr/>
          <a:lstStyle/>
          <a:p>
            <a:pPr lvl="0"/>
            <a:r>
              <a:rPr lang="hu-HU"/>
              <a:t>Mintaszöveg szerkesztése</a:t>
            </a:r>
          </a:p>
          <a:p>
            <a:pPr lvl="1"/>
            <a:r>
              <a:rPr lang="hu-HU"/>
              <a:t>Második szint</a:t>
            </a:r>
          </a:p>
          <a:p>
            <a:pPr lvl="2"/>
            <a:r>
              <a:rPr lang="hu-HU"/>
              <a:t>Harmadik szint</a:t>
            </a:r>
          </a:p>
          <a:p>
            <a:pPr lvl="3"/>
            <a:r>
              <a:rPr lang="hu-HU"/>
              <a:t>Negyedik szint</a:t>
            </a:r>
          </a:p>
          <a:p>
            <a:pPr lvl="4"/>
            <a:r>
              <a:rPr lang="hu-HU"/>
              <a:t>Ötödik szint</a:t>
            </a:r>
          </a:p>
        </p:txBody>
      </p:sp>
      <p:sp>
        <p:nvSpPr>
          <p:cNvPr id="4" name="Tartalom helye 3">
            <a:extLst>
              <a:ext uri="{FF2B5EF4-FFF2-40B4-BE49-F238E27FC236}">
                <a16:creationId xmlns:a16="http://schemas.microsoft.com/office/drawing/2014/main" id="{788BCC67-DDA8-C2FD-517C-CC9C90C4871A}"/>
              </a:ext>
            </a:extLst>
          </p:cNvPr>
          <p:cNvSpPr>
            <a:spLocks noGrp="1"/>
          </p:cNvSpPr>
          <p:nvPr>
            <p:ph sz="half" idx="2"/>
          </p:nvPr>
        </p:nvSpPr>
        <p:spPr>
          <a:xfrm>
            <a:off x="6172200" y="1825625"/>
            <a:ext cx="5181600" cy="4351338"/>
          </a:xfrm>
        </p:spPr>
        <p:txBody>
          <a:bodyPr/>
          <a:lstStyle/>
          <a:p>
            <a:pPr lvl="0"/>
            <a:r>
              <a:rPr lang="hu-HU"/>
              <a:t>Mintaszöveg szerkesztése</a:t>
            </a:r>
          </a:p>
          <a:p>
            <a:pPr lvl="1"/>
            <a:r>
              <a:rPr lang="hu-HU"/>
              <a:t>Második szint</a:t>
            </a:r>
          </a:p>
          <a:p>
            <a:pPr lvl="2"/>
            <a:r>
              <a:rPr lang="hu-HU"/>
              <a:t>Harmadik szint</a:t>
            </a:r>
          </a:p>
          <a:p>
            <a:pPr lvl="3"/>
            <a:r>
              <a:rPr lang="hu-HU"/>
              <a:t>Negyedik szint</a:t>
            </a:r>
          </a:p>
          <a:p>
            <a:pPr lvl="4"/>
            <a:r>
              <a:rPr lang="hu-HU"/>
              <a:t>Ötödik szint</a:t>
            </a:r>
          </a:p>
        </p:txBody>
      </p:sp>
      <p:sp>
        <p:nvSpPr>
          <p:cNvPr id="5" name="Dátum helye 4">
            <a:extLst>
              <a:ext uri="{FF2B5EF4-FFF2-40B4-BE49-F238E27FC236}">
                <a16:creationId xmlns:a16="http://schemas.microsoft.com/office/drawing/2014/main" id="{753F743B-1A5B-F1B0-051C-4A3E26F08089}"/>
              </a:ext>
            </a:extLst>
          </p:cNvPr>
          <p:cNvSpPr>
            <a:spLocks noGrp="1"/>
          </p:cNvSpPr>
          <p:nvPr>
            <p:ph type="dt" sz="half" idx="10"/>
          </p:nvPr>
        </p:nvSpPr>
        <p:spPr/>
        <p:txBody>
          <a:bodyPr/>
          <a:lstStyle/>
          <a:p>
            <a:fld id="{274D99E6-559B-4424-821D-44BF482F5060}" type="datetimeFigureOut">
              <a:rPr lang="hu-HU" smtClean="0"/>
              <a:t>2026. 05. 26.</a:t>
            </a:fld>
            <a:endParaRPr lang="hu-HU"/>
          </a:p>
        </p:txBody>
      </p:sp>
      <p:sp>
        <p:nvSpPr>
          <p:cNvPr id="6" name="Élőláb helye 5">
            <a:extLst>
              <a:ext uri="{FF2B5EF4-FFF2-40B4-BE49-F238E27FC236}">
                <a16:creationId xmlns:a16="http://schemas.microsoft.com/office/drawing/2014/main" id="{06B65EB8-D29F-836E-81D9-71EABE0FD3D9}"/>
              </a:ext>
            </a:extLst>
          </p:cNvPr>
          <p:cNvSpPr>
            <a:spLocks noGrp="1"/>
          </p:cNvSpPr>
          <p:nvPr>
            <p:ph type="ftr" sz="quarter" idx="11"/>
          </p:nvPr>
        </p:nvSpPr>
        <p:spPr/>
        <p:txBody>
          <a:bodyPr/>
          <a:lstStyle/>
          <a:p>
            <a:endParaRPr lang="hu-HU"/>
          </a:p>
        </p:txBody>
      </p:sp>
      <p:sp>
        <p:nvSpPr>
          <p:cNvPr id="7" name="Dia számának helye 6">
            <a:extLst>
              <a:ext uri="{FF2B5EF4-FFF2-40B4-BE49-F238E27FC236}">
                <a16:creationId xmlns:a16="http://schemas.microsoft.com/office/drawing/2014/main" id="{9429D25B-E2D8-F7D9-67F1-53C2F0AA8A36}"/>
              </a:ext>
            </a:extLst>
          </p:cNvPr>
          <p:cNvSpPr>
            <a:spLocks noGrp="1"/>
          </p:cNvSpPr>
          <p:nvPr>
            <p:ph type="sldNum" sz="quarter" idx="12"/>
          </p:nvPr>
        </p:nvSpPr>
        <p:spPr/>
        <p:txBody>
          <a:bodyPr/>
          <a:lstStyle/>
          <a:p>
            <a:fld id="{5E91D3DE-6CAE-49D9-8E7D-AE364AF008FC}" type="slidenum">
              <a:rPr lang="hu-HU" smtClean="0"/>
              <a:t>‹#›</a:t>
            </a:fld>
            <a:endParaRPr lang="hu-HU"/>
          </a:p>
        </p:txBody>
      </p:sp>
    </p:spTree>
    <p:extLst>
      <p:ext uri="{BB962C8B-B14F-4D97-AF65-F5344CB8AC3E}">
        <p14:creationId xmlns:p14="http://schemas.microsoft.com/office/powerpoint/2010/main" val="22243094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Összehasonlítás">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B5BE5824-AF3E-D7AB-0F30-122FCEF436D6}"/>
              </a:ext>
            </a:extLst>
          </p:cNvPr>
          <p:cNvSpPr>
            <a:spLocks noGrp="1"/>
          </p:cNvSpPr>
          <p:nvPr>
            <p:ph type="title"/>
          </p:nvPr>
        </p:nvSpPr>
        <p:spPr>
          <a:xfrm>
            <a:off x="839788" y="365125"/>
            <a:ext cx="10515600" cy="1325563"/>
          </a:xfrm>
        </p:spPr>
        <p:txBody>
          <a:bodyPr/>
          <a:lstStyle/>
          <a:p>
            <a:r>
              <a:rPr lang="hu-HU"/>
              <a:t>Mintacím szerkesztése</a:t>
            </a:r>
          </a:p>
        </p:txBody>
      </p:sp>
      <p:sp>
        <p:nvSpPr>
          <p:cNvPr id="3" name="Szöveg helye 2">
            <a:extLst>
              <a:ext uri="{FF2B5EF4-FFF2-40B4-BE49-F238E27FC236}">
                <a16:creationId xmlns:a16="http://schemas.microsoft.com/office/drawing/2014/main" id="{B935E5B7-0003-67C5-A04C-3E204CCBB81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u-HU"/>
              <a:t>Mintaszöveg szerkesztése</a:t>
            </a:r>
          </a:p>
        </p:txBody>
      </p:sp>
      <p:sp>
        <p:nvSpPr>
          <p:cNvPr id="4" name="Tartalom helye 3">
            <a:extLst>
              <a:ext uri="{FF2B5EF4-FFF2-40B4-BE49-F238E27FC236}">
                <a16:creationId xmlns:a16="http://schemas.microsoft.com/office/drawing/2014/main" id="{E7378E84-BBDA-BF93-724E-F07661E3211C}"/>
              </a:ext>
            </a:extLst>
          </p:cNvPr>
          <p:cNvSpPr>
            <a:spLocks noGrp="1"/>
          </p:cNvSpPr>
          <p:nvPr>
            <p:ph sz="half" idx="2"/>
          </p:nvPr>
        </p:nvSpPr>
        <p:spPr>
          <a:xfrm>
            <a:off x="839788" y="2505075"/>
            <a:ext cx="5157787" cy="3684588"/>
          </a:xfrm>
        </p:spPr>
        <p:txBody>
          <a:bodyPr/>
          <a:lstStyle/>
          <a:p>
            <a:pPr lvl="0"/>
            <a:r>
              <a:rPr lang="hu-HU"/>
              <a:t>Mintaszöveg szerkesztése</a:t>
            </a:r>
          </a:p>
          <a:p>
            <a:pPr lvl="1"/>
            <a:r>
              <a:rPr lang="hu-HU"/>
              <a:t>Második szint</a:t>
            </a:r>
          </a:p>
          <a:p>
            <a:pPr lvl="2"/>
            <a:r>
              <a:rPr lang="hu-HU"/>
              <a:t>Harmadik szint</a:t>
            </a:r>
          </a:p>
          <a:p>
            <a:pPr lvl="3"/>
            <a:r>
              <a:rPr lang="hu-HU"/>
              <a:t>Negyedik szint</a:t>
            </a:r>
          </a:p>
          <a:p>
            <a:pPr lvl="4"/>
            <a:r>
              <a:rPr lang="hu-HU"/>
              <a:t>Ötödik szint</a:t>
            </a:r>
          </a:p>
        </p:txBody>
      </p:sp>
      <p:sp>
        <p:nvSpPr>
          <p:cNvPr id="5" name="Szöveg helye 4">
            <a:extLst>
              <a:ext uri="{FF2B5EF4-FFF2-40B4-BE49-F238E27FC236}">
                <a16:creationId xmlns:a16="http://schemas.microsoft.com/office/drawing/2014/main" id="{41A92132-3AA4-87F5-635A-4D022C7034D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u-HU"/>
              <a:t>Mintaszöveg szerkesztése</a:t>
            </a:r>
          </a:p>
        </p:txBody>
      </p:sp>
      <p:sp>
        <p:nvSpPr>
          <p:cNvPr id="6" name="Tartalom helye 5">
            <a:extLst>
              <a:ext uri="{FF2B5EF4-FFF2-40B4-BE49-F238E27FC236}">
                <a16:creationId xmlns:a16="http://schemas.microsoft.com/office/drawing/2014/main" id="{2D66B890-93EA-7D0A-C311-822456936B65}"/>
              </a:ext>
            </a:extLst>
          </p:cNvPr>
          <p:cNvSpPr>
            <a:spLocks noGrp="1"/>
          </p:cNvSpPr>
          <p:nvPr>
            <p:ph sz="quarter" idx="4"/>
          </p:nvPr>
        </p:nvSpPr>
        <p:spPr>
          <a:xfrm>
            <a:off x="6172200" y="2505075"/>
            <a:ext cx="5183188" cy="3684588"/>
          </a:xfrm>
        </p:spPr>
        <p:txBody>
          <a:bodyPr/>
          <a:lstStyle/>
          <a:p>
            <a:pPr lvl="0"/>
            <a:r>
              <a:rPr lang="hu-HU"/>
              <a:t>Mintaszöveg szerkesztése</a:t>
            </a:r>
          </a:p>
          <a:p>
            <a:pPr lvl="1"/>
            <a:r>
              <a:rPr lang="hu-HU"/>
              <a:t>Második szint</a:t>
            </a:r>
          </a:p>
          <a:p>
            <a:pPr lvl="2"/>
            <a:r>
              <a:rPr lang="hu-HU"/>
              <a:t>Harmadik szint</a:t>
            </a:r>
          </a:p>
          <a:p>
            <a:pPr lvl="3"/>
            <a:r>
              <a:rPr lang="hu-HU"/>
              <a:t>Negyedik szint</a:t>
            </a:r>
          </a:p>
          <a:p>
            <a:pPr lvl="4"/>
            <a:r>
              <a:rPr lang="hu-HU"/>
              <a:t>Ötödik szint</a:t>
            </a:r>
          </a:p>
        </p:txBody>
      </p:sp>
      <p:sp>
        <p:nvSpPr>
          <p:cNvPr id="7" name="Dátum helye 6">
            <a:extLst>
              <a:ext uri="{FF2B5EF4-FFF2-40B4-BE49-F238E27FC236}">
                <a16:creationId xmlns:a16="http://schemas.microsoft.com/office/drawing/2014/main" id="{BA95FE10-8B1D-5279-DF84-B086D0FA2CCD}"/>
              </a:ext>
            </a:extLst>
          </p:cNvPr>
          <p:cNvSpPr>
            <a:spLocks noGrp="1"/>
          </p:cNvSpPr>
          <p:nvPr>
            <p:ph type="dt" sz="half" idx="10"/>
          </p:nvPr>
        </p:nvSpPr>
        <p:spPr/>
        <p:txBody>
          <a:bodyPr/>
          <a:lstStyle/>
          <a:p>
            <a:fld id="{274D99E6-559B-4424-821D-44BF482F5060}" type="datetimeFigureOut">
              <a:rPr lang="hu-HU" smtClean="0"/>
              <a:t>2026. 05. 26.</a:t>
            </a:fld>
            <a:endParaRPr lang="hu-HU"/>
          </a:p>
        </p:txBody>
      </p:sp>
      <p:sp>
        <p:nvSpPr>
          <p:cNvPr id="8" name="Élőláb helye 7">
            <a:extLst>
              <a:ext uri="{FF2B5EF4-FFF2-40B4-BE49-F238E27FC236}">
                <a16:creationId xmlns:a16="http://schemas.microsoft.com/office/drawing/2014/main" id="{CF7AAD45-3118-B42C-29D4-02100A3DE7D9}"/>
              </a:ext>
            </a:extLst>
          </p:cNvPr>
          <p:cNvSpPr>
            <a:spLocks noGrp="1"/>
          </p:cNvSpPr>
          <p:nvPr>
            <p:ph type="ftr" sz="quarter" idx="11"/>
          </p:nvPr>
        </p:nvSpPr>
        <p:spPr/>
        <p:txBody>
          <a:bodyPr/>
          <a:lstStyle/>
          <a:p>
            <a:endParaRPr lang="hu-HU"/>
          </a:p>
        </p:txBody>
      </p:sp>
      <p:sp>
        <p:nvSpPr>
          <p:cNvPr id="9" name="Dia számának helye 8">
            <a:extLst>
              <a:ext uri="{FF2B5EF4-FFF2-40B4-BE49-F238E27FC236}">
                <a16:creationId xmlns:a16="http://schemas.microsoft.com/office/drawing/2014/main" id="{11A377BD-7E2A-1AEB-4CEF-F1D801569B33}"/>
              </a:ext>
            </a:extLst>
          </p:cNvPr>
          <p:cNvSpPr>
            <a:spLocks noGrp="1"/>
          </p:cNvSpPr>
          <p:nvPr>
            <p:ph type="sldNum" sz="quarter" idx="12"/>
          </p:nvPr>
        </p:nvSpPr>
        <p:spPr/>
        <p:txBody>
          <a:bodyPr/>
          <a:lstStyle/>
          <a:p>
            <a:fld id="{5E91D3DE-6CAE-49D9-8E7D-AE364AF008FC}" type="slidenum">
              <a:rPr lang="hu-HU" smtClean="0"/>
              <a:t>‹#›</a:t>
            </a:fld>
            <a:endParaRPr lang="hu-HU"/>
          </a:p>
        </p:txBody>
      </p:sp>
    </p:spTree>
    <p:extLst>
      <p:ext uri="{BB962C8B-B14F-4D97-AF65-F5344CB8AC3E}">
        <p14:creationId xmlns:p14="http://schemas.microsoft.com/office/powerpoint/2010/main" val="20147978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Csak cím">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BD96F0C5-2B13-232B-B46D-059A5558F346}"/>
              </a:ext>
            </a:extLst>
          </p:cNvPr>
          <p:cNvSpPr>
            <a:spLocks noGrp="1"/>
          </p:cNvSpPr>
          <p:nvPr>
            <p:ph type="title"/>
          </p:nvPr>
        </p:nvSpPr>
        <p:spPr/>
        <p:txBody>
          <a:bodyPr/>
          <a:lstStyle/>
          <a:p>
            <a:r>
              <a:rPr lang="hu-HU"/>
              <a:t>Mintacím szerkesztése</a:t>
            </a:r>
          </a:p>
        </p:txBody>
      </p:sp>
      <p:sp>
        <p:nvSpPr>
          <p:cNvPr id="3" name="Dátum helye 2">
            <a:extLst>
              <a:ext uri="{FF2B5EF4-FFF2-40B4-BE49-F238E27FC236}">
                <a16:creationId xmlns:a16="http://schemas.microsoft.com/office/drawing/2014/main" id="{C30C14AF-82DC-F1B3-4E6A-375B8B3DC478}"/>
              </a:ext>
            </a:extLst>
          </p:cNvPr>
          <p:cNvSpPr>
            <a:spLocks noGrp="1"/>
          </p:cNvSpPr>
          <p:nvPr>
            <p:ph type="dt" sz="half" idx="10"/>
          </p:nvPr>
        </p:nvSpPr>
        <p:spPr/>
        <p:txBody>
          <a:bodyPr/>
          <a:lstStyle/>
          <a:p>
            <a:fld id="{274D99E6-559B-4424-821D-44BF482F5060}" type="datetimeFigureOut">
              <a:rPr lang="hu-HU" smtClean="0"/>
              <a:t>2026. 05. 26.</a:t>
            </a:fld>
            <a:endParaRPr lang="hu-HU"/>
          </a:p>
        </p:txBody>
      </p:sp>
      <p:sp>
        <p:nvSpPr>
          <p:cNvPr id="4" name="Élőláb helye 3">
            <a:extLst>
              <a:ext uri="{FF2B5EF4-FFF2-40B4-BE49-F238E27FC236}">
                <a16:creationId xmlns:a16="http://schemas.microsoft.com/office/drawing/2014/main" id="{1C3E43D5-098C-51FD-F2D9-8FA89C0828CD}"/>
              </a:ext>
            </a:extLst>
          </p:cNvPr>
          <p:cNvSpPr>
            <a:spLocks noGrp="1"/>
          </p:cNvSpPr>
          <p:nvPr>
            <p:ph type="ftr" sz="quarter" idx="11"/>
          </p:nvPr>
        </p:nvSpPr>
        <p:spPr/>
        <p:txBody>
          <a:bodyPr/>
          <a:lstStyle/>
          <a:p>
            <a:endParaRPr lang="hu-HU"/>
          </a:p>
        </p:txBody>
      </p:sp>
      <p:sp>
        <p:nvSpPr>
          <p:cNvPr id="5" name="Dia számának helye 4">
            <a:extLst>
              <a:ext uri="{FF2B5EF4-FFF2-40B4-BE49-F238E27FC236}">
                <a16:creationId xmlns:a16="http://schemas.microsoft.com/office/drawing/2014/main" id="{BBC3FC3A-43E1-8FEA-B7ED-C53F717D94C0}"/>
              </a:ext>
            </a:extLst>
          </p:cNvPr>
          <p:cNvSpPr>
            <a:spLocks noGrp="1"/>
          </p:cNvSpPr>
          <p:nvPr>
            <p:ph type="sldNum" sz="quarter" idx="12"/>
          </p:nvPr>
        </p:nvSpPr>
        <p:spPr/>
        <p:txBody>
          <a:bodyPr/>
          <a:lstStyle/>
          <a:p>
            <a:fld id="{5E91D3DE-6CAE-49D9-8E7D-AE364AF008FC}" type="slidenum">
              <a:rPr lang="hu-HU" smtClean="0"/>
              <a:t>‹#›</a:t>
            </a:fld>
            <a:endParaRPr lang="hu-HU"/>
          </a:p>
        </p:txBody>
      </p:sp>
    </p:spTree>
    <p:extLst>
      <p:ext uri="{BB962C8B-B14F-4D97-AF65-F5344CB8AC3E}">
        <p14:creationId xmlns:p14="http://schemas.microsoft.com/office/powerpoint/2010/main" val="33259367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Üres">
    <p:spTree>
      <p:nvGrpSpPr>
        <p:cNvPr id="1" name=""/>
        <p:cNvGrpSpPr/>
        <p:nvPr/>
      </p:nvGrpSpPr>
      <p:grpSpPr>
        <a:xfrm>
          <a:off x="0" y="0"/>
          <a:ext cx="0" cy="0"/>
          <a:chOff x="0" y="0"/>
          <a:chExt cx="0" cy="0"/>
        </a:xfrm>
      </p:grpSpPr>
      <p:sp>
        <p:nvSpPr>
          <p:cNvPr id="2" name="Dátum helye 1">
            <a:extLst>
              <a:ext uri="{FF2B5EF4-FFF2-40B4-BE49-F238E27FC236}">
                <a16:creationId xmlns:a16="http://schemas.microsoft.com/office/drawing/2014/main" id="{4DA0AF40-DEA9-4714-9FA8-F43557894D85}"/>
              </a:ext>
            </a:extLst>
          </p:cNvPr>
          <p:cNvSpPr>
            <a:spLocks noGrp="1"/>
          </p:cNvSpPr>
          <p:nvPr>
            <p:ph type="dt" sz="half" idx="10"/>
          </p:nvPr>
        </p:nvSpPr>
        <p:spPr/>
        <p:txBody>
          <a:bodyPr/>
          <a:lstStyle/>
          <a:p>
            <a:fld id="{274D99E6-559B-4424-821D-44BF482F5060}" type="datetimeFigureOut">
              <a:rPr lang="hu-HU" smtClean="0"/>
              <a:t>2026. 05. 26.</a:t>
            </a:fld>
            <a:endParaRPr lang="hu-HU"/>
          </a:p>
        </p:txBody>
      </p:sp>
      <p:sp>
        <p:nvSpPr>
          <p:cNvPr id="3" name="Élőláb helye 2">
            <a:extLst>
              <a:ext uri="{FF2B5EF4-FFF2-40B4-BE49-F238E27FC236}">
                <a16:creationId xmlns:a16="http://schemas.microsoft.com/office/drawing/2014/main" id="{1F737660-3DB8-FF58-BD96-19C4E92C8A5E}"/>
              </a:ext>
            </a:extLst>
          </p:cNvPr>
          <p:cNvSpPr>
            <a:spLocks noGrp="1"/>
          </p:cNvSpPr>
          <p:nvPr>
            <p:ph type="ftr" sz="quarter" idx="11"/>
          </p:nvPr>
        </p:nvSpPr>
        <p:spPr/>
        <p:txBody>
          <a:bodyPr/>
          <a:lstStyle/>
          <a:p>
            <a:endParaRPr lang="hu-HU"/>
          </a:p>
        </p:txBody>
      </p:sp>
      <p:sp>
        <p:nvSpPr>
          <p:cNvPr id="4" name="Dia számának helye 3">
            <a:extLst>
              <a:ext uri="{FF2B5EF4-FFF2-40B4-BE49-F238E27FC236}">
                <a16:creationId xmlns:a16="http://schemas.microsoft.com/office/drawing/2014/main" id="{CAA0DD0E-3AA7-5A7A-B663-A2CEC91E0CF8}"/>
              </a:ext>
            </a:extLst>
          </p:cNvPr>
          <p:cNvSpPr>
            <a:spLocks noGrp="1"/>
          </p:cNvSpPr>
          <p:nvPr>
            <p:ph type="sldNum" sz="quarter" idx="12"/>
          </p:nvPr>
        </p:nvSpPr>
        <p:spPr/>
        <p:txBody>
          <a:bodyPr/>
          <a:lstStyle/>
          <a:p>
            <a:fld id="{5E91D3DE-6CAE-49D9-8E7D-AE364AF008FC}" type="slidenum">
              <a:rPr lang="hu-HU" smtClean="0"/>
              <a:t>‹#›</a:t>
            </a:fld>
            <a:endParaRPr lang="hu-HU"/>
          </a:p>
        </p:txBody>
      </p:sp>
    </p:spTree>
    <p:extLst>
      <p:ext uri="{BB962C8B-B14F-4D97-AF65-F5344CB8AC3E}">
        <p14:creationId xmlns:p14="http://schemas.microsoft.com/office/powerpoint/2010/main" val="12606337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Tartalomrész képaláírással">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3D506069-864D-73A9-32B0-4D3ED6805E60}"/>
              </a:ext>
            </a:extLst>
          </p:cNvPr>
          <p:cNvSpPr>
            <a:spLocks noGrp="1"/>
          </p:cNvSpPr>
          <p:nvPr>
            <p:ph type="title"/>
          </p:nvPr>
        </p:nvSpPr>
        <p:spPr>
          <a:xfrm>
            <a:off x="839788" y="457200"/>
            <a:ext cx="3932237" cy="1600200"/>
          </a:xfrm>
        </p:spPr>
        <p:txBody>
          <a:bodyPr anchor="b"/>
          <a:lstStyle>
            <a:lvl1pPr>
              <a:defRPr sz="3200"/>
            </a:lvl1pPr>
          </a:lstStyle>
          <a:p>
            <a:r>
              <a:rPr lang="hu-HU"/>
              <a:t>Mintacím szerkesztése</a:t>
            </a:r>
          </a:p>
        </p:txBody>
      </p:sp>
      <p:sp>
        <p:nvSpPr>
          <p:cNvPr id="3" name="Tartalom helye 2">
            <a:extLst>
              <a:ext uri="{FF2B5EF4-FFF2-40B4-BE49-F238E27FC236}">
                <a16:creationId xmlns:a16="http://schemas.microsoft.com/office/drawing/2014/main" id="{9BE583EF-8F8E-F45C-FB8E-5F749871E2E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hu-HU"/>
              <a:t>Mintaszöveg szerkesztése</a:t>
            </a:r>
          </a:p>
          <a:p>
            <a:pPr lvl="1"/>
            <a:r>
              <a:rPr lang="hu-HU"/>
              <a:t>Második szint</a:t>
            </a:r>
          </a:p>
          <a:p>
            <a:pPr lvl="2"/>
            <a:r>
              <a:rPr lang="hu-HU"/>
              <a:t>Harmadik szint</a:t>
            </a:r>
          </a:p>
          <a:p>
            <a:pPr lvl="3"/>
            <a:r>
              <a:rPr lang="hu-HU"/>
              <a:t>Negyedik szint</a:t>
            </a:r>
          </a:p>
          <a:p>
            <a:pPr lvl="4"/>
            <a:r>
              <a:rPr lang="hu-HU"/>
              <a:t>Ötödik szint</a:t>
            </a:r>
          </a:p>
        </p:txBody>
      </p:sp>
      <p:sp>
        <p:nvSpPr>
          <p:cNvPr id="4" name="Szöveg helye 3">
            <a:extLst>
              <a:ext uri="{FF2B5EF4-FFF2-40B4-BE49-F238E27FC236}">
                <a16:creationId xmlns:a16="http://schemas.microsoft.com/office/drawing/2014/main" id="{96C071A3-8351-6FB2-62B0-64DD386B5AF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u-HU"/>
              <a:t>Mintaszöveg szerkesztése</a:t>
            </a:r>
          </a:p>
        </p:txBody>
      </p:sp>
      <p:sp>
        <p:nvSpPr>
          <p:cNvPr id="5" name="Dátum helye 4">
            <a:extLst>
              <a:ext uri="{FF2B5EF4-FFF2-40B4-BE49-F238E27FC236}">
                <a16:creationId xmlns:a16="http://schemas.microsoft.com/office/drawing/2014/main" id="{0FDA3A99-8E28-23BC-2076-C00344F7FA8C}"/>
              </a:ext>
            </a:extLst>
          </p:cNvPr>
          <p:cNvSpPr>
            <a:spLocks noGrp="1"/>
          </p:cNvSpPr>
          <p:nvPr>
            <p:ph type="dt" sz="half" idx="10"/>
          </p:nvPr>
        </p:nvSpPr>
        <p:spPr/>
        <p:txBody>
          <a:bodyPr/>
          <a:lstStyle/>
          <a:p>
            <a:fld id="{274D99E6-559B-4424-821D-44BF482F5060}" type="datetimeFigureOut">
              <a:rPr lang="hu-HU" smtClean="0"/>
              <a:t>2026. 05. 26.</a:t>
            </a:fld>
            <a:endParaRPr lang="hu-HU"/>
          </a:p>
        </p:txBody>
      </p:sp>
      <p:sp>
        <p:nvSpPr>
          <p:cNvPr id="6" name="Élőláb helye 5">
            <a:extLst>
              <a:ext uri="{FF2B5EF4-FFF2-40B4-BE49-F238E27FC236}">
                <a16:creationId xmlns:a16="http://schemas.microsoft.com/office/drawing/2014/main" id="{355E90E9-68EF-1DBB-1419-EFFCDA6D6344}"/>
              </a:ext>
            </a:extLst>
          </p:cNvPr>
          <p:cNvSpPr>
            <a:spLocks noGrp="1"/>
          </p:cNvSpPr>
          <p:nvPr>
            <p:ph type="ftr" sz="quarter" idx="11"/>
          </p:nvPr>
        </p:nvSpPr>
        <p:spPr/>
        <p:txBody>
          <a:bodyPr/>
          <a:lstStyle/>
          <a:p>
            <a:endParaRPr lang="hu-HU"/>
          </a:p>
        </p:txBody>
      </p:sp>
      <p:sp>
        <p:nvSpPr>
          <p:cNvPr id="7" name="Dia számának helye 6">
            <a:extLst>
              <a:ext uri="{FF2B5EF4-FFF2-40B4-BE49-F238E27FC236}">
                <a16:creationId xmlns:a16="http://schemas.microsoft.com/office/drawing/2014/main" id="{A555BF68-402D-4545-3758-282103697489}"/>
              </a:ext>
            </a:extLst>
          </p:cNvPr>
          <p:cNvSpPr>
            <a:spLocks noGrp="1"/>
          </p:cNvSpPr>
          <p:nvPr>
            <p:ph type="sldNum" sz="quarter" idx="12"/>
          </p:nvPr>
        </p:nvSpPr>
        <p:spPr/>
        <p:txBody>
          <a:bodyPr/>
          <a:lstStyle/>
          <a:p>
            <a:fld id="{5E91D3DE-6CAE-49D9-8E7D-AE364AF008FC}" type="slidenum">
              <a:rPr lang="hu-HU" smtClean="0"/>
              <a:t>‹#›</a:t>
            </a:fld>
            <a:endParaRPr lang="hu-HU"/>
          </a:p>
        </p:txBody>
      </p:sp>
    </p:spTree>
    <p:extLst>
      <p:ext uri="{BB962C8B-B14F-4D97-AF65-F5344CB8AC3E}">
        <p14:creationId xmlns:p14="http://schemas.microsoft.com/office/powerpoint/2010/main" val="24326555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Kép képaláírással">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A409ADE8-869A-84E8-BC79-2B8B8DB92A8F}"/>
              </a:ext>
            </a:extLst>
          </p:cNvPr>
          <p:cNvSpPr>
            <a:spLocks noGrp="1"/>
          </p:cNvSpPr>
          <p:nvPr>
            <p:ph type="title"/>
          </p:nvPr>
        </p:nvSpPr>
        <p:spPr>
          <a:xfrm>
            <a:off x="839788" y="457200"/>
            <a:ext cx="3932237" cy="1600200"/>
          </a:xfrm>
        </p:spPr>
        <p:txBody>
          <a:bodyPr anchor="b"/>
          <a:lstStyle>
            <a:lvl1pPr>
              <a:defRPr sz="3200"/>
            </a:lvl1pPr>
          </a:lstStyle>
          <a:p>
            <a:r>
              <a:rPr lang="hu-HU"/>
              <a:t>Mintacím szerkesztése</a:t>
            </a:r>
          </a:p>
        </p:txBody>
      </p:sp>
      <p:sp>
        <p:nvSpPr>
          <p:cNvPr id="3" name="Kép helye 2">
            <a:extLst>
              <a:ext uri="{FF2B5EF4-FFF2-40B4-BE49-F238E27FC236}">
                <a16:creationId xmlns:a16="http://schemas.microsoft.com/office/drawing/2014/main" id="{E04F07BB-4299-3CE7-9EA7-EA81F2BD556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hu-HU"/>
          </a:p>
        </p:txBody>
      </p:sp>
      <p:sp>
        <p:nvSpPr>
          <p:cNvPr id="4" name="Szöveg helye 3">
            <a:extLst>
              <a:ext uri="{FF2B5EF4-FFF2-40B4-BE49-F238E27FC236}">
                <a16:creationId xmlns:a16="http://schemas.microsoft.com/office/drawing/2014/main" id="{26DC26D8-54C2-200F-8AB2-C1FDE3DE73F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u-HU"/>
              <a:t>Mintaszöveg szerkesztése</a:t>
            </a:r>
          </a:p>
        </p:txBody>
      </p:sp>
      <p:sp>
        <p:nvSpPr>
          <p:cNvPr id="5" name="Dátum helye 4">
            <a:extLst>
              <a:ext uri="{FF2B5EF4-FFF2-40B4-BE49-F238E27FC236}">
                <a16:creationId xmlns:a16="http://schemas.microsoft.com/office/drawing/2014/main" id="{198DB97C-CF9F-7CC7-7A00-4D46C8A71A5A}"/>
              </a:ext>
            </a:extLst>
          </p:cNvPr>
          <p:cNvSpPr>
            <a:spLocks noGrp="1"/>
          </p:cNvSpPr>
          <p:nvPr>
            <p:ph type="dt" sz="half" idx="10"/>
          </p:nvPr>
        </p:nvSpPr>
        <p:spPr/>
        <p:txBody>
          <a:bodyPr/>
          <a:lstStyle/>
          <a:p>
            <a:fld id="{274D99E6-559B-4424-821D-44BF482F5060}" type="datetimeFigureOut">
              <a:rPr lang="hu-HU" smtClean="0"/>
              <a:t>2026. 05. 26.</a:t>
            </a:fld>
            <a:endParaRPr lang="hu-HU"/>
          </a:p>
        </p:txBody>
      </p:sp>
      <p:sp>
        <p:nvSpPr>
          <p:cNvPr id="6" name="Élőláb helye 5">
            <a:extLst>
              <a:ext uri="{FF2B5EF4-FFF2-40B4-BE49-F238E27FC236}">
                <a16:creationId xmlns:a16="http://schemas.microsoft.com/office/drawing/2014/main" id="{27B2E549-1D67-32D2-D6EC-B353CA10CD35}"/>
              </a:ext>
            </a:extLst>
          </p:cNvPr>
          <p:cNvSpPr>
            <a:spLocks noGrp="1"/>
          </p:cNvSpPr>
          <p:nvPr>
            <p:ph type="ftr" sz="quarter" idx="11"/>
          </p:nvPr>
        </p:nvSpPr>
        <p:spPr/>
        <p:txBody>
          <a:bodyPr/>
          <a:lstStyle/>
          <a:p>
            <a:endParaRPr lang="hu-HU"/>
          </a:p>
        </p:txBody>
      </p:sp>
      <p:sp>
        <p:nvSpPr>
          <p:cNvPr id="7" name="Dia számának helye 6">
            <a:extLst>
              <a:ext uri="{FF2B5EF4-FFF2-40B4-BE49-F238E27FC236}">
                <a16:creationId xmlns:a16="http://schemas.microsoft.com/office/drawing/2014/main" id="{084516C1-9C34-740E-F122-00D5E9FE7559}"/>
              </a:ext>
            </a:extLst>
          </p:cNvPr>
          <p:cNvSpPr>
            <a:spLocks noGrp="1"/>
          </p:cNvSpPr>
          <p:nvPr>
            <p:ph type="sldNum" sz="quarter" idx="12"/>
          </p:nvPr>
        </p:nvSpPr>
        <p:spPr/>
        <p:txBody>
          <a:bodyPr/>
          <a:lstStyle/>
          <a:p>
            <a:fld id="{5E91D3DE-6CAE-49D9-8E7D-AE364AF008FC}" type="slidenum">
              <a:rPr lang="hu-HU" smtClean="0"/>
              <a:t>‹#›</a:t>
            </a:fld>
            <a:endParaRPr lang="hu-HU"/>
          </a:p>
        </p:txBody>
      </p:sp>
    </p:spTree>
    <p:extLst>
      <p:ext uri="{BB962C8B-B14F-4D97-AF65-F5344CB8AC3E}">
        <p14:creationId xmlns:p14="http://schemas.microsoft.com/office/powerpoint/2010/main" val="40643932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Cím és függőleges szöveg">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A0E04932-51F6-68C3-048C-769C609CD617}"/>
              </a:ext>
            </a:extLst>
          </p:cNvPr>
          <p:cNvSpPr>
            <a:spLocks noGrp="1"/>
          </p:cNvSpPr>
          <p:nvPr>
            <p:ph type="title"/>
          </p:nvPr>
        </p:nvSpPr>
        <p:spPr/>
        <p:txBody>
          <a:bodyPr/>
          <a:lstStyle/>
          <a:p>
            <a:r>
              <a:rPr lang="hu-HU"/>
              <a:t>Mintacím szerkesztése</a:t>
            </a:r>
          </a:p>
        </p:txBody>
      </p:sp>
      <p:sp>
        <p:nvSpPr>
          <p:cNvPr id="3" name="Függőleges szöveg helye 2">
            <a:extLst>
              <a:ext uri="{FF2B5EF4-FFF2-40B4-BE49-F238E27FC236}">
                <a16:creationId xmlns:a16="http://schemas.microsoft.com/office/drawing/2014/main" id="{ACC6EE22-41DB-D6F3-1E89-59388291760C}"/>
              </a:ext>
            </a:extLst>
          </p:cNvPr>
          <p:cNvSpPr>
            <a:spLocks noGrp="1"/>
          </p:cNvSpPr>
          <p:nvPr>
            <p:ph type="body" orient="vert" idx="1"/>
          </p:nvPr>
        </p:nvSpPr>
        <p:spPr/>
        <p:txBody>
          <a:bodyPr vert="eaVert"/>
          <a:lstStyle/>
          <a:p>
            <a:pPr lvl="0"/>
            <a:r>
              <a:rPr lang="hu-HU"/>
              <a:t>Mintaszöveg szerkesztése</a:t>
            </a:r>
          </a:p>
          <a:p>
            <a:pPr lvl="1"/>
            <a:r>
              <a:rPr lang="hu-HU"/>
              <a:t>Második szint</a:t>
            </a:r>
          </a:p>
          <a:p>
            <a:pPr lvl="2"/>
            <a:r>
              <a:rPr lang="hu-HU"/>
              <a:t>Harmadik szint</a:t>
            </a:r>
          </a:p>
          <a:p>
            <a:pPr lvl="3"/>
            <a:r>
              <a:rPr lang="hu-HU"/>
              <a:t>Negyedik szint</a:t>
            </a:r>
          </a:p>
          <a:p>
            <a:pPr lvl="4"/>
            <a:r>
              <a:rPr lang="hu-HU"/>
              <a:t>Ötödik szint</a:t>
            </a:r>
          </a:p>
        </p:txBody>
      </p:sp>
      <p:sp>
        <p:nvSpPr>
          <p:cNvPr id="4" name="Dátum helye 3">
            <a:extLst>
              <a:ext uri="{FF2B5EF4-FFF2-40B4-BE49-F238E27FC236}">
                <a16:creationId xmlns:a16="http://schemas.microsoft.com/office/drawing/2014/main" id="{620E462F-4886-5A01-7CCB-4CC5D64F4FD1}"/>
              </a:ext>
            </a:extLst>
          </p:cNvPr>
          <p:cNvSpPr>
            <a:spLocks noGrp="1"/>
          </p:cNvSpPr>
          <p:nvPr>
            <p:ph type="dt" sz="half" idx="10"/>
          </p:nvPr>
        </p:nvSpPr>
        <p:spPr/>
        <p:txBody>
          <a:bodyPr/>
          <a:lstStyle/>
          <a:p>
            <a:fld id="{274D99E6-559B-4424-821D-44BF482F5060}" type="datetimeFigureOut">
              <a:rPr lang="hu-HU" smtClean="0"/>
              <a:t>2026. 05. 26.</a:t>
            </a:fld>
            <a:endParaRPr lang="hu-HU"/>
          </a:p>
        </p:txBody>
      </p:sp>
      <p:sp>
        <p:nvSpPr>
          <p:cNvPr id="5" name="Élőláb helye 4">
            <a:extLst>
              <a:ext uri="{FF2B5EF4-FFF2-40B4-BE49-F238E27FC236}">
                <a16:creationId xmlns:a16="http://schemas.microsoft.com/office/drawing/2014/main" id="{9B7D6868-AB74-BB6D-5C9A-93B3AD6C4F7E}"/>
              </a:ext>
            </a:extLst>
          </p:cNvPr>
          <p:cNvSpPr>
            <a:spLocks noGrp="1"/>
          </p:cNvSpPr>
          <p:nvPr>
            <p:ph type="ftr" sz="quarter" idx="11"/>
          </p:nvPr>
        </p:nvSpPr>
        <p:spPr/>
        <p:txBody>
          <a:bodyPr/>
          <a:lstStyle/>
          <a:p>
            <a:endParaRPr lang="hu-HU"/>
          </a:p>
        </p:txBody>
      </p:sp>
      <p:sp>
        <p:nvSpPr>
          <p:cNvPr id="6" name="Dia számának helye 5">
            <a:extLst>
              <a:ext uri="{FF2B5EF4-FFF2-40B4-BE49-F238E27FC236}">
                <a16:creationId xmlns:a16="http://schemas.microsoft.com/office/drawing/2014/main" id="{479A1292-D93A-0050-186C-94A849940952}"/>
              </a:ext>
            </a:extLst>
          </p:cNvPr>
          <p:cNvSpPr>
            <a:spLocks noGrp="1"/>
          </p:cNvSpPr>
          <p:nvPr>
            <p:ph type="sldNum" sz="quarter" idx="12"/>
          </p:nvPr>
        </p:nvSpPr>
        <p:spPr/>
        <p:txBody>
          <a:bodyPr/>
          <a:lstStyle/>
          <a:p>
            <a:fld id="{5E91D3DE-6CAE-49D9-8E7D-AE364AF008FC}" type="slidenum">
              <a:rPr lang="hu-HU" smtClean="0"/>
              <a:t>‹#›</a:t>
            </a:fld>
            <a:endParaRPr lang="hu-HU"/>
          </a:p>
        </p:txBody>
      </p:sp>
    </p:spTree>
    <p:extLst>
      <p:ext uri="{BB962C8B-B14F-4D97-AF65-F5344CB8AC3E}">
        <p14:creationId xmlns:p14="http://schemas.microsoft.com/office/powerpoint/2010/main" val="28930088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Függőleges cím és szöveg">
    <p:spTree>
      <p:nvGrpSpPr>
        <p:cNvPr id="1" name=""/>
        <p:cNvGrpSpPr/>
        <p:nvPr/>
      </p:nvGrpSpPr>
      <p:grpSpPr>
        <a:xfrm>
          <a:off x="0" y="0"/>
          <a:ext cx="0" cy="0"/>
          <a:chOff x="0" y="0"/>
          <a:chExt cx="0" cy="0"/>
        </a:xfrm>
      </p:grpSpPr>
      <p:sp>
        <p:nvSpPr>
          <p:cNvPr id="2" name="Függőleges cím 1">
            <a:extLst>
              <a:ext uri="{FF2B5EF4-FFF2-40B4-BE49-F238E27FC236}">
                <a16:creationId xmlns:a16="http://schemas.microsoft.com/office/drawing/2014/main" id="{88CAEAAF-B4FE-9157-2845-407984C9CA28}"/>
              </a:ext>
            </a:extLst>
          </p:cNvPr>
          <p:cNvSpPr>
            <a:spLocks noGrp="1"/>
          </p:cNvSpPr>
          <p:nvPr>
            <p:ph type="title" orient="vert"/>
          </p:nvPr>
        </p:nvSpPr>
        <p:spPr>
          <a:xfrm>
            <a:off x="8724900" y="365125"/>
            <a:ext cx="2628900" cy="5811838"/>
          </a:xfrm>
        </p:spPr>
        <p:txBody>
          <a:bodyPr vert="eaVert"/>
          <a:lstStyle/>
          <a:p>
            <a:r>
              <a:rPr lang="hu-HU"/>
              <a:t>Mintacím szerkesztése</a:t>
            </a:r>
          </a:p>
        </p:txBody>
      </p:sp>
      <p:sp>
        <p:nvSpPr>
          <p:cNvPr id="3" name="Függőleges szöveg helye 2">
            <a:extLst>
              <a:ext uri="{FF2B5EF4-FFF2-40B4-BE49-F238E27FC236}">
                <a16:creationId xmlns:a16="http://schemas.microsoft.com/office/drawing/2014/main" id="{2220703E-CBEC-7DCA-AED6-C2BE802F5277}"/>
              </a:ext>
            </a:extLst>
          </p:cNvPr>
          <p:cNvSpPr>
            <a:spLocks noGrp="1"/>
          </p:cNvSpPr>
          <p:nvPr>
            <p:ph type="body" orient="vert" idx="1"/>
          </p:nvPr>
        </p:nvSpPr>
        <p:spPr>
          <a:xfrm>
            <a:off x="838200" y="365125"/>
            <a:ext cx="7734300" cy="5811838"/>
          </a:xfrm>
        </p:spPr>
        <p:txBody>
          <a:bodyPr vert="eaVert"/>
          <a:lstStyle/>
          <a:p>
            <a:pPr lvl="0"/>
            <a:r>
              <a:rPr lang="hu-HU"/>
              <a:t>Mintaszöveg szerkesztése</a:t>
            </a:r>
          </a:p>
          <a:p>
            <a:pPr lvl="1"/>
            <a:r>
              <a:rPr lang="hu-HU"/>
              <a:t>Második szint</a:t>
            </a:r>
          </a:p>
          <a:p>
            <a:pPr lvl="2"/>
            <a:r>
              <a:rPr lang="hu-HU"/>
              <a:t>Harmadik szint</a:t>
            </a:r>
          </a:p>
          <a:p>
            <a:pPr lvl="3"/>
            <a:r>
              <a:rPr lang="hu-HU"/>
              <a:t>Negyedik szint</a:t>
            </a:r>
          </a:p>
          <a:p>
            <a:pPr lvl="4"/>
            <a:r>
              <a:rPr lang="hu-HU"/>
              <a:t>Ötödik szint</a:t>
            </a:r>
          </a:p>
        </p:txBody>
      </p:sp>
      <p:sp>
        <p:nvSpPr>
          <p:cNvPr id="4" name="Dátum helye 3">
            <a:extLst>
              <a:ext uri="{FF2B5EF4-FFF2-40B4-BE49-F238E27FC236}">
                <a16:creationId xmlns:a16="http://schemas.microsoft.com/office/drawing/2014/main" id="{016A5071-0C54-7525-B92F-F659D0993EB3}"/>
              </a:ext>
            </a:extLst>
          </p:cNvPr>
          <p:cNvSpPr>
            <a:spLocks noGrp="1"/>
          </p:cNvSpPr>
          <p:nvPr>
            <p:ph type="dt" sz="half" idx="10"/>
          </p:nvPr>
        </p:nvSpPr>
        <p:spPr/>
        <p:txBody>
          <a:bodyPr/>
          <a:lstStyle/>
          <a:p>
            <a:fld id="{274D99E6-559B-4424-821D-44BF482F5060}" type="datetimeFigureOut">
              <a:rPr lang="hu-HU" smtClean="0"/>
              <a:t>2026. 05. 26.</a:t>
            </a:fld>
            <a:endParaRPr lang="hu-HU"/>
          </a:p>
        </p:txBody>
      </p:sp>
      <p:sp>
        <p:nvSpPr>
          <p:cNvPr id="5" name="Élőláb helye 4">
            <a:extLst>
              <a:ext uri="{FF2B5EF4-FFF2-40B4-BE49-F238E27FC236}">
                <a16:creationId xmlns:a16="http://schemas.microsoft.com/office/drawing/2014/main" id="{6A17D4A6-346A-25A7-409F-6DACE4FB47D6}"/>
              </a:ext>
            </a:extLst>
          </p:cNvPr>
          <p:cNvSpPr>
            <a:spLocks noGrp="1"/>
          </p:cNvSpPr>
          <p:nvPr>
            <p:ph type="ftr" sz="quarter" idx="11"/>
          </p:nvPr>
        </p:nvSpPr>
        <p:spPr/>
        <p:txBody>
          <a:bodyPr/>
          <a:lstStyle/>
          <a:p>
            <a:endParaRPr lang="hu-HU"/>
          </a:p>
        </p:txBody>
      </p:sp>
      <p:sp>
        <p:nvSpPr>
          <p:cNvPr id="6" name="Dia számának helye 5">
            <a:extLst>
              <a:ext uri="{FF2B5EF4-FFF2-40B4-BE49-F238E27FC236}">
                <a16:creationId xmlns:a16="http://schemas.microsoft.com/office/drawing/2014/main" id="{4BCA75CC-3EEB-792B-3AF5-63A8C35BADCE}"/>
              </a:ext>
            </a:extLst>
          </p:cNvPr>
          <p:cNvSpPr>
            <a:spLocks noGrp="1"/>
          </p:cNvSpPr>
          <p:nvPr>
            <p:ph type="sldNum" sz="quarter" idx="12"/>
          </p:nvPr>
        </p:nvSpPr>
        <p:spPr/>
        <p:txBody>
          <a:bodyPr/>
          <a:lstStyle/>
          <a:p>
            <a:fld id="{5E91D3DE-6CAE-49D9-8E7D-AE364AF008FC}" type="slidenum">
              <a:rPr lang="hu-HU" smtClean="0"/>
              <a:t>‹#›</a:t>
            </a:fld>
            <a:endParaRPr lang="hu-HU"/>
          </a:p>
        </p:txBody>
      </p:sp>
    </p:spTree>
    <p:extLst>
      <p:ext uri="{BB962C8B-B14F-4D97-AF65-F5344CB8AC3E}">
        <p14:creationId xmlns:p14="http://schemas.microsoft.com/office/powerpoint/2010/main" val="36041401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tx1">
                <a:lumMod val="85000"/>
                <a:lumOff val="15000"/>
              </a:schemeClr>
            </a:gs>
            <a:gs pos="100000">
              <a:schemeClr val="tx1"/>
            </a:gs>
          </a:gsLst>
          <a:lin ang="5400000" scaled="1"/>
          <a:tileRect/>
        </a:gradFill>
        <a:effectLst/>
      </p:bgPr>
    </p:bg>
    <p:spTree>
      <p:nvGrpSpPr>
        <p:cNvPr id="1" name=""/>
        <p:cNvGrpSpPr/>
        <p:nvPr/>
      </p:nvGrpSpPr>
      <p:grpSpPr>
        <a:xfrm>
          <a:off x="0" y="0"/>
          <a:ext cx="0" cy="0"/>
          <a:chOff x="0" y="0"/>
          <a:chExt cx="0" cy="0"/>
        </a:xfrm>
      </p:grpSpPr>
      <p:sp>
        <p:nvSpPr>
          <p:cNvPr id="2" name="Cím helye 1">
            <a:extLst>
              <a:ext uri="{FF2B5EF4-FFF2-40B4-BE49-F238E27FC236}">
                <a16:creationId xmlns:a16="http://schemas.microsoft.com/office/drawing/2014/main" id="{7466F820-44CE-880E-59A7-A8F86086F93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hu-HU"/>
              <a:t>Mintacím szerkesztése</a:t>
            </a:r>
          </a:p>
        </p:txBody>
      </p:sp>
      <p:sp>
        <p:nvSpPr>
          <p:cNvPr id="3" name="Szöveg helye 2">
            <a:extLst>
              <a:ext uri="{FF2B5EF4-FFF2-40B4-BE49-F238E27FC236}">
                <a16:creationId xmlns:a16="http://schemas.microsoft.com/office/drawing/2014/main" id="{88A0B297-6A56-0575-0CCB-410170320FB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hu-HU"/>
              <a:t>Mintaszöveg szerkesztése</a:t>
            </a:r>
          </a:p>
          <a:p>
            <a:pPr lvl="1"/>
            <a:r>
              <a:rPr lang="hu-HU"/>
              <a:t>Második szint</a:t>
            </a:r>
          </a:p>
          <a:p>
            <a:pPr lvl="2"/>
            <a:r>
              <a:rPr lang="hu-HU"/>
              <a:t>Harmadik szint</a:t>
            </a:r>
          </a:p>
          <a:p>
            <a:pPr lvl="3"/>
            <a:r>
              <a:rPr lang="hu-HU"/>
              <a:t>Negyedik szint</a:t>
            </a:r>
          </a:p>
          <a:p>
            <a:pPr lvl="4"/>
            <a:r>
              <a:rPr lang="hu-HU"/>
              <a:t>Ötödik szint</a:t>
            </a:r>
          </a:p>
        </p:txBody>
      </p:sp>
      <p:sp>
        <p:nvSpPr>
          <p:cNvPr id="4" name="Dátum helye 3">
            <a:extLst>
              <a:ext uri="{FF2B5EF4-FFF2-40B4-BE49-F238E27FC236}">
                <a16:creationId xmlns:a16="http://schemas.microsoft.com/office/drawing/2014/main" id="{DE3E61E9-9FBA-5624-7649-35DBFEC4676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74D99E6-559B-4424-821D-44BF482F5060}" type="datetimeFigureOut">
              <a:rPr lang="hu-HU" smtClean="0"/>
              <a:t>2026. 05. 26.</a:t>
            </a:fld>
            <a:endParaRPr lang="hu-HU"/>
          </a:p>
        </p:txBody>
      </p:sp>
      <p:sp>
        <p:nvSpPr>
          <p:cNvPr id="5" name="Élőláb helye 4">
            <a:extLst>
              <a:ext uri="{FF2B5EF4-FFF2-40B4-BE49-F238E27FC236}">
                <a16:creationId xmlns:a16="http://schemas.microsoft.com/office/drawing/2014/main" id="{2C21FBCC-E128-AF64-D11D-67C008E4C53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hu-HU"/>
          </a:p>
        </p:txBody>
      </p:sp>
      <p:sp>
        <p:nvSpPr>
          <p:cNvPr id="6" name="Dia számának helye 5">
            <a:extLst>
              <a:ext uri="{FF2B5EF4-FFF2-40B4-BE49-F238E27FC236}">
                <a16:creationId xmlns:a16="http://schemas.microsoft.com/office/drawing/2014/main" id="{21E995B6-FCFC-D99F-7C02-9E75A0C525B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E91D3DE-6CAE-49D9-8E7D-AE364AF008FC}" type="slidenum">
              <a:rPr lang="hu-HU" smtClean="0"/>
              <a:t>‹#›</a:t>
            </a:fld>
            <a:endParaRPr lang="hu-HU"/>
          </a:p>
        </p:txBody>
      </p:sp>
    </p:spTree>
    <p:extLst>
      <p:ext uri="{BB962C8B-B14F-4D97-AF65-F5344CB8AC3E}">
        <p14:creationId xmlns:p14="http://schemas.microsoft.com/office/powerpoint/2010/main" val="96164539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hu-H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8.xml"/><Relationship Id="rId1" Type="http://schemas.openxmlformats.org/officeDocument/2006/relationships/slideLayout" Target="../slideLayouts/slideLayout4.xml"/><Relationship Id="rId4" Type="http://schemas.openxmlformats.org/officeDocument/2006/relationships/image" Target="../media/image29.png"/></Relationships>
</file>

<file path=ppt/slides/_rels/slide3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2.xml"/><Relationship Id="rId1" Type="http://schemas.openxmlformats.org/officeDocument/2006/relationships/slideLayout" Target="../slideLayouts/slideLayout4.xml"/><Relationship Id="rId4" Type="http://schemas.openxmlformats.org/officeDocument/2006/relationships/image" Target="../media/image33.png"/></Relationships>
</file>

<file path=ppt/slides/_rels/slide3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3.xml"/><Relationship Id="rId1" Type="http://schemas.openxmlformats.org/officeDocument/2006/relationships/slideLayout" Target="../slideLayouts/slideLayout4.xml"/><Relationship Id="rId4" Type="http://schemas.openxmlformats.org/officeDocument/2006/relationships/image" Target="../media/image35.png"/></Relationships>
</file>

<file path=ppt/slides/_rels/slide3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4.xml"/><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5.xml"/><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lcím 2">
            <a:extLst>
              <a:ext uri="{FF2B5EF4-FFF2-40B4-BE49-F238E27FC236}">
                <a16:creationId xmlns:a16="http://schemas.microsoft.com/office/drawing/2014/main" id="{79C91560-28E7-BEB6-FE2F-42BC6BB7A5F7}"/>
              </a:ext>
            </a:extLst>
          </p:cNvPr>
          <p:cNvSpPr>
            <a:spLocks noGrp="1"/>
          </p:cNvSpPr>
          <p:nvPr>
            <p:ph type="subTitle" idx="1"/>
          </p:nvPr>
        </p:nvSpPr>
        <p:spPr>
          <a:xfrm>
            <a:off x="1524000" y="5040312"/>
            <a:ext cx="9144000" cy="914400"/>
          </a:xfrm>
        </p:spPr>
        <p:txBody>
          <a:bodyPr>
            <a:normAutofit/>
          </a:bodyPr>
          <a:lstStyle/>
          <a:p>
            <a:r>
              <a:rPr lang="hu-HU" dirty="0">
                <a:solidFill>
                  <a:schemeClr val="bg1"/>
                </a:solidFill>
              </a:rPr>
              <a:t>Készítette: Váradi Kristóf Attila, Csutak Attila, </a:t>
            </a:r>
            <a:r>
              <a:rPr lang="hu-HU" dirty="0" err="1">
                <a:solidFill>
                  <a:schemeClr val="bg1"/>
                </a:solidFill>
              </a:rPr>
              <a:t>Utli</a:t>
            </a:r>
            <a:r>
              <a:rPr lang="hu-HU" dirty="0">
                <a:solidFill>
                  <a:schemeClr val="bg1"/>
                </a:solidFill>
              </a:rPr>
              <a:t> Barnabás</a:t>
            </a:r>
          </a:p>
        </p:txBody>
      </p:sp>
      <p:pic>
        <p:nvPicPr>
          <p:cNvPr id="5" name="Kép 4">
            <a:extLst>
              <a:ext uri="{FF2B5EF4-FFF2-40B4-BE49-F238E27FC236}">
                <a16:creationId xmlns:a16="http://schemas.microsoft.com/office/drawing/2014/main" id="{C61DB333-F6D4-992F-E100-21E01E09852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38460" y="903288"/>
            <a:ext cx="2315080" cy="2387600"/>
          </a:xfrm>
          <a:prstGeom prst="rect">
            <a:avLst/>
          </a:prstGeom>
        </p:spPr>
      </p:pic>
      <p:pic>
        <p:nvPicPr>
          <p:cNvPr id="7" name="Kép 6" descr="A képen Betűtípus, tipográfia, Grafika, szöveg látható&#10;&#10;Előfordulhat, hogy az AI által létrehozott tartalom helytelen.">
            <a:extLst>
              <a:ext uri="{FF2B5EF4-FFF2-40B4-BE49-F238E27FC236}">
                <a16:creationId xmlns:a16="http://schemas.microsoft.com/office/drawing/2014/main" id="{1F866F06-B15D-8124-B1B2-4BC18FF8CDA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77485" y="3567113"/>
            <a:ext cx="5437029" cy="826049"/>
          </a:xfrm>
          <a:prstGeom prst="rect">
            <a:avLst/>
          </a:prstGeom>
        </p:spPr>
      </p:pic>
    </p:spTree>
    <p:extLst>
      <p:ext uri="{BB962C8B-B14F-4D97-AF65-F5344CB8AC3E}">
        <p14:creationId xmlns:p14="http://schemas.microsoft.com/office/powerpoint/2010/main" val="234120300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1000" fill="hold"/>
                                        <p:tgtEl>
                                          <p:spTgt spid="5"/>
                                        </p:tgtEl>
                                        <p:attrNameLst>
                                          <p:attrName>ppt_x</p:attrName>
                                        </p:attrNameLst>
                                      </p:cBhvr>
                                      <p:tavLst>
                                        <p:tav tm="0">
                                          <p:val>
                                            <p:strVal val="0-#ppt_w/2"/>
                                          </p:val>
                                        </p:tav>
                                        <p:tav tm="100000">
                                          <p:val>
                                            <p:strVal val="#ppt_x"/>
                                          </p:val>
                                        </p:tav>
                                      </p:tavLst>
                                    </p:anim>
                                    <p:anim calcmode="lin" valueType="num">
                                      <p:cBhvr additive="base">
                                        <p:cTn id="8" dur="1000" fill="hold"/>
                                        <p:tgtEl>
                                          <p:spTgt spid="5"/>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1000" fill="hold"/>
                                        <p:tgtEl>
                                          <p:spTgt spid="7"/>
                                        </p:tgtEl>
                                        <p:attrNameLst>
                                          <p:attrName>ppt_x</p:attrName>
                                        </p:attrNameLst>
                                      </p:cBhvr>
                                      <p:tavLst>
                                        <p:tav tm="0">
                                          <p:val>
                                            <p:strVal val="1+#ppt_w/2"/>
                                          </p:val>
                                        </p:tav>
                                        <p:tav tm="100000">
                                          <p:val>
                                            <p:strVal val="#ppt_x"/>
                                          </p:val>
                                        </p:tav>
                                      </p:tavLst>
                                    </p:anim>
                                    <p:anim calcmode="lin" valueType="num">
                                      <p:cBhvr additive="base">
                                        <p:cTn id="12" dur="1000" fill="hold"/>
                                        <p:tgtEl>
                                          <p:spTgt spid="7"/>
                                        </p:tgtEl>
                                        <p:attrNameLst>
                                          <p:attrName>ppt_y</p:attrName>
                                        </p:attrNameLst>
                                      </p:cBhvr>
                                      <p:tavLst>
                                        <p:tav tm="0">
                                          <p:val>
                                            <p:strVal val="#ppt_y"/>
                                          </p:val>
                                        </p:tav>
                                        <p:tav tm="100000">
                                          <p:val>
                                            <p:strVal val="#ppt_y"/>
                                          </p:val>
                                        </p:tav>
                                      </p:tavLst>
                                    </p:anim>
                                  </p:childTnLst>
                                </p:cTn>
                              </p:par>
                              <p:par>
                                <p:cTn id="13" presetID="2" presetClass="entr" presetSubtype="8" fill="hold" grpId="0" nodeType="withEffect">
                                  <p:stCondLst>
                                    <p:cond delay="0"/>
                                  </p:stCondLst>
                                  <p:childTnLst>
                                    <p:set>
                                      <p:cBhvr>
                                        <p:cTn id="14" dur="1" fill="hold">
                                          <p:stCondLst>
                                            <p:cond delay="0"/>
                                          </p:stCondLst>
                                        </p:cTn>
                                        <p:tgtEl>
                                          <p:spTgt spid="3">
                                            <p:txEl>
                                              <p:pRg st="0" end="0"/>
                                            </p:txEl>
                                          </p:spTgt>
                                        </p:tgtEl>
                                        <p:attrNameLst>
                                          <p:attrName>style.visibility</p:attrName>
                                        </p:attrNameLst>
                                      </p:cBhvr>
                                      <p:to>
                                        <p:strVal val="visible"/>
                                      </p:to>
                                    </p:set>
                                    <p:anim calcmode="lin" valueType="num">
                                      <p:cBhvr additive="base">
                                        <p:cTn id="15" dur="1000" fill="hold"/>
                                        <p:tgtEl>
                                          <p:spTgt spid="3">
                                            <p:txEl>
                                              <p:pRg st="0" end="0"/>
                                            </p:txEl>
                                          </p:spTgt>
                                        </p:tgtEl>
                                        <p:attrNameLst>
                                          <p:attrName>ppt_x</p:attrName>
                                        </p:attrNameLst>
                                      </p:cBhvr>
                                      <p:tavLst>
                                        <p:tav tm="0">
                                          <p:val>
                                            <p:strVal val="0-#ppt_w/2"/>
                                          </p:val>
                                        </p:tav>
                                        <p:tav tm="100000">
                                          <p:val>
                                            <p:strVal val="#ppt_x"/>
                                          </p:val>
                                        </p:tav>
                                      </p:tavLst>
                                    </p:anim>
                                    <p:anim calcmode="lin" valueType="num">
                                      <p:cBhvr additive="base">
                                        <p:cTn id="16" dur="1000" fill="hold"/>
                                        <p:tgtEl>
                                          <p:spTgt spid="3">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688DBFB1-510C-106F-0883-62F8B2F62A96}"/>
              </a:ext>
            </a:extLst>
          </p:cNvPr>
          <p:cNvSpPr>
            <a:spLocks noGrp="1"/>
          </p:cNvSpPr>
          <p:nvPr>
            <p:ph type="title"/>
          </p:nvPr>
        </p:nvSpPr>
        <p:spPr/>
        <p:txBody>
          <a:bodyPr/>
          <a:lstStyle/>
          <a:p>
            <a:r>
              <a:rPr lang="hu-HU" b="1" dirty="0">
                <a:solidFill>
                  <a:schemeClr val="bg1"/>
                </a:solidFill>
              </a:rPr>
              <a:t>Bemutatkozás</a:t>
            </a:r>
          </a:p>
        </p:txBody>
      </p:sp>
      <p:sp>
        <p:nvSpPr>
          <p:cNvPr id="3" name="Tartalom helye 2">
            <a:extLst>
              <a:ext uri="{FF2B5EF4-FFF2-40B4-BE49-F238E27FC236}">
                <a16:creationId xmlns:a16="http://schemas.microsoft.com/office/drawing/2014/main" id="{0B5EE22A-F329-F075-6408-09D4D8D8C959}"/>
              </a:ext>
            </a:extLst>
          </p:cNvPr>
          <p:cNvSpPr>
            <a:spLocks noGrp="1"/>
          </p:cNvSpPr>
          <p:nvPr>
            <p:ph idx="1"/>
          </p:nvPr>
        </p:nvSpPr>
        <p:spPr/>
        <p:txBody>
          <a:bodyPr/>
          <a:lstStyle/>
          <a:p>
            <a:pPr>
              <a:lnSpc>
                <a:spcPct val="150000"/>
              </a:lnSpc>
            </a:pPr>
            <a:r>
              <a:rPr lang="hu-HU" dirty="0">
                <a:solidFill>
                  <a:schemeClr val="bg1"/>
                </a:solidFill>
              </a:rPr>
              <a:t>Prémium mechanikus és okosórák gyártása</a:t>
            </a:r>
          </a:p>
          <a:p>
            <a:pPr>
              <a:lnSpc>
                <a:spcPct val="150000"/>
              </a:lnSpc>
            </a:pPr>
            <a:r>
              <a:rPr lang="hu-HU" dirty="0">
                <a:solidFill>
                  <a:schemeClr val="bg1"/>
                </a:solidFill>
              </a:rPr>
              <a:t>Nemzetközi értékesítés</a:t>
            </a:r>
          </a:p>
          <a:p>
            <a:pPr>
              <a:lnSpc>
                <a:spcPct val="150000"/>
              </a:lnSpc>
            </a:pPr>
            <a:r>
              <a:rPr lang="hu-HU" dirty="0">
                <a:solidFill>
                  <a:schemeClr val="bg1"/>
                </a:solidFill>
              </a:rPr>
              <a:t>Saját fejlesztésű szerkezetek</a:t>
            </a:r>
          </a:p>
          <a:p>
            <a:pPr>
              <a:lnSpc>
                <a:spcPct val="150000"/>
              </a:lnSpc>
            </a:pPr>
            <a:r>
              <a:rPr lang="hu-HU" dirty="0">
                <a:solidFill>
                  <a:schemeClr val="bg1"/>
                </a:solidFill>
              </a:rPr>
              <a:t>A márka küldetése: </a:t>
            </a:r>
            <a:r>
              <a:rPr lang="hu-HU" i="1" dirty="0">
                <a:solidFill>
                  <a:schemeClr val="bg1"/>
                </a:solidFill>
              </a:rPr>
              <a:t>“Időt adunk formába öntve.”</a:t>
            </a:r>
          </a:p>
        </p:txBody>
      </p:sp>
    </p:spTree>
    <p:extLst>
      <p:ext uri="{BB962C8B-B14F-4D97-AF65-F5344CB8AC3E}">
        <p14:creationId xmlns:p14="http://schemas.microsoft.com/office/powerpoint/2010/main" val="3640725299"/>
      </p:ext>
    </p:extLst>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2"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12" fill="hold" grpId="0" nodeType="after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 calcmode="lin" valueType="num">
                                      <p:cBhvr additive="base">
                                        <p:cTn id="12" dur="500" fill="hold"/>
                                        <p:tgtEl>
                                          <p:spTgt spid="3">
                                            <p:txEl>
                                              <p:pRg st="1" end="1"/>
                                            </p:txEl>
                                          </p:spTgt>
                                        </p:tgtEl>
                                        <p:attrNameLst>
                                          <p:attrName>ppt_x</p:attrName>
                                        </p:attrNameLst>
                                      </p:cBhvr>
                                      <p:tavLst>
                                        <p:tav tm="0">
                                          <p:val>
                                            <p:strVal val="0-#ppt_w/2"/>
                                          </p:val>
                                        </p:tav>
                                        <p:tav tm="100000">
                                          <p:val>
                                            <p:strVal val="#ppt_x"/>
                                          </p:val>
                                        </p:tav>
                                      </p:tavLst>
                                    </p:anim>
                                    <p:anim calcmode="lin" valueType="num">
                                      <p:cBhvr additive="base">
                                        <p:cTn id="13"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par>
                          <p:cTn id="14" fill="hold">
                            <p:stCondLst>
                              <p:cond delay="1000"/>
                            </p:stCondLst>
                            <p:childTnLst>
                              <p:par>
                                <p:cTn id="15" presetID="2" presetClass="entr" presetSubtype="12" fill="hold" grpId="0" nodeType="after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0-#ppt_w/2"/>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par>
                          <p:cTn id="19" fill="hold">
                            <p:stCondLst>
                              <p:cond delay="1500"/>
                            </p:stCondLst>
                            <p:childTnLst>
                              <p:par>
                                <p:cTn id="20" presetID="2" presetClass="entr" presetSubtype="12" fill="hold" grpId="0" nodeType="after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 calcmode="lin" valueType="num">
                                      <p:cBhvr additive="base">
                                        <p:cTn id="22" dur="500" fill="hold"/>
                                        <p:tgtEl>
                                          <p:spTgt spid="3">
                                            <p:txEl>
                                              <p:pRg st="3" end="3"/>
                                            </p:txEl>
                                          </p:spTgt>
                                        </p:tgtEl>
                                        <p:attrNameLst>
                                          <p:attrName>ppt_x</p:attrName>
                                        </p:attrNameLst>
                                      </p:cBhvr>
                                      <p:tavLst>
                                        <p:tav tm="0">
                                          <p:val>
                                            <p:strVal val="0-#ppt_w/2"/>
                                          </p:val>
                                        </p:tav>
                                        <p:tav tm="100000">
                                          <p:val>
                                            <p:strVal val="#ppt_x"/>
                                          </p:val>
                                        </p:tav>
                                      </p:tavLst>
                                    </p:anim>
                                    <p:anim calcmode="lin" valueType="num">
                                      <p:cBhvr additive="base">
                                        <p:cTn id="23"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7C56B86A-727D-FDE8-4501-413FC0FDA111}"/>
              </a:ext>
            </a:extLst>
          </p:cNvPr>
          <p:cNvSpPr>
            <a:spLocks noGrp="1"/>
          </p:cNvSpPr>
          <p:nvPr>
            <p:ph type="title"/>
          </p:nvPr>
        </p:nvSpPr>
        <p:spPr/>
        <p:txBody>
          <a:bodyPr/>
          <a:lstStyle/>
          <a:p>
            <a:r>
              <a:rPr lang="hu-HU" b="1" dirty="0">
                <a:solidFill>
                  <a:schemeClr val="bg1"/>
                </a:solidFill>
              </a:rPr>
              <a:t>Informatikai célkitűzések</a:t>
            </a:r>
          </a:p>
        </p:txBody>
      </p:sp>
      <p:sp>
        <p:nvSpPr>
          <p:cNvPr id="3" name="Tartalom helye 2">
            <a:extLst>
              <a:ext uri="{FF2B5EF4-FFF2-40B4-BE49-F238E27FC236}">
                <a16:creationId xmlns:a16="http://schemas.microsoft.com/office/drawing/2014/main" id="{FC5513BD-95DF-2D07-24E5-882BCB267450}"/>
              </a:ext>
            </a:extLst>
          </p:cNvPr>
          <p:cNvSpPr>
            <a:spLocks noGrp="1"/>
          </p:cNvSpPr>
          <p:nvPr>
            <p:ph idx="1"/>
          </p:nvPr>
        </p:nvSpPr>
        <p:spPr/>
        <p:txBody>
          <a:bodyPr/>
          <a:lstStyle/>
          <a:p>
            <a:pPr>
              <a:lnSpc>
                <a:spcPct val="150000"/>
              </a:lnSpc>
            </a:pPr>
            <a:r>
              <a:rPr lang="hu-HU" dirty="0">
                <a:solidFill>
                  <a:schemeClr val="bg1"/>
                </a:solidFill>
              </a:rPr>
              <a:t>Központi felhasználókezelés</a:t>
            </a:r>
          </a:p>
          <a:p>
            <a:pPr>
              <a:lnSpc>
                <a:spcPct val="150000"/>
              </a:lnSpc>
            </a:pPr>
            <a:r>
              <a:rPr lang="hu-HU" dirty="0">
                <a:solidFill>
                  <a:schemeClr val="bg1"/>
                </a:solidFill>
              </a:rPr>
              <a:t>Jogosultság alapú hozzáférés</a:t>
            </a:r>
          </a:p>
          <a:p>
            <a:pPr>
              <a:lnSpc>
                <a:spcPct val="150000"/>
              </a:lnSpc>
            </a:pPr>
            <a:r>
              <a:rPr lang="hu-HU" dirty="0">
                <a:solidFill>
                  <a:schemeClr val="bg1"/>
                </a:solidFill>
              </a:rPr>
              <a:t>Magas rendelkezésre állás</a:t>
            </a:r>
          </a:p>
          <a:p>
            <a:pPr>
              <a:lnSpc>
                <a:spcPct val="150000"/>
              </a:lnSpc>
            </a:pPr>
            <a:r>
              <a:rPr lang="hu-HU" dirty="0">
                <a:solidFill>
                  <a:schemeClr val="bg1"/>
                </a:solidFill>
              </a:rPr>
              <a:t>Biztonságos adatkezelés</a:t>
            </a:r>
          </a:p>
          <a:p>
            <a:pPr>
              <a:lnSpc>
                <a:spcPct val="150000"/>
              </a:lnSpc>
            </a:pPr>
            <a:r>
              <a:rPr lang="hu-HU" dirty="0">
                <a:solidFill>
                  <a:schemeClr val="bg1"/>
                </a:solidFill>
              </a:rPr>
              <a:t>Skálázhatóság</a:t>
            </a:r>
          </a:p>
        </p:txBody>
      </p:sp>
    </p:spTree>
    <p:extLst>
      <p:ext uri="{BB962C8B-B14F-4D97-AF65-F5344CB8AC3E}">
        <p14:creationId xmlns:p14="http://schemas.microsoft.com/office/powerpoint/2010/main" val="2252587116"/>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arn(inVertical)">
                                      <p:cBhvr>
                                        <p:cTn id="7" dur="500"/>
                                        <p:tgtEl>
                                          <p:spTgt spid="3">
                                            <p:txEl>
                                              <p:pRg st="0" end="0"/>
                                            </p:txEl>
                                          </p:spTgt>
                                        </p:tgtEl>
                                      </p:cBhvr>
                                    </p:animEffect>
                                  </p:childTnLst>
                                </p:cTn>
                              </p:par>
                            </p:childTnLst>
                          </p:cTn>
                        </p:par>
                        <p:par>
                          <p:cTn id="8" fill="hold">
                            <p:stCondLst>
                              <p:cond delay="500"/>
                            </p:stCondLst>
                            <p:childTnLst>
                              <p:par>
                                <p:cTn id="9" presetID="16" presetClass="entr" presetSubtype="21" fill="hold" grpId="0"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barn(inVertical)">
                                      <p:cBhvr>
                                        <p:cTn id="11" dur="500"/>
                                        <p:tgtEl>
                                          <p:spTgt spid="3">
                                            <p:txEl>
                                              <p:pRg st="1" end="1"/>
                                            </p:txEl>
                                          </p:spTgt>
                                        </p:tgtEl>
                                      </p:cBhvr>
                                    </p:animEffect>
                                  </p:childTnLst>
                                </p:cTn>
                              </p:par>
                            </p:childTnLst>
                          </p:cTn>
                        </p:par>
                        <p:par>
                          <p:cTn id="12" fill="hold">
                            <p:stCondLst>
                              <p:cond delay="1000"/>
                            </p:stCondLst>
                            <p:childTnLst>
                              <p:par>
                                <p:cTn id="13" presetID="16" presetClass="entr" presetSubtype="21" fill="hold" grpId="0" nodeType="after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barn(inVertical)">
                                      <p:cBhvr>
                                        <p:cTn id="15" dur="500"/>
                                        <p:tgtEl>
                                          <p:spTgt spid="3">
                                            <p:txEl>
                                              <p:pRg st="2" end="2"/>
                                            </p:txEl>
                                          </p:spTgt>
                                        </p:tgtEl>
                                      </p:cBhvr>
                                    </p:animEffect>
                                  </p:childTnLst>
                                </p:cTn>
                              </p:par>
                            </p:childTnLst>
                          </p:cTn>
                        </p:par>
                        <p:par>
                          <p:cTn id="16" fill="hold">
                            <p:stCondLst>
                              <p:cond delay="1500"/>
                            </p:stCondLst>
                            <p:childTnLst>
                              <p:par>
                                <p:cTn id="17" presetID="16" presetClass="entr" presetSubtype="21" fill="hold" grpId="0" nodeType="after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Effect transition="in" filter="barn(inVertical)">
                                      <p:cBhvr>
                                        <p:cTn id="19" dur="500"/>
                                        <p:tgtEl>
                                          <p:spTgt spid="3">
                                            <p:txEl>
                                              <p:pRg st="3" end="3"/>
                                            </p:txEl>
                                          </p:spTgt>
                                        </p:tgtEl>
                                      </p:cBhvr>
                                    </p:animEffect>
                                  </p:childTnLst>
                                </p:cTn>
                              </p:par>
                            </p:childTnLst>
                          </p:cTn>
                        </p:par>
                        <p:par>
                          <p:cTn id="20" fill="hold">
                            <p:stCondLst>
                              <p:cond delay="2000"/>
                            </p:stCondLst>
                            <p:childTnLst>
                              <p:par>
                                <p:cTn id="21" presetID="16" presetClass="entr" presetSubtype="21" fill="hold" grpId="0" nodeType="after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barn(inVertical)">
                                      <p:cBhvr>
                                        <p:cTn id="23"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ABE66D63-5C8D-6811-7A91-74F4193404CD}"/>
              </a:ext>
            </a:extLst>
          </p:cNvPr>
          <p:cNvSpPr>
            <a:spLocks noGrp="1"/>
          </p:cNvSpPr>
          <p:nvPr>
            <p:ph type="title"/>
          </p:nvPr>
        </p:nvSpPr>
        <p:spPr/>
        <p:txBody>
          <a:bodyPr/>
          <a:lstStyle/>
          <a:p>
            <a:r>
              <a:rPr lang="hu-HU" b="1" dirty="0">
                <a:solidFill>
                  <a:schemeClr val="bg1"/>
                </a:solidFill>
              </a:rPr>
              <a:t>Telephelyeink</a:t>
            </a:r>
          </a:p>
        </p:txBody>
      </p:sp>
      <p:sp>
        <p:nvSpPr>
          <p:cNvPr id="3" name="Tartalom helye 2">
            <a:extLst>
              <a:ext uri="{FF2B5EF4-FFF2-40B4-BE49-F238E27FC236}">
                <a16:creationId xmlns:a16="http://schemas.microsoft.com/office/drawing/2014/main" id="{15FB7D74-2666-4EED-CA64-58586FAC1448}"/>
              </a:ext>
            </a:extLst>
          </p:cNvPr>
          <p:cNvSpPr>
            <a:spLocks noGrp="1"/>
          </p:cNvSpPr>
          <p:nvPr>
            <p:ph sz="half" idx="1"/>
          </p:nvPr>
        </p:nvSpPr>
        <p:spPr>
          <a:xfrm>
            <a:off x="838200" y="1825625"/>
            <a:ext cx="6175248" cy="4351338"/>
          </a:xfrm>
        </p:spPr>
        <p:txBody>
          <a:bodyPr/>
          <a:lstStyle/>
          <a:p>
            <a:pPr>
              <a:lnSpc>
                <a:spcPct val="150000"/>
              </a:lnSpc>
            </a:pPr>
            <a:r>
              <a:rPr lang="hu-HU" dirty="0">
                <a:solidFill>
                  <a:schemeClr val="bg1"/>
                </a:solidFill>
              </a:rPr>
              <a:t>Iroda – Vác</a:t>
            </a:r>
          </a:p>
          <a:p>
            <a:pPr>
              <a:lnSpc>
                <a:spcPct val="150000"/>
              </a:lnSpc>
            </a:pPr>
            <a:r>
              <a:rPr lang="hu-HU" dirty="0">
                <a:solidFill>
                  <a:schemeClr val="bg1"/>
                </a:solidFill>
              </a:rPr>
              <a:t>Gyárüzem és raktár – Göd Ipartelep</a:t>
            </a:r>
          </a:p>
          <a:p>
            <a:pPr>
              <a:lnSpc>
                <a:spcPct val="150000"/>
              </a:lnSpc>
            </a:pPr>
            <a:r>
              <a:rPr lang="hu-HU" dirty="0">
                <a:solidFill>
                  <a:schemeClr val="bg1"/>
                </a:solidFill>
              </a:rPr>
              <a:t>Szaküzlet – Budapest Deák Ferenc tér</a:t>
            </a:r>
          </a:p>
          <a:p>
            <a:pPr>
              <a:lnSpc>
                <a:spcPct val="150000"/>
              </a:lnSpc>
            </a:pPr>
            <a:r>
              <a:rPr lang="hu-HU" dirty="0">
                <a:solidFill>
                  <a:schemeClr val="bg1"/>
                </a:solidFill>
              </a:rPr>
              <a:t>Adatközpont – </a:t>
            </a:r>
            <a:r>
              <a:rPr lang="hu-HU" dirty="0" err="1">
                <a:solidFill>
                  <a:schemeClr val="bg1"/>
                </a:solidFill>
              </a:rPr>
              <a:t>OceanData</a:t>
            </a:r>
            <a:r>
              <a:rPr lang="hu-HU" dirty="0">
                <a:solidFill>
                  <a:schemeClr val="bg1"/>
                </a:solidFill>
              </a:rPr>
              <a:t> Kft. Budapest Váci út</a:t>
            </a:r>
          </a:p>
        </p:txBody>
      </p:sp>
      <p:pic>
        <p:nvPicPr>
          <p:cNvPr id="5" name="Tartalom helye 4" descr="A képen térkép, atlasz, szöveg látható&#10;&#10;Előfordulhat, hogy az AI által létrehozott tartalom helytelen.">
            <a:extLst>
              <a:ext uri="{FF2B5EF4-FFF2-40B4-BE49-F238E27FC236}">
                <a16:creationId xmlns:a16="http://schemas.microsoft.com/office/drawing/2014/main" id="{C85A9C36-16BC-81DE-D65E-35251374B407}"/>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8318797" y="1825625"/>
            <a:ext cx="3035003" cy="4552506"/>
          </a:xfrm>
          <a:prstGeom prst="rect">
            <a:avLst/>
          </a:prstGeom>
        </p:spPr>
      </p:pic>
    </p:spTree>
    <p:extLst>
      <p:ext uri="{BB962C8B-B14F-4D97-AF65-F5344CB8AC3E}">
        <p14:creationId xmlns:p14="http://schemas.microsoft.com/office/powerpoint/2010/main" val="4004811928"/>
      </p:ext>
    </p:extLst>
  </p:cSld>
  <p:clrMapOvr>
    <a:masterClrMapping/>
  </p:clrMapOvr>
  <p:transition spd="slow">
    <p:cove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1000"/>
                                        <p:tgtEl>
                                          <p:spTgt spid="3">
                                            <p:txEl>
                                              <p:pRg st="1" end="1"/>
                                            </p:txEl>
                                          </p:spTgt>
                                        </p:tgtEl>
                                      </p:cBhvr>
                                    </p:animEffect>
                                    <p:anim calcmode="lin" valueType="num">
                                      <p:cBhvr>
                                        <p:cTn id="13"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1000"/>
                                        <p:tgtEl>
                                          <p:spTgt spid="3">
                                            <p:txEl>
                                              <p:pRg st="2" end="2"/>
                                            </p:txEl>
                                          </p:spTgt>
                                        </p:tgtEl>
                                      </p:cBhvr>
                                    </p:animEffect>
                                    <p:anim calcmode="lin" valueType="num">
                                      <p:cBhvr>
                                        <p:cTn id="18"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3">
                                            <p:txEl>
                                              <p:pRg st="2" end="2"/>
                                            </p:txEl>
                                          </p:spTgt>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1000"/>
                                        <p:tgtEl>
                                          <p:spTgt spid="3">
                                            <p:txEl>
                                              <p:pRg st="3" end="3"/>
                                            </p:txEl>
                                          </p:spTgt>
                                        </p:tgtEl>
                                      </p:cBhvr>
                                    </p:animEffect>
                                    <p:anim calcmode="lin" valueType="num">
                                      <p:cBhvr>
                                        <p:cTn id="23"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4" dur="1000" fill="hold"/>
                                        <p:tgtEl>
                                          <p:spTgt spid="3">
                                            <p:txEl>
                                              <p:pRg st="3" end="3"/>
                                            </p:txEl>
                                          </p:spTgt>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fade">
                                      <p:cBhvr>
                                        <p:cTn id="27" dur="1000"/>
                                        <p:tgtEl>
                                          <p:spTgt spid="5"/>
                                        </p:tgtEl>
                                      </p:cBhvr>
                                    </p:animEffect>
                                    <p:anim calcmode="lin" valueType="num">
                                      <p:cBhvr>
                                        <p:cTn id="28" dur="1000" fill="hold"/>
                                        <p:tgtEl>
                                          <p:spTgt spid="5"/>
                                        </p:tgtEl>
                                        <p:attrNameLst>
                                          <p:attrName>ppt_x</p:attrName>
                                        </p:attrNameLst>
                                      </p:cBhvr>
                                      <p:tavLst>
                                        <p:tav tm="0">
                                          <p:val>
                                            <p:strVal val="#ppt_x"/>
                                          </p:val>
                                        </p:tav>
                                        <p:tav tm="100000">
                                          <p:val>
                                            <p:strVal val="#ppt_x"/>
                                          </p:val>
                                        </p:tav>
                                      </p:tavLst>
                                    </p:anim>
                                    <p:anim calcmode="lin" valueType="num">
                                      <p:cBhvr>
                                        <p:cTn id="2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977343D6-C8F2-D95C-73D2-30B8FF2E82B4}"/>
              </a:ext>
            </a:extLst>
          </p:cNvPr>
          <p:cNvSpPr>
            <a:spLocks noGrp="1"/>
          </p:cNvSpPr>
          <p:nvPr>
            <p:ph type="title"/>
          </p:nvPr>
        </p:nvSpPr>
        <p:spPr/>
        <p:txBody>
          <a:bodyPr/>
          <a:lstStyle/>
          <a:p>
            <a:r>
              <a:rPr lang="hu-HU" b="1" dirty="0">
                <a:solidFill>
                  <a:schemeClr val="bg1"/>
                </a:solidFill>
              </a:rPr>
              <a:t>Hálózati topológia</a:t>
            </a:r>
          </a:p>
        </p:txBody>
      </p:sp>
      <p:pic>
        <p:nvPicPr>
          <p:cNvPr id="5" name="Tartalom helye 4" descr="A képen térkép, diagram, szöveg, sor látható&#10;&#10;Előfordulhat, hogy az AI által létrehozott tartalom helytelen.">
            <a:extLst>
              <a:ext uri="{FF2B5EF4-FFF2-40B4-BE49-F238E27FC236}">
                <a16:creationId xmlns:a16="http://schemas.microsoft.com/office/drawing/2014/main" id="{BAC71072-7C6F-D88D-E2A9-398ADA09D506}"/>
              </a:ext>
            </a:extLst>
          </p:cNvPr>
          <p:cNvPicPr>
            <a:picLocks noGrp="1" noChangeAspect="1"/>
          </p:cNvPicPr>
          <p:nvPr>
            <p:ph idx="1"/>
          </p:nvPr>
        </p:nvPicPr>
        <p:blipFill>
          <a:blip r:embed="rId2"/>
          <a:stretch>
            <a:fillRect/>
          </a:stretch>
        </p:blipFill>
        <p:spPr>
          <a:xfrm>
            <a:off x="2019143" y="1690688"/>
            <a:ext cx="8153714" cy="4797728"/>
          </a:xfrm>
          <a:prstGeom prst="rect">
            <a:avLst/>
          </a:prstGeom>
        </p:spPr>
      </p:pic>
    </p:spTree>
    <p:extLst>
      <p:ext uri="{BB962C8B-B14F-4D97-AF65-F5344CB8AC3E}">
        <p14:creationId xmlns:p14="http://schemas.microsoft.com/office/powerpoint/2010/main" val="2642662234"/>
      </p:ext>
    </p:extLst>
  </p:cSld>
  <p:clrMapOvr>
    <a:masterClrMapping/>
  </p:clrMapOvr>
  <mc:AlternateContent xmlns:mc="http://schemas.openxmlformats.org/markup-compatibility/2006" xmlns:p14="http://schemas.microsoft.com/office/powerpoint/2010/main">
    <mc:Choice Requires="p14">
      <p:transition spd="slow" p14:dur="3000">
        <p14:shred/>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83608EAC-433A-AC69-ADAA-36741D5E7646}"/>
              </a:ext>
            </a:extLst>
          </p:cNvPr>
          <p:cNvSpPr>
            <a:spLocks noGrp="1"/>
          </p:cNvSpPr>
          <p:nvPr>
            <p:ph type="title"/>
          </p:nvPr>
        </p:nvSpPr>
        <p:spPr/>
        <p:txBody>
          <a:bodyPr/>
          <a:lstStyle/>
          <a:p>
            <a:r>
              <a:rPr lang="hu-HU" dirty="0">
                <a:solidFill>
                  <a:schemeClr val="bg1">
                    <a:lumMod val="95000"/>
                  </a:schemeClr>
                </a:solidFill>
              </a:rPr>
              <a:t>Iroda telephely</a:t>
            </a:r>
          </a:p>
        </p:txBody>
      </p:sp>
      <p:sp>
        <p:nvSpPr>
          <p:cNvPr id="3" name="Tartalom helye 2">
            <a:extLst>
              <a:ext uri="{FF2B5EF4-FFF2-40B4-BE49-F238E27FC236}">
                <a16:creationId xmlns:a16="http://schemas.microsoft.com/office/drawing/2014/main" id="{35E246F7-277D-19F7-1DDE-63CABD602ADC}"/>
              </a:ext>
            </a:extLst>
          </p:cNvPr>
          <p:cNvSpPr>
            <a:spLocks noGrp="1"/>
          </p:cNvSpPr>
          <p:nvPr>
            <p:ph idx="1"/>
          </p:nvPr>
        </p:nvSpPr>
        <p:spPr>
          <a:xfrm>
            <a:off x="838200" y="1825625"/>
            <a:ext cx="4385650" cy="4351338"/>
          </a:xfrm>
        </p:spPr>
        <p:txBody>
          <a:bodyPr/>
          <a:lstStyle/>
          <a:p>
            <a:r>
              <a:rPr lang="hu-HU" dirty="0">
                <a:solidFill>
                  <a:schemeClr val="bg1">
                    <a:lumMod val="95000"/>
                  </a:schemeClr>
                </a:solidFill>
              </a:rPr>
              <a:t>Könyvelési, adminisztratív feladatok</a:t>
            </a:r>
          </a:p>
          <a:p>
            <a:r>
              <a:rPr lang="hu-HU" dirty="0">
                <a:solidFill>
                  <a:schemeClr val="bg1">
                    <a:lumMod val="95000"/>
                  </a:schemeClr>
                </a:solidFill>
              </a:rPr>
              <a:t>HR/PR, kommunikáció</a:t>
            </a:r>
          </a:p>
        </p:txBody>
      </p:sp>
      <p:pic>
        <p:nvPicPr>
          <p:cNvPr id="5" name="Kép 4">
            <a:extLst>
              <a:ext uri="{FF2B5EF4-FFF2-40B4-BE49-F238E27FC236}">
                <a16:creationId xmlns:a16="http://schemas.microsoft.com/office/drawing/2014/main" id="{D093588F-960E-319F-7ABD-62F8F7ABC221}"/>
              </a:ext>
            </a:extLst>
          </p:cNvPr>
          <p:cNvPicPr>
            <a:picLocks noChangeAspect="1"/>
          </p:cNvPicPr>
          <p:nvPr/>
        </p:nvPicPr>
        <p:blipFill>
          <a:blip r:embed="rId3"/>
          <a:stretch>
            <a:fillRect/>
          </a:stretch>
        </p:blipFill>
        <p:spPr>
          <a:xfrm>
            <a:off x="5223850" y="1388709"/>
            <a:ext cx="6853017" cy="4722381"/>
          </a:xfrm>
          <a:prstGeom prst="rect">
            <a:avLst/>
          </a:prstGeom>
        </p:spPr>
      </p:pic>
    </p:spTree>
    <p:extLst>
      <p:ext uri="{BB962C8B-B14F-4D97-AF65-F5344CB8AC3E}">
        <p14:creationId xmlns:p14="http://schemas.microsoft.com/office/powerpoint/2010/main" val="3364957168"/>
      </p:ext>
    </p:extLst>
  </p:cSld>
  <p:clrMapOvr>
    <a:masterClrMapping/>
  </p:clrMapOvr>
  <mc:AlternateContent xmlns:mc="http://schemas.openxmlformats.org/markup-compatibility/2006" xmlns:p14="http://schemas.microsoft.com/office/powerpoint/2010/main">
    <mc:Choice Requires="p14">
      <p:transition spd="slow" p14:dur="1250">
        <p14:flip dir="r"/>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FACFB4-D0FD-0008-0E94-6DF337BD20BD}"/>
            </a:ext>
          </a:extLst>
        </p:cNvPr>
        <p:cNvGrpSpPr/>
        <p:nvPr/>
      </p:nvGrpSpPr>
      <p:grpSpPr>
        <a:xfrm>
          <a:off x="0" y="0"/>
          <a:ext cx="0" cy="0"/>
          <a:chOff x="0" y="0"/>
          <a:chExt cx="0" cy="0"/>
        </a:xfrm>
      </p:grpSpPr>
      <p:sp>
        <p:nvSpPr>
          <p:cNvPr id="2" name="Cím 1">
            <a:extLst>
              <a:ext uri="{FF2B5EF4-FFF2-40B4-BE49-F238E27FC236}">
                <a16:creationId xmlns:a16="http://schemas.microsoft.com/office/drawing/2014/main" id="{BB98206F-78CB-E7C8-DEA2-14F32D000587}"/>
              </a:ext>
            </a:extLst>
          </p:cNvPr>
          <p:cNvSpPr>
            <a:spLocks noGrp="1"/>
          </p:cNvSpPr>
          <p:nvPr>
            <p:ph type="title"/>
          </p:nvPr>
        </p:nvSpPr>
        <p:spPr/>
        <p:txBody>
          <a:bodyPr/>
          <a:lstStyle/>
          <a:p>
            <a:r>
              <a:rPr lang="hu-HU" dirty="0">
                <a:solidFill>
                  <a:schemeClr val="bg1">
                    <a:lumMod val="95000"/>
                  </a:schemeClr>
                </a:solidFill>
              </a:rPr>
              <a:t>Gyárüzem telephely</a:t>
            </a:r>
          </a:p>
        </p:txBody>
      </p:sp>
      <p:sp>
        <p:nvSpPr>
          <p:cNvPr id="3" name="Tartalom helye 2">
            <a:extLst>
              <a:ext uri="{FF2B5EF4-FFF2-40B4-BE49-F238E27FC236}">
                <a16:creationId xmlns:a16="http://schemas.microsoft.com/office/drawing/2014/main" id="{B1DD48A7-BCCC-8E97-F09D-AF6ECDD2996A}"/>
              </a:ext>
            </a:extLst>
          </p:cNvPr>
          <p:cNvSpPr>
            <a:spLocks noGrp="1"/>
          </p:cNvSpPr>
          <p:nvPr>
            <p:ph idx="1"/>
          </p:nvPr>
        </p:nvSpPr>
        <p:spPr/>
        <p:txBody>
          <a:bodyPr/>
          <a:lstStyle/>
          <a:p>
            <a:r>
              <a:rPr lang="hu-HU" dirty="0">
                <a:solidFill>
                  <a:schemeClr val="bg1">
                    <a:lumMod val="95000"/>
                  </a:schemeClr>
                </a:solidFill>
              </a:rPr>
              <a:t>Alkatrészek elkészítése</a:t>
            </a:r>
          </a:p>
          <a:p>
            <a:r>
              <a:rPr lang="hu-HU" dirty="0">
                <a:solidFill>
                  <a:schemeClr val="bg1">
                    <a:lumMod val="95000"/>
                  </a:schemeClr>
                </a:solidFill>
              </a:rPr>
              <a:t>Összeszerelés</a:t>
            </a:r>
          </a:p>
          <a:p>
            <a:r>
              <a:rPr lang="hu-HU" dirty="0">
                <a:solidFill>
                  <a:schemeClr val="bg1">
                    <a:lumMod val="95000"/>
                  </a:schemeClr>
                </a:solidFill>
              </a:rPr>
              <a:t>Csomagolás</a:t>
            </a:r>
          </a:p>
          <a:p>
            <a:r>
              <a:rPr lang="hu-HU" dirty="0">
                <a:solidFill>
                  <a:schemeClr val="bg1">
                    <a:lumMod val="95000"/>
                  </a:schemeClr>
                </a:solidFill>
              </a:rPr>
              <a:t>Minőség-ellenőrzés</a:t>
            </a:r>
          </a:p>
          <a:p>
            <a:r>
              <a:rPr lang="hu-HU" dirty="0">
                <a:solidFill>
                  <a:schemeClr val="bg1">
                    <a:lumMod val="95000"/>
                  </a:schemeClr>
                </a:solidFill>
              </a:rPr>
              <a:t>Vezeték nélküli hálózat, PDA-k</a:t>
            </a:r>
          </a:p>
          <a:p>
            <a:r>
              <a:rPr lang="hu-HU" dirty="0">
                <a:solidFill>
                  <a:schemeClr val="bg1">
                    <a:lumMod val="95000"/>
                  </a:schemeClr>
                </a:solidFill>
              </a:rPr>
              <a:t>Tűzfallal ellátott védelem</a:t>
            </a:r>
          </a:p>
          <a:p>
            <a:pPr marL="0" indent="0">
              <a:buNone/>
            </a:pPr>
            <a:endParaRPr lang="hu-HU" dirty="0">
              <a:solidFill>
                <a:schemeClr val="bg1">
                  <a:lumMod val="95000"/>
                </a:schemeClr>
              </a:solidFill>
            </a:endParaRPr>
          </a:p>
        </p:txBody>
      </p:sp>
      <p:pic>
        <p:nvPicPr>
          <p:cNvPr id="5" name="Kép 4">
            <a:extLst>
              <a:ext uri="{FF2B5EF4-FFF2-40B4-BE49-F238E27FC236}">
                <a16:creationId xmlns:a16="http://schemas.microsoft.com/office/drawing/2014/main" id="{6AA3B882-89AB-F494-974D-BE75506C9EE7}"/>
              </a:ext>
            </a:extLst>
          </p:cNvPr>
          <p:cNvPicPr>
            <a:picLocks noChangeAspect="1"/>
          </p:cNvPicPr>
          <p:nvPr/>
        </p:nvPicPr>
        <p:blipFill>
          <a:blip r:embed="rId3"/>
          <a:stretch>
            <a:fillRect/>
          </a:stretch>
        </p:blipFill>
        <p:spPr>
          <a:xfrm>
            <a:off x="5884861" y="1564386"/>
            <a:ext cx="6005236" cy="4873815"/>
          </a:xfrm>
          <a:prstGeom prst="rect">
            <a:avLst/>
          </a:prstGeom>
        </p:spPr>
      </p:pic>
    </p:spTree>
    <p:extLst>
      <p:ext uri="{BB962C8B-B14F-4D97-AF65-F5344CB8AC3E}">
        <p14:creationId xmlns:p14="http://schemas.microsoft.com/office/powerpoint/2010/main" val="491329237"/>
      </p:ext>
    </p:extLst>
  </p:cSld>
  <p:clrMapOvr>
    <a:masterClrMapping/>
  </p:clrMapOvr>
  <mc:AlternateContent xmlns:mc="http://schemas.openxmlformats.org/markup-compatibility/2006" xmlns:p14="http://schemas.microsoft.com/office/powerpoint/2010/main">
    <mc:Choice Requires="p14">
      <p:transition spd="slow" p14:dur="1250">
        <p14:flip dir="r"/>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C8599B-2AAC-9900-027F-8B8F6782A433}"/>
            </a:ext>
          </a:extLst>
        </p:cNvPr>
        <p:cNvGrpSpPr/>
        <p:nvPr/>
      </p:nvGrpSpPr>
      <p:grpSpPr>
        <a:xfrm>
          <a:off x="0" y="0"/>
          <a:ext cx="0" cy="0"/>
          <a:chOff x="0" y="0"/>
          <a:chExt cx="0" cy="0"/>
        </a:xfrm>
      </p:grpSpPr>
      <p:sp>
        <p:nvSpPr>
          <p:cNvPr id="2" name="Cím 1">
            <a:extLst>
              <a:ext uri="{FF2B5EF4-FFF2-40B4-BE49-F238E27FC236}">
                <a16:creationId xmlns:a16="http://schemas.microsoft.com/office/drawing/2014/main" id="{BF177505-E442-7FD5-801A-C5765C5F7DB0}"/>
              </a:ext>
            </a:extLst>
          </p:cNvPr>
          <p:cNvSpPr>
            <a:spLocks noGrp="1"/>
          </p:cNvSpPr>
          <p:nvPr>
            <p:ph type="title"/>
          </p:nvPr>
        </p:nvSpPr>
        <p:spPr/>
        <p:txBody>
          <a:bodyPr/>
          <a:lstStyle/>
          <a:p>
            <a:r>
              <a:rPr lang="hu-HU" dirty="0">
                <a:solidFill>
                  <a:schemeClr val="bg1">
                    <a:lumMod val="95000"/>
                  </a:schemeClr>
                </a:solidFill>
              </a:rPr>
              <a:t>Szaküzlet telephely</a:t>
            </a:r>
          </a:p>
        </p:txBody>
      </p:sp>
      <p:sp>
        <p:nvSpPr>
          <p:cNvPr id="3" name="Tartalom helye 2">
            <a:extLst>
              <a:ext uri="{FF2B5EF4-FFF2-40B4-BE49-F238E27FC236}">
                <a16:creationId xmlns:a16="http://schemas.microsoft.com/office/drawing/2014/main" id="{90C6840C-E5E4-DAE8-58C4-B10335A6B175}"/>
              </a:ext>
            </a:extLst>
          </p:cNvPr>
          <p:cNvSpPr>
            <a:spLocks noGrp="1"/>
          </p:cNvSpPr>
          <p:nvPr>
            <p:ph idx="1"/>
          </p:nvPr>
        </p:nvSpPr>
        <p:spPr/>
        <p:txBody>
          <a:bodyPr/>
          <a:lstStyle/>
          <a:p>
            <a:r>
              <a:rPr lang="hu-HU" dirty="0">
                <a:solidFill>
                  <a:schemeClr val="bg1">
                    <a:lumMod val="95000"/>
                  </a:schemeClr>
                </a:solidFill>
              </a:rPr>
              <a:t>Egyszerű de megbízható rendszer</a:t>
            </a:r>
          </a:p>
          <a:p>
            <a:r>
              <a:rPr lang="hu-HU" dirty="0">
                <a:solidFill>
                  <a:schemeClr val="bg1">
                    <a:lumMod val="95000"/>
                  </a:schemeClr>
                </a:solidFill>
              </a:rPr>
              <a:t>Értékesítési feladatok</a:t>
            </a:r>
          </a:p>
          <a:p>
            <a:r>
              <a:rPr lang="hu-HU" dirty="0">
                <a:solidFill>
                  <a:schemeClr val="bg1">
                    <a:lumMod val="95000"/>
                  </a:schemeClr>
                </a:solidFill>
              </a:rPr>
              <a:t>Szervízre beadott termékek</a:t>
            </a:r>
          </a:p>
        </p:txBody>
      </p:sp>
      <p:pic>
        <p:nvPicPr>
          <p:cNvPr id="5" name="Kép 4">
            <a:extLst>
              <a:ext uri="{FF2B5EF4-FFF2-40B4-BE49-F238E27FC236}">
                <a16:creationId xmlns:a16="http://schemas.microsoft.com/office/drawing/2014/main" id="{CE6D6FF8-C711-9219-0C0B-8C1AFF6477E3}"/>
              </a:ext>
            </a:extLst>
          </p:cNvPr>
          <p:cNvPicPr>
            <a:picLocks noChangeAspect="1"/>
          </p:cNvPicPr>
          <p:nvPr/>
        </p:nvPicPr>
        <p:blipFill>
          <a:blip r:embed="rId3"/>
          <a:stretch>
            <a:fillRect/>
          </a:stretch>
        </p:blipFill>
        <p:spPr>
          <a:xfrm>
            <a:off x="6676457" y="681036"/>
            <a:ext cx="4857657" cy="5922933"/>
          </a:xfrm>
          <a:prstGeom prst="rect">
            <a:avLst/>
          </a:prstGeom>
        </p:spPr>
      </p:pic>
    </p:spTree>
    <p:extLst>
      <p:ext uri="{BB962C8B-B14F-4D97-AF65-F5344CB8AC3E}">
        <p14:creationId xmlns:p14="http://schemas.microsoft.com/office/powerpoint/2010/main" val="1699285707"/>
      </p:ext>
    </p:extLst>
  </p:cSld>
  <p:clrMapOvr>
    <a:masterClrMapping/>
  </p:clrMapOvr>
  <mc:AlternateContent xmlns:mc="http://schemas.openxmlformats.org/markup-compatibility/2006" xmlns:p14="http://schemas.microsoft.com/office/powerpoint/2010/main">
    <mc:Choice Requires="p14">
      <p:transition spd="slow" p14:dur="1250">
        <p14:flip dir="r"/>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82C9A0-72A4-3A16-A98F-58104DA46AA1}"/>
            </a:ext>
          </a:extLst>
        </p:cNvPr>
        <p:cNvGrpSpPr/>
        <p:nvPr/>
      </p:nvGrpSpPr>
      <p:grpSpPr>
        <a:xfrm>
          <a:off x="0" y="0"/>
          <a:ext cx="0" cy="0"/>
          <a:chOff x="0" y="0"/>
          <a:chExt cx="0" cy="0"/>
        </a:xfrm>
      </p:grpSpPr>
      <p:sp>
        <p:nvSpPr>
          <p:cNvPr id="2" name="Cím 1">
            <a:extLst>
              <a:ext uri="{FF2B5EF4-FFF2-40B4-BE49-F238E27FC236}">
                <a16:creationId xmlns:a16="http://schemas.microsoft.com/office/drawing/2014/main" id="{33570EF0-1D3F-BE88-2900-FAB782213B49}"/>
              </a:ext>
            </a:extLst>
          </p:cNvPr>
          <p:cNvSpPr>
            <a:spLocks noGrp="1"/>
          </p:cNvSpPr>
          <p:nvPr>
            <p:ph type="title"/>
          </p:nvPr>
        </p:nvSpPr>
        <p:spPr/>
        <p:txBody>
          <a:bodyPr/>
          <a:lstStyle/>
          <a:p>
            <a:r>
              <a:rPr lang="hu-HU" dirty="0" err="1">
                <a:solidFill>
                  <a:schemeClr val="bg1">
                    <a:lumMod val="95000"/>
                  </a:schemeClr>
                </a:solidFill>
              </a:rPr>
              <a:t>OceanData</a:t>
            </a:r>
            <a:r>
              <a:rPr lang="hu-HU" dirty="0">
                <a:solidFill>
                  <a:schemeClr val="bg1">
                    <a:lumMod val="95000"/>
                  </a:schemeClr>
                </a:solidFill>
              </a:rPr>
              <a:t> adatközpont telephely</a:t>
            </a:r>
          </a:p>
        </p:txBody>
      </p:sp>
      <p:sp>
        <p:nvSpPr>
          <p:cNvPr id="3" name="Tartalom helye 2">
            <a:extLst>
              <a:ext uri="{FF2B5EF4-FFF2-40B4-BE49-F238E27FC236}">
                <a16:creationId xmlns:a16="http://schemas.microsoft.com/office/drawing/2014/main" id="{BFE3B07A-EAEF-F6F1-CADD-45EF1918062C}"/>
              </a:ext>
            </a:extLst>
          </p:cNvPr>
          <p:cNvSpPr>
            <a:spLocks noGrp="1"/>
          </p:cNvSpPr>
          <p:nvPr>
            <p:ph idx="1"/>
          </p:nvPr>
        </p:nvSpPr>
        <p:spPr>
          <a:xfrm>
            <a:off x="838200" y="1825625"/>
            <a:ext cx="4820216" cy="4351338"/>
          </a:xfrm>
        </p:spPr>
        <p:txBody>
          <a:bodyPr/>
          <a:lstStyle/>
          <a:p>
            <a:r>
              <a:rPr lang="hu-HU" dirty="0">
                <a:solidFill>
                  <a:schemeClr val="bg1">
                    <a:lumMod val="95000"/>
                  </a:schemeClr>
                </a:solidFill>
              </a:rPr>
              <a:t>Az összes telephely DNS kérései</a:t>
            </a:r>
          </a:p>
          <a:p>
            <a:r>
              <a:rPr lang="hu-HU" dirty="0">
                <a:solidFill>
                  <a:schemeClr val="bg1">
                    <a:lumMod val="95000"/>
                  </a:schemeClr>
                </a:solidFill>
              </a:rPr>
              <a:t>Fájlszerver, web- és adatbázis szolgáltatások</a:t>
            </a:r>
          </a:p>
          <a:p>
            <a:r>
              <a:rPr lang="hu-HU" dirty="0">
                <a:solidFill>
                  <a:schemeClr val="bg1">
                    <a:lumMod val="95000"/>
                  </a:schemeClr>
                </a:solidFill>
              </a:rPr>
              <a:t>Redundancia, skálázhatóság</a:t>
            </a:r>
          </a:p>
          <a:p>
            <a:r>
              <a:rPr lang="hu-HU" dirty="0">
                <a:solidFill>
                  <a:schemeClr val="bg1">
                    <a:lumMod val="95000"/>
                  </a:schemeClr>
                </a:solidFill>
              </a:rPr>
              <a:t>A legkomplexebb mind közül</a:t>
            </a:r>
          </a:p>
          <a:p>
            <a:endParaRPr lang="hu-HU" dirty="0">
              <a:solidFill>
                <a:schemeClr val="bg1">
                  <a:lumMod val="95000"/>
                </a:schemeClr>
              </a:solidFill>
            </a:endParaRPr>
          </a:p>
        </p:txBody>
      </p:sp>
      <p:pic>
        <p:nvPicPr>
          <p:cNvPr id="5" name="Kép 4">
            <a:extLst>
              <a:ext uri="{FF2B5EF4-FFF2-40B4-BE49-F238E27FC236}">
                <a16:creationId xmlns:a16="http://schemas.microsoft.com/office/drawing/2014/main" id="{B5E4B6CC-6DDE-0A1B-7642-20975F4F0670}"/>
              </a:ext>
            </a:extLst>
          </p:cNvPr>
          <p:cNvPicPr>
            <a:picLocks noChangeAspect="1"/>
          </p:cNvPicPr>
          <p:nvPr/>
        </p:nvPicPr>
        <p:blipFill>
          <a:blip r:embed="rId3"/>
          <a:stretch>
            <a:fillRect/>
          </a:stretch>
        </p:blipFill>
        <p:spPr>
          <a:xfrm>
            <a:off x="6403817" y="1281402"/>
            <a:ext cx="4351699" cy="5439623"/>
          </a:xfrm>
          <a:prstGeom prst="rect">
            <a:avLst/>
          </a:prstGeom>
        </p:spPr>
      </p:pic>
    </p:spTree>
    <p:extLst>
      <p:ext uri="{BB962C8B-B14F-4D97-AF65-F5344CB8AC3E}">
        <p14:creationId xmlns:p14="http://schemas.microsoft.com/office/powerpoint/2010/main" val="2063491799"/>
      </p:ext>
    </p:extLst>
  </p:cSld>
  <p:clrMapOvr>
    <a:masterClrMapping/>
  </p:clrMapOvr>
  <mc:AlternateContent xmlns:mc="http://schemas.openxmlformats.org/markup-compatibility/2006" xmlns:p14="http://schemas.microsoft.com/office/powerpoint/2010/main">
    <mc:Choice Requires="p14">
      <p:transition spd="slow" p14:dur="1250">
        <p14:flip dir="r"/>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68F1D4-D35A-34F7-12BC-E2094CA29086}"/>
            </a:ext>
          </a:extLst>
        </p:cNvPr>
        <p:cNvGrpSpPr/>
        <p:nvPr/>
      </p:nvGrpSpPr>
      <p:grpSpPr>
        <a:xfrm>
          <a:off x="0" y="0"/>
          <a:ext cx="0" cy="0"/>
          <a:chOff x="0" y="0"/>
          <a:chExt cx="0" cy="0"/>
        </a:xfrm>
      </p:grpSpPr>
      <p:sp>
        <p:nvSpPr>
          <p:cNvPr id="2" name="Cím 1">
            <a:extLst>
              <a:ext uri="{FF2B5EF4-FFF2-40B4-BE49-F238E27FC236}">
                <a16:creationId xmlns:a16="http://schemas.microsoft.com/office/drawing/2014/main" id="{3FD4D27B-5C7C-3CDB-A871-41B2E27CCCFD}"/>
              </a:ext>
            </a:extLst>
          </p:cNvPr>
          <p:cNvSpPr>
            <a:spLocks noGrp="1"/>
          </p:cNvSpPr>
          <p:nvPr>
            <p:ph type="title"/>
          </p:nvPr>
        </p:nvSpPr>
        <p:spPr/>
        <p:txBody>
          <a:bodyPr/>
          <a:lstStyle/>
          <a:p>
            <a:r>
              <a:rPr lang="hu-HU" dirty="0">
                <a:solidFill>
                  <a:schemeClr val="bg1">
                    <a:lumMod val="95000"/>
                  </a:schemeClr>
                </a:solidFill>
              </a:rPr>
              <a:t>Az internetszolgáltató leszimulálása</a:t>
            </a:r>
          </a:p>
        </p:txBody>
      </p:sp>
      <p:sp>
        <p:nvSpPr>
          <p:cNvPr id="3" name="Tartalom helye 2">
            <a:extLst>
              <a:ext uri="{FF2B5EF4-FFF2-40B4-BE49-F238E27FC236}">
                <a16:creationId xmlns:a16="http://schemas.microsoft.com/office/drawing/2014/main" id="{63D7429F-3D08-C8DF-6107-CAE6E72285A0}"/>
              </a:ext>
            </a:extLst>
          </p:cNvPr>
          <p:cNvSpPr>
            <a:spLocks noGrp="1"/>
          </p:cNvSpPr>
          <p:nvPr>
            <p:ph idx="1"/>
          </p:nvPr>
        </p:nvSpPr>
        <p:spPr>
          <a:xfrm>
            <a:off x="838200" y="1825625"/>
            <a:ext cx="4829269" cy="4351338"/>
          </a:xfrm>
        </p:spPr>
        <p:txBody>
          <a:bodyPr/>
          <a:lstStyle/>
          <a:p>
            <a:r>
              <a:rPr lang="hu-HU" dirty="0" err="1">
                <a:solidFill>
                  <a:schemeClr val="bg1">
                    <a:lumMod val="95000"/>
                  </a:schemeClr>
                </a:solidFill>
              </a:rPr>
              <a:t>Full</a:t>
            </a:r>
            <a:r>
              <a:rPr lang="hu-HU" dirty="0">
                <a:solidFill>
                  <a:schemeClr val="bg1">
                    <a:lumMod val="95000"/>
                  </a:schemeClr>
                </a:solidFill>
              </a:rPr>
              <a:t> </a:t>
            </a:r>
            <a:r>
              <a:rPr lang="hu-HU" dirty="0" err="1">
                <a:solidFill>
                  <a:schemeClr val="bg1">
                    <a:lumMod val="95000"/>
                  </a:schemeClr>
                </a:solidFill>
              </a:rPr>
              <a:t>mesh</a:t>
            </a:r>
            <a:r>
              <a:rPr lang="hu-HU" dirty="0">
                <a:solidFill>
                  <a:schemeClr val="bg1">
                    <a:lumMod val="95000"/>
                  </a:schemeClr>
                </a:solidFill>
              </a:rPr>
              <a:t> topológiás hálózat</a:t>
            </a:r>
          </a:p>
          <a:p>
            <a:r>
              <a:rPr lang="hu-HU" dirty="0">
                <a:solidFill>
                  <a:schemeClr val="bg1">
                    <a:lumMod val="95000"/>
                  </a:schemeClr>
                </a:solidFill>
              </a:rPr>
              <a:t>Minden telephelynek stabil hozzáférés</a:t>
            </a:r>
            <a:br>
              <a:rPr lang="hu-HU" dirty="0">
                <a:solidFill>
                  <a:schemeClr val="bg1">
                    <a:lumMod val="95000"/>
                  </a:schemeClr>
                </a:solidFill>
              </a:rPr>
            </a:br>
            <a:r>
              <a:rPr lang="hu-HU" dirty="0">
                <a:solidFill>
                  <a:schemeClr val="bg1">
                    <a:lumMod val="95000"/>
                  </a:schemeClr>
                </a:solidFill>
              </a:rPr>
              <a:t>a többi szervezeti egységhez</a:t>
            </a:r>
          </a:p>
          <a:p>
            <a:r>
              <a:rPr lang="hu-HU" dirty="0">
                <a:solidFill>
                  <a:schemeClr val="bg1">
                    <a:lumMod val="95000"/>
                  </a:schemeClr>
                </a:solidFill>
              </a:rPr>
              <a:t>EIGRP Cisco szabadalmaztatott </a:t>
            </a:r>
            <a:r>
              <a:rPr lang="hu-HU" dirty="0" err="1">
                <a:solidFill>
                  <a:schemeClr val="bg1">
                    <a:lumMod val="95000"/>
                  </a:schemeClr>
                </a:solidFill>
              </a:rPr>
              <a:t>protokol</a:t>
            </a:r>
            <a:endParaRPr lang="hu-HU" dirty="0">
              <a:solidFill>
                <a:schemeClr val="bg1">
                  <a:lumMod val="95000"/>
                </a:schemeClr>
              </a:solidFill>
            </a:endParaRPr>
          </a:p>
          <a:p>
            <a:pPr marL="0" indent="0">
              <a:buNone/>
            </a:pPr>
            <a:endParaRPr lang="hu-HU" dirty="0">
              <a:solidFill>
                <a:schemeClr val="bg1">
                  <a:lumMod val="95000"/>
                </a:schemeClr>
              </a:solidFill>
            </a:endParaRPr>
          </a:p>
        </p:txBody>
      </p:sp>
      <p:pic>
        <p:nvPicPr>
          <p:cNvPr id="5" name="Kép 4">
            <a:extLst>
              <a:ext uri="{FF2B5EF4-FFF2-40B4-BE49-F238E27FC236}">
                <a16:creationId xmlns:a16="http://schemas.microsoft.com/office/drawing/2014/main" id="{5B845ECF-55EF-5208-FDFD-5442D9EAF089}"/>
              </a:ext>
            </a:extLst>
          </p:cNvPr>
          <p:cNvPicPr>
            <a:picLocks noChangeAspect="1"/>
          </p:cNvPicPr>
          <p:nvPr/>
        </p:nvPicPr>
        <p:blipFill>
          <a:blip r:embed="rId3"/>
          <a:stretch>
            <a:fillRect/>
          </a:stretch>
        </p:blipFill>
        <p:spPr>
          <a:xfrm>
            <a:off x="5846003" y="1363898"/>
            <a:ext cx="6032144" cy="5244731"/>
          </a:xfrm>
          <a:prstGeom prst="rect">
            <a:avLst/>
          </a:prstGeom>
        </p:spPr>
      </p:pic>
    </p:spTree>
    <p:extLst>
      <p:ext uri="{BB962C8B-B14F-4D97-AF65-F5344CB8AC3E}">
        <p14:creationId xmlns:p14="http://schemas.microsoft.com/office/powerpoint/2010/main" val="953098188"/>
      </p:ext>
    </p:extLst>
  </p:cSld>
  <p:clrMapOvr>
    <a:masterClrMapping/>
  </p:clrMapOvr>
  <mc:AlternateContent xmlns:mc="http://schemas.openxmlformats.org/markup-compatibility/2006" xmlns:p14="http://schemas.microsoft.com/office/powerpoint/2010/main">
    <mc:Choice Requires="p14">
      <p:transition spd="slow" p14:dur="1250">
        <p14:flip dir="r"/>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81CC01-E8A1-9462-CF67-BC82BC769B9F}"/>
            </a:ext>
          </a:extLst>
        </p:cNvPr>
        <p:cNvGrpSpPr/>
        <p:nvPr/>
      </p:nvGrpSpPr>
      <p:grpSpPr>
        <a:xfrm>
          <a:off x="0" y="0"/>
          <a:ext cx="0" cy="0"/>
          <a:chOff x="0" y="0"/>
          <a:chExt cx="0" cy="0"/>
        </a:xfrm>
      </p:grpSpPr>
      <p:sp>
        <p:nvSpPr>
          <p:cNvPr id="2" name="Cím 1">
            <a:extLst>
              <a:ext uri="{FF2B5EF4-FFF2-40B4-BE49-F238E27FC236}">
                <a16:creationId xmlns:a16="http://schemas.microsoft.com/office/drawing/2014/main" id="{42974643-03D0-93B5-ED6D-94AA3B33A49B}"/>
              </a:ext>
            </a:extLst>
          </p:cNvPr>
          <p:cNvSpPr>
            <a:spLocks noGrp="1"/>
          </p:cNvSpPr>
          <p:nvPr>
            <p:ph type="title"/>
          </p:nvPr>
        </p:nvSpPr>
        <p:spPr/>
        <p:txBody>
          <a:bodyPr/>
          <a:lstStyle/>
          <a:p>
            <a:r>
              <a:rPr lang="hu-HU" dirty="0">
                <a:solidFill>
                  <a:schemeClr val="bg1">
                    <a:lumMod val="95000"/>
                  </a:schemeClr>
                </a:solidFill>
              </a:rPr>
              <a:t>Access </a:t>
            </a:r>
            <a:r>
              <a:rPr lang="hu-HU" dirty="0" err="1">
                <a:solidFill>
                  <a:schemeClr val="bg1">
                    <a:lumMod val="95000"/>
                  </a:schemeClr>
                </a:solidFill>
              </a:rPr>
              <a:t>Control</a:t>
            </a:r>
            <a:r>
              <a:rPr lang="hu-HU" dirty="0">
                <a:solidFill>
                  <a:schemeClr val="bg1">
                    <a:lumMod val="95000"/>
                  </a:schemeClr>
                </a:solidFill>
              </a:rPr>
              <a:t> List</a:t>
            </a:r>
          </a:p>
        </p:txBody>
      </p:sp>
      <p:sp>
        <p:nvSpPr>
          <p:cNvPr id="3" name="Tartalom helye 2">
            <a:extLst>
              <a:ext uri="{FF2B5EF4-FFF2-40B4-BE49-F238E27FC236}">
                <a16:creationId xmlns:a16="http://schemas.microsoft.com/office/drawing/2014/main" id="{D2F8345F-0C5A-C19F-CC81-8A2E4D60564C}"/>
              </a:ext>
            </a:extLst>
          </p:cNvPr>
          <p:cNvSpPr>
            <a:spLocks noGrp="1"/>
          </p:cNvSpPr>
          <p:nvPr>
            <p:ph idx="1"/>
          </p:nvPr>
        </p:nvSpPr>
        <p:spPr/>
        <p:txBody>
          <a:bodyPr/>
          <a:lstStyle/>
          <a:p>
            <a:r>
              <a:rPr lang="hu-HU" dirty="0">
                <a:solidFill>
                  <a:schemeClr val="bg1">
                    <a:lumMod val="95000"/>
                  </a:schemeClr>
                </a:solidFill>
              </a:rPr>
              <a:t> Hozzáférés-vezérlési lista</a:t>
            </a:r>
          </a:p>
          <a:p>
            <a:r>
              <a:rPr lang="hu-HU" dirty="0">
                <a:solidFill>
                  <a:schemeClr val="bg1">
                    <a:lumMod val="95000"/>
                  </a:schemeClr>
                </a:solidFill>
              </a:rPr>
              <a:t>Biztonsági, forgalomirányítási feladatokra alkalmas</a:t>
            </a:r>
          </a:p>
          <a:p>
            <a:r>
              <a:rPr lang="hu-HU" dirty="0">
                <a:solidFill>
                  <a:schemeClr val="bg1">
                    <a:lumMod val="95000"/>
                  </a:schemeClr>
                </a:solidFill>
              </a:rPr>
              <a:t>PAT-hoz is használatos</a:t>
            </a:r>
          </a:p>
          <a:p>
            <a:r>
              <a:rPr lang="hu-HU" dirty="0">
                <a:solidFill>
                  <a:schemeClr val="bg1">
                    <a:lumMod val="95000"/>
                  </a:schemeClr>
                </a:solidFill>
              </a:rPr>
              <a:t>Forgalomszűrés</a:t>
            </a:r>
          </a:p>
          <a:p>
            <a:endParaRPr lang="hu-HU" dirty="0">
              <a:solidFill>
                <a:schemeClr val="bg1">
                  <a:lumMod val="95000"/>
                </a:schemeClr>
              </a:solidFill>
            </a:endParaRPr>
          </a:p>
        </p:txBody>
      </p:sp>
      <p:pic>
        <p:nvPicPr>
          <p:cNvPr id="5" name="Kép 4">
            <a:extLst>
              <a:ext uri="{FF2B5EF4-FFF2-40B4-BE49-F238E27FC236}">
                <a16:creationId xmlns:a16="http://schemas.microsoft.com/office/drawing/2014/main" id="{9549DA89-236C-9918-3DAE-6BB658ED47DA}"/>
              </a:ext>
            </a:extLst>
          </p:cNvPr>
          <p:cNvPicPr>
            <a:picLocks noChangeAspect="1"/>
          </p:cNvPicPr>
          <p:nvPr/>
        </p:nvPicPr>
        <p:blipFill>
          <a:blip r:embed="rId3"/>
          <a:stretch>
            <a:fillRect/>
          </a:stretch>
        </p:blipFill>
        <p:spPr>
          <a:xfrm>
            <a:off x="6551935" y="2996737"/>
            <a:ext cx="4610743" cy="3315163"/>
          </a:xfrm>
          <a:prstGeom prst="rect">
            <a:avLst/>
          </a:prstGeom>
        </p:spPr>
      </p:pic>
    </p:spTree>
    <p:extLst>
      <p:ext uri="{BB962C8B-B14F-4D97-AF65-F5344CB8AC3E}">
        <p14:creationId xmlns:p14="http://schemas.microsoft.com/office/powerpoint/2010/main" val="3139469377"/>
      </p:ext>
    </p:extLst>
  </p:cSld>
  <p:clrMapOvr>
    <a:masterClrMapping/>
  </p:clrMapOvr>
  <p:transition spd="slow">
    <p:randomBar dir="vert"/>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90CD02-9BD3-9DBE-4C5C-F52719701024}"/>
            </a:ext>
          </a:extLst>
        </p:cNvPr>
        <p:cNvGrpSpPr/>
        <p:nvPr/>
      </p:nvGrpSpPr>
      <p:grpSpPr>
        <a:xfrm>
          <a:off x="0" y="0"/>
          <a:ext cx="0" cy="0"/>
          <a:chOff x="0" y="0"/>
          <a:chExt cx="0" cy="0"/>
        </a:xfrm>
      </p:grpSpPr>
      <p:sp>
        <p:nvSpPr>
          <p:cNvPr id="2" name="Cím 1">
            <a:extLst>
              <a:ext uri="{FF2B5EF4-FFF2-40B4-BE49-F238E27FC236}">
                <a16:creationId xmlns:a16="http://schemas.microsoft.com/office/drawing/2014/main" id="{F06379EB-D30D-AC00-C2FA-444A9710C18E}"/>
              </a:ext>
            </a:extLst>
          </p:cNvPr>
          <p:cNvSpPr>
            <a:spLocks noGrp="1"/>
          </p:cNvSpPr>
          <p:nvPr>
            <p:ph type="title"/>
          </p:nvPr>
        </p:nvSpPr>
        <p:spPr/>
        <p:txBody>
          <a:bodyPr/>
          <a:lstStyle/>
          <a:p>
            <a:r>
              <a:rPr lang="hu-HU" dirty="0">
                <a:solidFill>
                  <a:schemeClr val="bg1">
                    <a:lumMod val="95000"/>
                  </a:schemeClr>
                </a:solidFill>
              </a:rPr>
              <a:t>DHCP</a:t>
            </a:r>
          </a:p>
        </p:txBody>
      </p:sp>
      <p:sp>
        <p:nvSpPr>
          <p:cNvPr id="3" name="Tartalom helye 2">
            <a:extLst>
              <a:ext uri="{FF2B5EF4-FFF2-40B4-BE49-F238E27FC236}">
                <a16:creationId xmlns:a16="http://schemas.microsoft.com/office/drawing/2014/main" id="{8B582D63-F593-90ED-C1B7-F7BFBFFFBF06}"/>
              </a:ext>
            </a:extLst>
          </p:cNvPr>
          <p:cNvSpPr>
            <a:spLocks noGrp="1"/>
          </p:cNvSpPr>
          <p:nvPr>
            <p:ph idx="1"/>
          </p:nvPr>
        </p:nvSpPr>
        <p:spPr/>
        <p:txBody>
          <a:bodyPr/>
          <a:lstStyle/>
          <a:p>
            <a:r>
              <a:rPr lang="hu-HU" dirty="0">
                <a:solidFill>
                  <a:schemeClr val="bg1">
                    <a:lumMod val="95000"/>
                  </a:schemeClr>
                </a:solidFill>
              </a:rPr>
              <a:t>hálózati címek, átjárók és DNS </a:t>
            </a:r>
            <a:br>
              <a:rPr lang="hu-HU" dirty="0">
                <a:solidFill>
                  <a:schemeClr val="bg1">
                    <a:lumMod val="95000"/>
                  </a:schemeClr>
                </a:solidFill>
              </a:rPr>
            </a:br>
            <a:r>
              <a:rPr lang="hu-HU" dirty="0">
                <a:solidFill>
                  <a:schemeClr val="bg1">
                    <a:lumMod val="95000"/>
                  </a:schemeClr>
                </a:solidFill>
              </a:rPr>
              <a:t>szerverek automatikus kisosztása</a:t>
            </a:r>
          </a:p>
          <a:p>
            <a:r>
              <a:rPr lang="hu-HU" dirty="0">
                <a:solidFill>
                  <a:schemeClr val="bg1">
                    <a:lumMod val="95000"/>
                  </a:schemeClr>
                </a:solidFill>
              </a:rPr>
              <a:t>jelentős időspórolás, </a:t>
            </a:r>
            <a:br>
              <a:rPr lang="hu-HU" dirty="0">
                <a:solidFill>
                  <a:schemeClr val="bg1">
                    <a:lumMod val="95000"/>
                  </a:schemeClr>
                </a:solidFill>
              </a:rPr>
            </a:br>
            <a:r>
              <a:rPr lang="hu-HU" dirty="0">
                <a:solidFill>
                  <a:schemeClr val="bg1">
                    <a:lumMod val="95000"/>
                  </a:schemeClr>
                </a:solidFill>
              </a:rPr>
              <a:t>és emberi hibalehetőség kiiktatása</a:t>
            </a:r>
          </a:p>
          <a:p>
            <a:endParaRPr lang="hu-HU" dirty="0">
              <a:solidFill>
                <a:schemeClr val="bg1">
                  <a:lumMod val="95000"/>
                </a:schemeClr>
              </a:solidFill>
            </a:endParaRPr>
          </a:p>
        </p:txBody>
      </p:sp>
      <p:pic>
        <p:nvPicPr>
          <p:cNvPr id="5" name="Kép 4">
            <a:extLst>
              <a:ext uri="{FF2B5EF4-FFF2-40B4-BE49-F238E27FC236}">
                <a16:creationId xmlns:a16="http://schemas.microsoft.com/office/drawing/2014/main" id="{5063F815-817A-A550-227D-B65003B619E0}"/>
              </a:ext>
            </a:extLst>
          </p:cNvPr>
          <p:cNvPicPr>
            <a:picLocks noChangeAspect="1"/>
          </p:cNvPicPr>
          <p:nvPr/>
        </p:nvPicPr>
        <p:blipFill>
          <a:blip r:embed="rId3"/>
          <a:stretch>
            <a:fillRect/>
          </a:stretch>
        </p:blipFill>
        <p:spPr>
          <a:xfrm>
            <a:off x="6867866" y="1447831"/>
            <a:ext cx="4843380" cy="5015620"/>
          </a:xfrm>
          <a:prstGeom prst="rect">
            <a:avLst/>
          </a:prstGeom>
        </p:spPr>
      </p:pic>
    </p:spTree>
    <p:extLst>
      <p:ext uri="{BB962C8B-B14F-4D97-AF65-F5344CB8AC3E}">
        <p14:creationId xmlns:p14="http://schemas.microsoft.com/office/powerpoint/2010/main" val="2372841003"/>
      </p:ext>
    </p:extLst>
  </p:cSld>
  <p:clrMapOvr>
    <a:masterClrMapping/>
  </p:clrMapOvr>
  <p:transition spd="slow">
    <p:randomBar dir="vert"/>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3D2EB8-D3B7-649E-C0C0-8ADDF18591C4}"/>
            </a:ext>
          </a:extLst>
        </p:cNvPr>
        <p:cNvGrpSpPr/>
        <p:nvPr/>
      </p:nvGrpSpPr>
      <p:grpSpPr>
        <a:xfrm>
          <a:off x="0" y="0"/>
          <a:ext cx="0" cy="0"/>
          <a:chOff x="0" y="0"/>
          <a:chExt cx="0" cy="0"/>
        </a:xfrm>
      </p:grpSpPr>
      <p:sp>
        <p:nvSpPr>
          <p:cNvPr id="2" name="Cím 1">
            <a:extLst>
              <a:ext uri="{FF2B5EF4-FFF2-40B4-BE49-F238E27FC236}">
                <a16:creationId xmlns:a16="http://schemas.microsoft.com/office/drawing/2014/main" id="{46C864BC-3353-58E4-ACF2-19FB76927851}"/>
              </a:ext>
            </a:extLst>
          </p:cNvPr>
          <p:cNvSpPr>
            <a:spLocks noGrp="1"/>
          </p:cNvSpPr>
          <p:nvPr>
            <p:ph type="title"/>
          </p:nvPr>
        </p:nvSpPr>
        <p:spPr/>
        <p:txBody>
          <a:bodyPr/>
          <a:lstStyle/>
          <a:p>
            <a:r>
              <a:rPr lang="hu-HU" dirty="0">
                <a:solidFill>
                  <a:schemeClr val="bg1">
                    <a:lumMod val="95000"/>
                  </a:schemeClr>
                </a:solidFill>
              </a:rPr>
              <a:t>DHCP </a:t>
            </a:r>
            <a:r>
              <a:rPr lang="hu-HU" dirty="0" err="1">
                <a:solidFill>
                  <a:schemeClr val="bg1">
                    <a:lumMod val="95000"/>
                  </a:schemeClr>
                </a:solidFill>
              </a:rPr>
              <a:t>Snooping</a:t>
            </a:r>
            <a:endParaRPr lang="hu-HU" dirty="0">
              <a:solidFill>
                <a:schemeClr val="bg1">
                  <a:lumMod val="95000"/>
                </a:schemeClr>
              </a:solidFill>
            </a:endParaRPr>
          </a:p>
        </p:txBody>
      </p:sp>
      <p:sp>
        <p:nvSpPr>
          <p:cNvPr id="3" name="Tartalom helye 2">
            <a:extLst>
              <a:ext uri="{FF2B5EF4-FFF2-40B4-BE49-F238E27FC236}">
                <a16:creationId xmlns:a16="http://schemas.microsoft.com/office/drawing/2014/main" id="{3BD31C7E-E614-9516-BD85-24CF66FA727F}"/>
              </a:ext>
            </a:extLst>
          </p:cNvPr>
          <p:cNvSpPr>
            <a:spLocks noGrp="1"/>
          </p:cNvSpPr>
          <p:nvPr>
            <p:ph idx="1"/>
          </p:nvPr>
        </p:nvSpPr>
        <p:spPr>
          <a:xfrm>
            <a:off x="838200" y="1825625"/>
            <a:ext cx="5381531" cy="4351338"/>
          </a:xfrm>
        </p:spPr>
        <p:txBody>
          <a:bodyPr/>
          <a:lstStyle/>
          <a:p>
            <a:r>
              <a:rPr lang="hu-HU" dirty="0">
                <a:solidFill>
                  <a:schemeClr val="bg1">
                    <a:lumMod val="95000"/>
                  </a:schemeClr>
                </a:solidFill>
              </a:rPr>
              <a:t>Megakadályozza, hogy illetéktelen </a:t>
            </a:r>
            <a:br>
              <a:rPr lang="hu-HU" dirty="0">
                <a:solidFill>
                  <a:schemeClr val="bg1">
                    <a:lumMod val="95000"/>
                  </a:schemeClr>
                </a:solidFill>
              </a:rPr>
            </a:br>
            <a:r>
              <a:rPr lang="hu-HU" dirty="0">
                <a:solidFill>
                  <a:schemeClr val="bg1">
                    <a:lumMod val="95000"/>
                  </a:schemeClr>
                </a:solidFill>
              </a:rPr>
              <a:t>személyek DHCP szerverként adják ki magukat</a:t>
            </a:r>
          </a:p>
          <a:p>
            <a:r>
              <a:rPr lang="en-US" dirty="0">
                <a:solidFill>
                  <a:schemeClr val="bg1">
                    <a:lumMod val="95000"/>
                  </a:schemeClr>
                </a:solidFill>
              </a:rPr>
              <a:t>„Man in the Middle” </a:t>
            </a:r>
            <a:r>
              <a:rPr lang="en-US" dirty="0" err="1">
                <a:solidFill>
                  <a:schemeClr val="bg1">
                    <a:lumMod val="95000"/>
                  </a:schemeClr>
                </a:solidFill>
              </a:rPr>
              <a:t>támad</a:t>
            </a:r>
            <a:r>
              <a:rPr lang="hu-HU" dirty="0">
                <a:solidFill>
                  <a:schemeClr val="bg1">
                    <a:lumMod val="95000"/>
                  </a:schemeClr>
                </a:solidFill>
              </a:rPr>
              <a:t>ások megakadályozása</a:t>
            </a:r>
          </a:p>
        </p:txBody>
      </p:sp>
      <p:pic>
        <p:nvPicPr>
          <p:cNvPr id="5" name="Kép 4">
            <a:extLst>
              <a:ext uri="{FF2B5EF4-FFF2-40B4-BE49-F238E27FC236}">
                <a16:creationId xmlns:a16="http://schemas.microsoft.com/office/drawing/2014/main" id="{74BDD246-62B6-ED3E-1254-2ED0BDA8063B}"/>
              </a:ext>
            </a:extLst>
          </p:cNvPr>
          <p:cNvPicPr>
            <a:picLocks noChangeAspect="1"/>
          </p:cNvPicPr>
          <p:nvPr/>
        </p:nvPicPr>
        <p:blipFill>
          <a:blip r:embed="rId3"/>
          <a:stretch>
            <a:fillRect/>
          </a:stretch>
        </p:blipFill>
        <p:spPr>
          <a:xfrm>
            <a:off x="6219731" y="1482458"/>
            <a:ext cx="5134069" cy="5050513"/>
          </a:xfrm>
          <a:prstGeom prst="rect">
            <a:avLst/>
          </a:prstGeom>
        </p:spPr>
      </p:pic>
    </p:spTree>
    <p:extLst>
      <p:ext uri="{BB962C8B-B14F-4D97-AF65-F5344CB8AC3E}">
        <p14:creationId xmlns:p14="http://schemas.microsoft.com/office/powerpoint/2010/main" val="1841609576"/>
      </p:ext>
    </p:extLst>
  </p:cSld>
  <p:clrMapOvr>
    <a:masterClrMapping/>
  </p:clrMapOvr>
  <p:transition spd="slow">
    <p:randomBar dir="vert"/>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208A31-829C-4DE6-9CDA-836FD0558462}"/>
            </a:ext>
          </a:extLst>
        </p:cNvPr>
        <p:cNvGrpSpPr/>
        <p:nvPr/>
      </p:nvGrpSpPr>
      <p:grpSpPr>
        <a:xfrm>
          <a:off x="0" y="0"/>
          <a:ext cx="0" cy="0"/>
          <a:chOff x="0" y="0"/>
          <a:chExt cx="0" cy="0"/>
        </a:xfrm>
      </p:grpSpPr>
      <p:sp>
        <p:nvSpPr>
          <p:cNvPr id="2" name="Cím 1">
            <a:extLst>
              <a:ext uri="{FF2B5EF4-FFF2-40B4-BE49-F238E27FC236}">
                <a16:creationId xmlns:a16="http://schemas.microsoft.com/office/drawing/2014/main" id="{A3FDDBA1-5BCF-9E6D-78E1-842833D80150}"/>
              </a:ext>
            </a:extLst>
          </p:cNvPr>
          <p:cNvSpPr>
            <a:spLocks noGrp="1"/>
          </p:cNvSpPr>
          <p:nvPr>
            <p:ph type="title"/>
          </p:nvPr>
        </p:nvSpPr>
        <p:spPr/>
        <p:txBody>
          <a:bodyPr/>
          <a:lstStyle/>
          <a:p>
            <a:r>
              <a:rPr lang="hu-HU" dirty="0">
                <a:solidFill>
                  <a:schemeClr val="bg1">
                    <a:lumMod val="95000"/>
                  </a:schemeClr>
                </a:solidFill>
              </a:rPr>
              <a:t>GRE </a:t>
            </a:r>
            <a:r>
              <a:rPr lang="hu-HU" dirty="0" err="1">
                <a:solidFill>
                  <a:schemeClr val="bg1">
                    <a:lumMod val="95000"/>
                  </a:schemeClr>
                </a:solidFill>
              </a:rPr>
              <a:t>Tunnel</a:t>
            </a:r>
            <a:endParaRPr lang="hu-HU" dirty="0">
              <a:solidFill>
                <a:schemeClr val="bg1">
                  <a:lumMod val="95000"/>
                </a:schemeClr>
              </a:solidFill>
            </a:endParaRPr>
          </a:p>
        </p:txBody>
      </p:sp>
      <p:sp>
        <p:nvSpPr>
          <p:cNvPr id="3" name="Tartalom helye 2">
            <a:extLst>
              <a:ext uri="{FF2B5EF4-FFF2-40B4-BE49-F238E27FC236}">
                <a16:creationId xmlns:a16="http://schemas.microsoft.com/office/drawing/2014/main" id="{29FCEAED-F530-633F-10FE-0EF4F8CBA770}"/>
              </a:ext>
            </a:extLst>
          </p:cNvPr>
          <p:cNvSpPr>
            <a:spLocks noGrp="1"/>
          </p:cNvSpPr>
          <p:nvPr>
            <p:ph idx="1"/>
          </p:nvPr>
        </p:nvSpPr>
        <p:spPr>
          <a:xfrm>
            <a:off x="838200" y="1825625"/>
            <a:ext cx="4403103" cy="4351338"/>
          </a:xfrm>
        </p:spPr>
        <p:txBody>
          <a:bodyPr/>
          <a:lstStyle/>
          <a:p>
            <a:r>
              <a:rPr lang="hu-HU" dirty="0">
                <a:solidFill>
                  <a:schemeClr val="bg1">
                    <a:lumMod val="95000"/>
                  </a:schemeClr>
                </a:solidFill>
              </a:rPr>
              <a:t>Tökéletes megoldás a VPN kapcsolatok felállítására</a:t>
            </a:r>
          </a:p>
          <a:p>
            <a:r>
              <a:rPr lang="hu-HU" dirty="0">
                <a:solidFill>
                  <a:schemeClr val="bg1">
                    <a:lumMod val="95000"/>
                  </a:schemeClr>
                </a:solidFill>
              </a:rPr>
              <a:t>Forgalom biztonságos, titkosított mozgatása</a:t>
            </a:r>
          </a:p>
          <a:p>
            <a:r>
              <a:rPr lang="hu-HU" dirty="0">
                <a:solidFill>
                  <a:schemeClr val="bg1">
                    <a:lumMod val="95000"/>
                  </a:schemeClr>
                </a:solidFill>
              </a:rPr>
              <a:t>Logikai </a:t>
            </a:r>
            <a:r>
              <a:rPr lang="hu-HU" dirty="0" err="1">
                <a:solidFill>
                  <a:schemeClr val="bg1">
                    <a:lumMod val="95000"/>
                  </a:schemeClr>
                </a:solidFill>
              </a:rPr>
              <a:t>Point-to-Point</a:t>
            </a:r>
            <a:r>
              <a:rPr lang="hu-HU" dirty="0">
                <a:solidFill>
                  <a:schemeClr val="bg1">
                    <a:lumMod val="95000"/>
                  </a:schemeClr>
                </a:solidFill>
              </a:rPr>
              <a:t> kapcsolat</a:t>
            </a:r>
          </a:p>
        </p:txBody>
      </p:sp>
      <p:pic>
        <p:nvPicPr>
          <p:cNvPr id="5" name="Kép 4">
            <a:extLst>
              <a:ext uri="{FF2B5EF4-FFF2-40B4-BE49-F238E27FC236}">
                <a16:creationId xmlns:a16="http://schemas.microsoft.com/office/drawing/2014/main" id="{A6578C7A-CA40-3787-7E05-8C9D4F4F19EF}"/>
              </a:ext>
            </a:extLst>
          </p:cNvPr>
          <p:cNvPicPr>
            <a:picLocks noChangeAspect="1"/>
          </p:cNvPicPr>
          <p:nvPr/>
        </p:nvPicPr>
        <p:blipFill>
          <a:blip r:embed="rId3"/>
          <a:stretch>
            <a:fillRect/>
          </a:stretch>
        </p:blipFill>
        <p:spPr>
          <a:xfrm>
            <a:off x="5316334" y="1188162"/>
            <a:ext cx="6715008" cy="4920407"/>
          </a:xfrm>
          <a:prstGeom prst="rect">
            <a:avLst/>
          </a:prstGeom>
        </p:spPr>
      </p:pic>
    </p:spTree>
    <p:extLst>
      <p:ext uri="{BB962C8B-B14F-4D97-AF65-F5344CB8AC3E}">
        <p14:creationId xmlns:p14="http://schemas.microsoft.com/office/powerpoint/2010/main" val="445804138"/>
      </p:ext>
    </p:extLst>
  </p:cSld>
  <p:clrMapOvr>
    <a:masterClrMapping/>
  </p:clrMapOvr>
  <p:transition spd="slow">
    <p:randomBar dir="vert"/>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6806BF-830A-2BA5-B40C-CC141AA89A7C}"/>
            </a:ext>
          </a:extLst>
        </p:cNvPr>
        <p:cNvGrpSpPr/>
        <p:nvPr/>
      </p:nvGrpSpPr>
      <p:grpSpPr>
        <a:xfrm>
          <a:off x="0" y="0"/>
          <a:ext cx="0" cy="0"/>
          <a:chOff x="0" y="0"/>
          <a:chExt cx="0" cy="0"/>
        </a:xfrm>
      </p:grpSpPr>
      <p:sp>
        <p:nvSpPr>
          <p:cNvPr id="2" name="Cím 1">
            <a:extLst>
              <a:ext uri="{FF2B5EF4-FFF2-40B4-BE49-F238E27FC236}">
                <a16:creationId xmlns:a16="http://schemas.microsoft.com/office/drawing/2014/main" id="{F9AFFB42-D26A-6FDE-1279-7B4A3B83EF71}"/>
              </a:ext>
            </a:extLst>
          </p:cNvPr>
          <p:cNvSpPr>
            <a:spLocks noGrp="1"/>
          </p:cNvSpPr>
          <p:nvPr>
            <p:ph type="title"/>
          </p:nvPr>
        </p:nvSpPr>
        <p:spPr/>
        <p:txBody>
          <a:bodyPr/>
          <a:lstStyle/>
          <a:p>
            <a:r>
              <a:rPr lang="hu-HU" dirty="0">
                <a:solidFill>
                  <a:schemeClr val="bg1">
                    <a:lumMod val="95000"/>
                  </a:schemeClr>
                </a:solidFill>
              </a:rPr>
              <a:t>Hot </a:t>
            </a:r>
            <a:r>
              <a:rPr lang="hu-HU" dirty="0" err="1">
                <a:solidFill>
                  <a:schemeClr val="bg1">
                    <a:lumMod val="95000"/>
                  </a:schemeClr>
                </a:solidFill>
              </a:rPr>
              <a:t>Standby</a:t>
            </a:r>
            <a:r>
              <a:rPr lang="hu-HU" dirty="0">
                <a:solidFill>
                  <a:schemeClr val="bg1">
                    <a:lumMod val="95000"/>
                  </a:schemeClr>
                </a:solidFill>
              </a:rPr>
              <a:t> </a:t>
            </a:r>
            <a:r>
              <a:rPr lang="hu-HU" dirty="0" err="1">
                <a:solidFill>
                  <a:schemeClr val="bg1">
                    <a:lumMod val="95000"/>
                  </a:schemeClr>
                </a:solidFill>
              </a:rPr>
              <a:t>Routing</a:t>
            </a:r>
            <a:r>
              <a:rPr lang="hu-HU" dirty="0">
                <a:solidFill>
                  <a:schemeClr val="bg1">
                    <a:lumMod val="95000"/>
                  </a:schemeClr>
                </a:solidFill>
              </a:rPr>
              <a:t> </a:t>
            </a:r>
            <a:r>
              <a:rPr lang="hu-HU" dirty="0" err="1">
                <a:solidFill>
                  <a:schemeClr val="bg1">
                    <a:lumMod val="95000"/>
                  </a:schemeClr>
                </a:solidFill>
              </a:rPr>
              <a:t>Protocol</a:t>
            </a:r>
            <a:endParaRPr lang="hu-HU" dirty="0">
              <a:solidFill>
                <a:schemeClr val="bg1">
                  <a:lumMod val="95000"/>
                </a:schemeClr>
              </a:solidFill>
            </a:endParaRPr>
          </a:p>
        </p:txBody>
      </p:sp>
      <p:sp>
        <p:nvSpPr>
          <p:cNvPr id="3" name="Tartalom helye 2">
            <a:extLst>
              <a:ext uri="{FF2B5EF4-FFF2-40B4-BE49-F238E27FC236}">
                <a16:creationId xmlns:a16="http://schemas.microsoft.com/office/drawing/2014/main" id="{A71B7721-344D-F527-CB58-8BE2E511C50F}"/>
              </a:ext>
            </a:extLst>
          </p:cNvPr>
          <p:cNvSpPr>
            <a:spLocks noGrp="1"/>
          </p:cNvSpPr>
          <p:nvPr>
            <p:ph idx="1"/>
          </p:nvPr>
        </p:nvSpPr>
        <p:spPr>
          <a:xfrm>
            <a:off x="838200" y="1825625"/>
            <a:ext cx="5100687" cy="4351338"/>
          </a:xfrm>
        </p:spPr>
        <p:txBody>
          <a:bodyPr/>
          <a:lstStyle/>
          <a:p>
            <a:r>
              <a:rPr lang="hu-HU" dirty="0">
                <a:solidFill>
                  <a:schemeClr val="bg1">
                    <a:lumMod val="95000"/>
                  </a:schemeClr>
                </a:solidFill>
              </a:rPr>
              <a:t>Redundáns alapátjáró kezelése</a:t>
            </a:r>
          </a:p>
          <a:p>
            <a:r>
              <a:rPr lang="hu-HU" dirty="0">
                <a:solidFill>
                  <a:schemeClr val="bg1">
                    <a:lumMod val="95000"/>
                  </a:schemeClr>
                </a:solidFill>
              </a:rPr>
              <a:t>Közös logikai kapcsolat</a:t>
            </a:r>
          </a:p>
          <a:p>
            <a:r>
              <a:rPr lang="hu-HU" dirty="0">
                <a:solidFill>
                  <a:schemeClr val="bg1">
                    <a:lumMod val="95000"/>
                  </a:schemeClr>
                </a:solidFill>
              </a:rPr>
              <a:t>Egymás fizikai állapotát figyelik</a:t>
            </a:r>
          </a:p>
          <a:p>
            <a:r>
              <a:rPr lang="hu-HU" dirty="0">
                <a:solidFill>
                  <a:schemeClr val="bg1">
                    <a:lumMod val="95000"/>
                  </a:schemeClr>
                </a:solidFill>
              </a:rPr>
              <a:t> A forgalom iránya változik, ha valamelyik fizikai link lekapcsol, vagy meghibásodik.</a:t>
            </a:r>
          </a:p>
          <a:p>
            <a:pPr marL="0" indent="0">
              <a:buNone/>
            </a:pPr>
            <a:endParaRPr lang="hu-HU" dirty="0">
              <a:solidFill>
                <a:schemeClr val="bg1">
                  <a:lumMod val="95000"/>
                </a:schemeClr>
              </a:solidFill>
            </a:endParaRPr>
          </a:p>
        </p:txBody>
      </p:sp>
      <p:pic>
        <p:nvPicPr>
          <p:cNvPr id="5" name="Kép 4">
            <a:extLst>
              <a:ext uri="{FF2B5EF4-FFF2-40B4-BE49-F238E27FC236}">
                <a16:creationId xmlns:a16="http://schemas.microsoft.com/office/drawing/2014/main" id="{5D61ECBD-0751-604D-470A-58F696B68A7B}"/>
              </a:ext>
            </a:extLst>
          </p:cNvPr>
          <p:cNvPicPr>
            <a:picLocks noChangeAspect="1"/>
          </p:cNvPicPr>
          <p:nvPr/>
        </p:nvPicPr>
        <p:blipFill>
          <a:blip r:embed="rId3"/>
          <a:stretch>
            <a:fillRect/>
          </a:stretch>
        </p:blipFill>
        <p:spPr>
          <a:xfrm>
            <a:off x="5185497" y="1530431"/>
            <a:ext cx="6625287" cy="2541947"/>
          </a:xfrm>
          <a:prstGeom prst="rect">
            <a:avLst/>
          </a:prstGeom>
        </p:spPr>
      </p:pic>
    </p:spTree>
    <p:extLst>
      <p:ext uri="{BB962C8B-B14F-4D97-AF65-F5344CB8AC3E}">
        <p14:creationId xmlns:p14="http://schemas.microsoft.com/office/powerpoint/2010/main" val="24587251"/>
      </p:ext>
    </p:extLst>
  </p:cSld>
  <p:clrMapOvr>
    <a:masterClrMapping/>
  </p:clrMapOvr>
  <p:transition spd="slow">
    <p:randomBar dir="vert"/>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2E3B37-07E3-7A12-8EB5-90B7778C3B31}"/>
            </a:ext>
          </a:extLst>
        </p:cNvPr>
        <p:cNvGrpSpPr/>
        <p:nvPr/>
      </p:nvGrpSpPr>
      <p:grpSpPr>
        <a:xfrm>
          <a:off x="0" y="0"/>
          <a:ext cx="0" cy="0"/>
          <a:chOff x="0" y="0"/>
          <a:chExt cx="0" cy="0"/>
        </a:xfrm>
      </p:grpSpPr>
      <p:sp>
        <p:nvSpPr>
          <p:cNvPr id="2" name="Cím 1">
            <a:extLst>
              <a:ext uri="{FF2B5EF4-FFF2-40B4-BE49-F238E27FC236}">
                <a16:creationId xmlns:a16="http://schemas.microsoft.com/office/drawing/2014/main" id="{26004866-5428-F78C-DD69-B229732A6980}"/>
              </a:ext>
            </a:extLst>
          </p:cNvPr>
          <p:cNvSpPr>
            <a:spLocks noGrp="1"/>
          </p:cNvSpPr>
          <p:nvPr>
            <p:ph type="title"/>
          </p:nvPr>
        </p:nvSpPr>
        <p:spPr/>
        <p:txBody>
          <a:bodyPr/>
          <a:lstStyle/>
          <a:p>
            <a:r>
              <a:rPr lang="hu-HU" dirty="0">
                <a:solidFill>
                  <a:schemeClr val="bg1">
                    <a:lumMod val="95000"/>
                  </a:schemeClr>
                </a:solidFill>
              </a:rPr>
              <a:t>Network </a:t>
            </a:r>
            <a:r>
              <a:rPr lang="hu-HU" dirty="0" err="1">
                <a:solidFill>
                  <a:schemeClr val="bg1">
                    <a:lumMod val="95000"/>
                  </a:schemeClr>
                </a:solidFill>
              </a:rPr>
              <a:t>Address</a:t>
            </a:r>
            <a:r>
              <a:rPr lang="hu-HU" dirty="0">
                <a:solidFill>
                  <a:schemeClr val="bg1">
                    <a:lumMod val="95000"/>
                  </a:schemeClr>
                </a:solidFill>
              </a:rPr>
              <a:t> </a:t>
            </a:r>
            <a:r>
              <a:rPr lang="hu-HU" dirty="0" err="1">
                <a:solidFill>
                  <a:schemeClr val="bg1">
                    <a:lumMod val="95000"/>
                  </a:schemeClr>
                </a:solidFill>
              </a:rPr>
              <a:t>Translation</a:t>
            </a:r>
            <a:r>
              <a:rPr lang="hu-HU" dirty="0">
                <a:solidFill>
                  <a:schemeClr val="bg1">
                    <a:lumMod val="95000"/>
                  </a:schemeClr>
                </a:solidFill>
              </a:rPr>
              <a:t>, Port </a:t>
            </a:r>
            <a:r>
              <a:rPr lang="hu-HU" dirty="0" err="1">
                <a:solidFill>
                  <a:schemeClr val="bg1">
                    <a:lumMod val="95000"/>
                  </a:schemeClr>
                </a:solidFill>
              </a:rPr>
              <a:t>Address</a:t>
            </a:r>
            <a:r>
              <a:rPr lang="hu-HU" dirty="0">
                <a:solidFill>
                  <a:schemeClr val="bg1">
                    <a:lumMod val="95000"/>
                  </a:schemeClr>
                </a:solidFill>
              </a:rPr>
              <a:t> </a:t>
            </a:r>
            <a:r>
              <a:rPr lang="hu-HU" dirty="0" err="1">
                <a:solidFill>
                  <a:schemeClr val="bg1">
                    <a:lumMod val="95000"/>
                  </a:schemeClr>
                </a:solidFill>
              </a:rPr>
              <a:t>Translation</a:t>
            </a:r>
            <a:endParaRPr lang="hu-HU" dirty="0">
              <a:solidFill>
                <a:schemeClr val="bg1">
                  <a:lumMod val="95000"/>
                </a:schemeClr>
              </a:solidFill>
            </a:endParaRPr>
          </a:p>
        </p:txBody>
      </p:sp>
      <p:sp>
        <p:nvSpPr>
          <p:cNvPr id="3" name="Tartalom helye 2">
            <a:extLst>
              <a:ext uri="{FF2B5EF4-FFF2-40B4-BE49-F238E27FC236}">
                <a16:creationId xmlns:a16="http://schemas.microsoft.com/office/drawing/2014/main" id="{08D9E3D9-5535-DE77-9DE6-CA1FF80BA009}"/>
              </a:ext>
            </a:extLst>
          </p:cNvPr>
          <p:cNvSpPr>
            <a:spLocks noGrp="1"/>
          </p:cNvSpPr>
          <p:nvPr>
            <p:ph idx="1"/>
          </p:nvPr>
        </p:nvSpPr>
        <p:spPr>
          <a:xfrm>
            <a:off x="838200" y="1825625"/>
            <a:ext cx="5469669" cy="4351338"/>
          </a:xfrm>
        </p:spPr>
        <p:txBody>
          <a:bodyPr/>
          <a:lstStyle/>
          <a:p>
            <a:r>
              <a:rPr lang="hu-HU" dirty="0">
                <a:solidFill>
                  <a:schemeClr val="bg1">
                    <a:lumMod val="95000"/>
                  </a:schemeClr>
                </a:solidFill>
              </a:rPr>
              <a:t>NAT-nál egy belső címet teszünk elérhetővé az internet számára</a:t>
            </a:r>
          </a:p>
          <a:p>
            <a:r>
              <a:rPr lang="hu-HU" dirty="0">
                <a:solidFill>
                  <a:schemeClr val="bg1">
                    <a:lumMod val="95000"/>
                  </a:schemeClr>
                </a:solidFill>
              </a:rPr>
              <a:t>PAT-</a:t>
            </a:r>
            <a:r>
              <a:rPr lang="hu-HU" dirty="0" err="1">
                <a:solidFill>
                  <a:schemeClr val="bg1">
                    <a:lumMod val="95000"/>
                  </a:schemeClr>
                </a:solidFill>
              </a:rPr>
              <a:t>nál</a:t>
            </a:r>
            <a:r>
              <a:rPr lang="hu-HU" dirty="0">
                <a:solidFill>
                  <a:schemeClr val="bg1">
                    <a:lumMod val="95000"/>
                  </a:schemeClr>
                </a:solidFill>
              </a:rPr>
              <a:t> a belső hálózat kimenő csomagjait a router külső </a:t>
            </a:r>
            <a:r>
              <a:rPr lang="hu-HU" dirty="0" err="1">
                <a:solidFill>
                  <a:schemeClr val="bg1">
                    <a:lumMod val="95000"/>
                  </a:schemeClr>
                </a:solidFill>
              </a:rPr>
              <a:t>portjához</a:t>
            </a:r>
            <a:r>
              <a:rPr lang="hu-HU" dirty="0">
                <a:solidFill>
                  <a:schemeClr val="bg1">
                    <a:lumMod val="95000"/>
                  </a:schemeClr>
                </a:solidFill>
              </a:rPr>
              <a:t> fűzzük</a:t>
            </a:r>
          </a:p>
          <a:p>
            <a:r>
              <a:rPr lang="hu-HU" dirty="0">
                <a:solidFill>
                  <a:schemeClr val="bg1">
                    <a:lumMod val="95000"/>
                  </a:schemeClr>
                </a:solidFill>
              </a:rPr>
              <a:t>Itt szükség lesz a fentebb említett </a:t>
            </a:r>
            <a:r>
              <a:rPr lang="hu-HU" dirty="0" err="1">
                <a:solidFill>
                  <a:schemeClr val="bg1">
                    <a:lumMod val="95000"/>
                  </a:schemeClr>
                </a:solidFill>
              </a:rPr>
              <a:t>access</a:t>
            </a:r>
            <a:r>
              <a:rPr lang="hu-HU" dirty="0">
                <a:solidFill>
                  <a:schemeClr val="bg1">
                    <a:lumMod val="95000"/>
                  </a:schemeClr>
                </a:solidFill>
              </a:rPr>
              <a:t> listákra, mert megmondják, mely belső IP tartományok fordíthatók le</a:t>
            </a:r>
          </a:p>
        </p:txBody>
      </p:sp>
      <p:pic>
        <p:nvPicPr>
          <p:cNvPr id="5" name="Kép 4">
            <a:extLst>
              <a:ext uri="{FF2B5EF4-FFF2-40B4-BE49-F238E27FC236}">
                <a16:creationId xmlns:a16="http://schemas.microsoft.com/office/drawing/2014/main" id="{8BE0F253-0B99-51A4-A601-F81D40C447C4}"/>
              </a:ext>
            </a:extLst>
          </p:cNvPr>
          <p:cNvPicPr>
            <a:picLocks noChangeAspect="1"/>
          </p:cNvPicPr>
          <p:nvPr/>
        </p:nvPicPr>
        <p:blipFill>
          <a:blip r:embed="rId3"/>
          <a:stretch>
            <a:fillRect/>
          </a:stretch>
        </p:blipFill>
        <p:spPr>
          <a:xfrm>
            <a:off x="6194748" y="1452340"/>
            <a:ext cx="5733898" cy="4646802"/>
          </a:xfrm>
          <a:prstGeom prst="rect">
            <a:avLst/>
          </a:prstGeom>
        </p:spPr>
      </p:pic>
    </p:spTree>
    <p:extLst>
      <p:ext uri="{BB962C8B-B14F-4D97-AF65-F5344CB8AC3E}">
        <p14:creationId xmlns:p14="http://schemas.microsoft.com/office/powerpoint/2010/main" val="2754314778"/>
      </p:ext>
    </p:extLst>
  </p:cSld>
  <p:clrMapOvr>
    <a:masterClrMapping/>
  </p:clrMapOvr>
  <p:transition spd="slow">
    <p:randomBar dir="vert"/>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3A41DB-AAA3-5C8D-C50B-3B29BD375EC7}"/>
            </a:ext>
          </a:extLst>
        </p:cNvPr>
        <p:cNvGrpSpPr/>
        <p:nvPr/>
      </p:nvGrpSpPr>
      <p:grpSpPr>
        <a:xfrm>
          <a:off x="0" y="0"/>
          <a:ext cx="0" cy="0"/>
          <a:chOff x="0" y="0"/>
          <a:chExt cx="0" cy="0"/>
        </a:xfrm>
      </p:grpSpPr>
      <p:sp>
        <p:nvSpPr>
          <p:cNvPr id="2" name="Cím 1">
            <a:extLst>
              <a:ext uri="{FF2B5EF4-FFF2-40B4-BE49-F238E27FC236}">
                <a16:creationId xmlns:a16="http://schemas.microsoft.com/office/drawing/2014/main" id="{92F204B9-4A62-8C82-B6E8-0EB3A2AD62C9}"/>
              </a:ext>
            </a:extLst>
          </p:cNvPr>
          <p:cNvSpPr>
            <a:spLocks noGrp="1"/>
          </p:cNvSpPr>
          <p:nvPr>
            <p:ph type="title"/>
          </p:nvPr>
        </p:nvSpPr>
        <p:spPr/>
        <p:txBody>
          <a:bodyPr/>
          <a:lstStyle/>
          <a:p>
            <a:r>
              <a:rPr lang="hu-HU" dirty="0">
                <a:solidFill>
                  <a:schemeClr val="bg1">
                    <a:lumMod val="95000"/>
                  </a:schemeClr>
                </a:solidFill>
              </a:rPr>
              <a:t>EIGRP</a:t>
            </a:r>
          </a:p>
        </p:txBody>
      </p:sp>
      <p:sp>
        <p:nvSpPr>
          <p:cNvPr id="3" name="Tartalom helye 2">
            <a:extLst>
              <a:ext uri="{FF2B5EF4-FFF2-40B4-BE49-F238E27FC236}">
                <a16:creationId xmlns:a16="http://schemas.microsoft.com/office/drawing/2014/main" id="{9B862922-F4E5-3CAD-7DCE-9835F3BBF632}"/>
              </a:ext>
            </a:extLst>
          </p:cNvPr>
          <p:cNvSpPr>
            <a:spLocks noGrp="1"/>
          </p:cNvSpPr>
          <p:nvPr>
            <p:ph idx="1"/>
          </p:nvPr>
        </p:nvSpPr>
        <p:spPr>
          <a:xfrm>
            <a:off x="838200" y="1825625"/>
            <a:ext cx="4506798" cy="4351338"/>
          </a:xfrm>
        </p:spPr>
        <p:txBody>
          <a:bodyPr/>
          <a:lstStyle/>
          <a:p>
            <a:r>
              <a:rPr lang="hu-HU" dirty="0" err="1">
                <a:solidFill>
                  <a:schemeClr val="bg1">
                    <a:lumMod val="95000"/>
                  </a:schemeClr>
                </a:solidFill>
              </a:rPr>
              <a:t>Proprietary</a:t>
            </a:r>
            <a:r>
              <a:rPr lang="hu-HU" dirty="0">
                <a:solidFill>
                  <a:schemeClr val="bg1">
                    <a:lumMod val="95000"/>
                  </a:schemeClr>
                </a:solidFill>
              </a:rPr>
              <a:t> </a:t>
            </a:r>
            <a:r>
              <a:rPr lang="hu-HU" dirty="0" err="1">
                <a:solidFill>
                  <a:schemeClr val="bg1">
                    <a:lumMod val="95000"/>
                  </a:schemeClr>
                </a:solidFill>
              </a:rPr>
              <a:t>protocol</a:t>
            </a:r>
            <a:r>
              <a:rPr lang="hu-HU" dirty="0">
                <a:solidFill>
                  <a:schemeClr val="bg1">
                    <a:lumMod val="95000"/>
                  </a:schemeClr>
                </a:solidFill>
              </a:rPr>
              <a:t> </a:t>
            </a:r>
            <a:r>
              <a:rPr lang="hu-HU" dirty="0" err="1">
                <a:solidFill>
                  <a:schemeClr val="bg1">
                    <a:lumMod val="95000"/>
                  </a:schemeClr>
                </a:solidFill>
              </a:rPr>
              <a:t>developed</a:t>
            </a:r>
            <a:r>
              <a:rPr lang="hu-HU" dirty="0">
                <a:solidFill>
                  <a:schemeClr val="bg1">
                    <a:lumMod val="95000"/>
                  </a:schemeClr>
                </a:solidFill>
              </a:rPr>
              <a:t> </a:t>
            </a:r>
            <a:r>
              <a:rPr lang="hu-HU" dirty="0" err="1">
                <a:solidFill>
                  <a:schemeClr val="bg1">
                    <a:lumMod val="95000"/>
                  </a:schemeClr>
                </a:solidFill>
              </a:rPr>
              <a:t>by</a:t>
            </a:r>
            <a:r>
              <a:rPr lang="hu-HU" dirty="0">
                <a:solidFill>
                  <a:schemeClr val="bg1">
                    <a:lumMod val="95000"/>
                  </a:schemeClr>
                </a:solidFill>
              </a:rPr>
              <a:t> Cisco</a:t>
            </a:r>
          </a:p>
          <a:p>
            <a:r>
              <a:rPr lang="hu-HU" dirty="0">
                <a:solidFill>
                  <a:schemeClr val="bg1">
                    <a:lumMod val="95000"/>
                  </a:schemeClr>
                </a:solidFill>
              </a:rPr>
              <a:t>The most </a:t>
            </a:r>
            <a:r>
              <a:rPr lang="hu-HU" dirty="0" err="1">
                <a:solidFill>
                  <a:schemeClr val="bg1">
                    <a:lumMod val="95000"/>
                  </a:schemeClr>
                </a:solidFill>
              </a:rPr>
              <a:t>optimal</a:t>
            </a:r>
            <a:r>
              <a:rPr lang="hu-HU" dirty="0">
                <a:solidFill>
                  <a:schemeClr val="bg1">
                    <a:lumMod val="95000"/>
                  </a:schemeClr>
                </a:solidFill>
              </a:rPr>
              <a:t> </a:t>
            </a:r>
            <a:r>
              <a:rPr lang="hu-HU" dirty="0" err="1">
                <a:solidFill>
                  <a:schemeClr val="bg1">
                    <a:lumMod val="95000"/>
                  </a:schemeClr>
                </a:solidFill>
              </a:rPr>
              <a:t>solution</a:t>
            </a:r>
            <a:r>
              <a:rPr lang="hu-HU" dirty="0">
                <a:solidFill>
                  <a:schemeClr val="bg1">
                    <a:lumMod val="95000"/>
                  </a:schemeClr>
                </a:solidFill>
              </a:rPr>
              <a:t> </a:t>
            </a:r>
            <a:r>
              <a:rPr lang="hu-HU" dirty="0" err="1">
                <a:solidFill>
                  <a:schemeClr val="bg1">
                    <a:lumMod val="95000"/>
                  </a:schemeClr>
                </a:solidFill>
              </a:rPr>
              <a:t>for</a:t>
            </a:r>
            <a:r>
              <a:rPr lang="hu-HU" dirty="0">
                <a:solidFill>
                  <a:schemeClr val="bg1">
                    <a:lumMod val="95000"/>
                  </a:schemeClr>
                </a:solidFill>
              </a:rPr>
              <a:t> </a:t>
            </a:r>
            <a:r>
              <a:rPr lang="hu-HU" dirty="0" err="1">
                <a:solidFill>
                  <a:schemeClr val="bg1">
                    <a:lumMod val="95000"/>
                  </a:schemeClr>
                </a:solidFill>
              </a:rPr>
              <a:t>simulating</a:t>
            </a:r>
            <a:r>
              <a:rPr lang="hu-HU" dirty="0">
                <a:solidFill>
                  <a:schemeClr val="bg1">
                    <a:lumMod val="95000"/>
                  </a:schemeClr>
                </a:solidFill>
              </a:rPr>
              <a:t> </a:t>
            </a:r>
            <a:r>
              <a:rPr lang="hu-HU" dirty="0" err="1">
                <a:solidFill>
                  <a:schemeClr val="bg1">
                    <a:lumMod val="95000"/>
                  </a:schemeClr>
                </a:solidFill>
              </a:rPr>
              <a:t>the</a:t>
            </a:r>
            <a:r>
              <a:rPr lang="hu-HU" dirty="0">
                <a:solidFill>
                  <a:schemeClr val="bg1">
                    <a:lumMod val="95000"/>
                  </a:schemeClr>
                </a:solidFill>
              </a:rPr>
              <a:t> Internet Service </a:t>
            </a:r>
            <a:r>
              <a:rPr lang="hu-HU" dirty="0" err="1">
                <a:solidFill>
                  <a:schemeClr val="bg1">
                    <a:lumMod val="95000"/>
                  </a:schemeClr>
                </a:solidFill>
              </a:rPr>
              <a:t>Provider</a:t>
            </a:r>
            <a:r>
              <a:rPr lang="hu-HU" dirty="0">
                <a:solidFill>
                  <a:schemeClr val="bg1">
                    <a:lumMod val="95000"/>
                  </a:schemeClr>
                </a:solidFill>
              </a:rPr>
              <a:t> </a:t>
            </a:r>
            <a:r>
              <a:rPr lang="hu-HU" dirty="0" err="1">
                <a:solidFill>
                  <a:schemeClr val="bg1">
                    <a:lumMod val="95000"/>
                  </a:schemeClr>
                </a:solidFill>
              </a:rPr>
              <a:t>network</a:t>
            </a:r>
            <a:r>
              <a:rPr lang="hu-HU" dirty="0">
                <a:solidFill>
                  <a:schemeClr val="bg1">
                    <a:lumMod val="95000"/>
                  </a:schemeClr>
                </a:solidFill>
              </a:rPr>
              <a:t>, </a:t>
            </a:r>
            <a:r>
              <a:rPr lang="hu-HU" dirty="0" err="1">
                <a:solidFill>
                  <a:schemeClr val="bg1">
                    <a:lumMod val="95000"/>
                  </a:schemeClr>
                </a:solidFill>
              </a:rPr>
              <a:t>due</a:t>
            </a:r>
            <a:r>
              <a:rPr lang="hu-HU" dirty="0">
                <a:solidFill>
                  <a:schemeClr val="bg1">
                    <a:lumMod val="95000"/>
                  </a:schemeClr>
                </a:solidFill>
              </a:rPr>
              <a:t> </a:t>
            </a:r>
            <a:r>
              <a:rPr lang="hu-HU" dirty="0" err="1">
                <a:solidFill>
                  <a:schemeClr val="bg1">
                    <a:lumMod val="95000"/>
                  </a:schemeClr>
                </a:solidFill>
              </a:rPr>
              <a:t>to</a:t>
            </a:r>
            <a:r>
              <a:rPr lang="hu-HU" dirty="0">
                <a:solidFill>
                  <a:schemeClr val="bg1">
                    <a:lumMod val="95000"/>
                  </a:schemeClr>
                </a:solidFill>
              </a:rPr>
              <a:t> </a:t>
            </a:r>
            <a:r>
              <a:rPr lang="hu-HU" dirty="0" err="1">
                <a:solidFill>
                  <a:schemeClr val="bg1">
                    <a:lumMod val="95000"/>
                  </a:schemeClr>
                </a:solidFill>
              </a:rPr>
              <a:t>it’s</a:t>
            </a:r>
            <a:r>
              <a:rPr lang="hu-HU" dirty="0">
                <a:solidFill>
                  <a:schemeClr val="bg1">
                    <a:lumMod val="95000"/>
                  </a:schemeClr>
                </a:solidFill>
              </a:rPr>
              <a:t> </a:t>
            </a:r>
            <a:r>
              <a:rPr lang="hu-HU" dirty="0" err="1">
                <a:solidFill>
                  <a:schemeClr val="bg1">
                    <a:lumMod val="95000"/>
                  </a:schemeClr>
                </a:solidFill>
              </a:rPr>
              <a:t>low</a:t>
            </a:r>
            <a:r>
              <a:rPr lang="hu-HU" dirty="0">
                <a:solidFill>
                  <a:schemeClr val="bg1">
                    <a:lumMod val="95000"/>
                  </a:schemeClr>
                </a:solidFill>
              </a:rPr>
              <a:t> </a:t>
            </a:r>
            <a:r>
              <a:rPr lang="hu-HU" dirty="0" err="1">
                <a:solidFill>
                  <a:schemeClr val="bg1">
                    <a:lumMod val="95000"/>
                  </a:schemeClr>
                </a:solidFill>
              </a:rPr>
              <a:t>convergence</a:t>
            </a:r>
            <a:r>
              <a:rPr lang="hu-HU" dirty="0">
                <a:solidFill>
                  <a:schemeClr val="bg1">
                    <a:lumMod val="95000"/>
                  </a:schemeClr>
                </a:solidFill>
              </a:rPr>
              <a:t> </a:t>
            </a:r>
            <a:r>
              <a:rPr lang="hu-HU" dirty="0" err="1">
                <a:solidFill>
                  <a:schemeClr val="bg1">
                    <a:lumMod val="95000"/>
                  </a:schemeClr>
                </a:solidFill>
              </a:rPr>
              <a:t>time</a:t>
            </a:r>
            <a:r>
              <a:rPr lang="hu-HU" dirty="0">
                <a:solidFill>
                  <a:schemeClr val="bg1">
                    <a:lumMod val="95000"/>
                  </a:schemeClr>
                </a:solidFill>
              </a:rPr>
              <a:t> and </a:t>
            </a:r>
            <a:r>
              <a:rPr lang="hu-HU" dirty="0" err="1">
                <a:solidFill>
                  <a:schemeClr val="bg1">
                    <a:lumMod val="95000"/>
                  </a:schemeClr>
                </a:solidFill>
              </a:rPr>
              <a:t>scalability</a:t>
            </a:r>
            <a:endParaRPr lang="hu-HU" dirty="0">
              <a:solidFill>
                <a:schemeClr val="bg1">
                  <a:lumMod val="95000"/>
                </a:schemeClr>
              </a:solidFill>
            </a:endParaRPr>
          </a:p>
        </p:txBody>
      </p:sp>
      <p:pic>
        <p:nvPicPr>
          <p:cNvPr id="7" name="Kép 6">
            <a:extLst>
              <a:ext uri="{FF2B5EF4-FFF2-40B4-BE49-F238E27FC236}">
                <a16:creationId xmlns:a16="http://schemas.microsoft.com/office/drawing/2014/main" id="{5429DCC1-A86E-6A35-57A4-00EBB65BD503}"/>
              </a:ext>
            </a:extLst>
          </p:cNvPr>
          <p:cNvPicPr>
            <a:picLocks noChangeAspect="1"/>
          </p:cNvPicPr>
          <p:nvPr/>
        </p:nvPicPr>
        <p:blipFill>
          <a:blip r:embed="rId3"/>
          <a:stretch>
            <a:fillRect/>
          </a:stretch>
        </p:blipFill>
        <p:spPr>
          <a:xfrm>
            <a:off x="5344998" y="882285"/>
            <a:ext cx="6404067" cy="4745517"/>
          </a:xfrm>
          <a:prstGeom prst="rect">
            <a:avLst/>
          </a:prstGeom>
        </p:spPr>
      </p:pic>
    </p:spTree>
    <p:extLst>
      <p:ext uri="{BB962C8B-B14F-4D97-AF65-F5344CB8AC3E}">
        <p14:creationId xmlns:p14="http://schemas.microsoft.com/office/powerpoint/2010/main" val="1397518181"/>
      </p:ext>
    </p:extLst>
  </p:cSld>
  <p:clrMapOvr>
    <a:masterClrMapping/>
  </p:clrMapOvr>
  <p:transition spd="slow">
    <p:randomBar dir="vert"/>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322FBF29-6212-3FC0-6C7A-D98D116798F1}"/>
              </a:ext>
            </a:extLst>
          </p:cNvPr>
          <p:cNvSpPr>
            <a:spLocks noGrp="1"/>
          </p:cNvSpPr>
          <p:nvPr>
            <p:ph type="title"/>
          </p:nvPr>
        </p:nvSpPr>
        <p:spPr/>
        <p:txBody>
          <a:bodyPr/>
          <a:lstStyle/>
          <a:p>
            <a:r>
              <a:rPr lang="hu-HU" dirty="0" err="1">
                <a:solidFill>
                  <a:schemeClr val="bg1">
                    <a:lumMod val="95000"/>
                  </a:schemeClr>
                </a:solidFill>
              </a:rPr>
              <a:t>Spanning</a:t>
            </a:r>
            <a:r>
              <a:rPr lang="hu-HU" dirty="0">
                <a:solidFill>
                  <a:schemeClr val="bg1">
                    <a:lumMod val="95000"/>
                  </a:schemeClr>
                </a:solidFill>
              </a:rPr>
              <a:t> </a:t>
            </a:r>
            <a:r>
              <a:rPr lang="hu-HU" dirty="0" err="1">
                <a:solidFill>
                  <a:schemeClr val="bg1">
                    <a:lumMod val="95000"/>
                  </a:schemeClr>
                </a:solidFill>
              </a:rPr>
              <a:t>Tree</a:t>
            </a:r>
            <a:r>
              <a:rPr lang="hu-HU" dirty="0">
                <a:solidFill>
                  <a:schemeClr val="bg1">
                    <a:lumMod val="95000"/>
                  </a:schemeClr>
                </a:solidFill>
              </a:rPr>
              <a:t>, and </a:t>
            </a:r>
            <a:r>
              <a:rPr lang="hu-HU" dirty="0" err="1">
                <a:solidFill>
                  <a:schemeClr val="bg1">
                    <a:lumMod val="95000"/>
                  </a:schemeClr>
                </a:solidFill>
              </a:rPr>
              <a:t>EtherChannel</a:t>
            </a:r>
            <a:endParaRPr lang="hu-HU" dirty="0">
              <a:solidFill>
                <a:schemeClr val="bg1">
                  <a:lumMod val="95000"/>
                </a:schemeClr>
              </a:solidFill>
            </a:endParaRPr>
          </a:p>
        </p:txBody>
      </p:sp>
      <p:sp>
        <p:nvSpPr>
          <p:cNvPr id="3" name="Tartalom helye 2">
            <a:extLst>
              <a:ext uri="{FF2B5EF4-FFF2-40B4-BE49-F238E27FC236}">
                <a16:creationId xmlns:a16="http://schemas.microsoft.com/office/drawing/2014/main" id="{36238BE5-2C4D-2271-71DD-5E8A2CC96915}"/>
              </a:ext>
            </a:extLst>
          </p:cNvPr>
          <p:cNvSpPr>
            <a:spLocks noGrp="1"/>
          </p:cNvSpPr>
          <p:nvPr>
            <p:ph idx="1"/>
          </p:nvPr>
        </p:nvSpPr>
        <p:spPr>
          <a:xfrm>
            <a:off x="838200" y="1825625"/>
            <a:ext cx="5257800" cy="4351338"/>
          </a:xfrm>
        </p:spPr>
        <p:txBody>
          <a:bodyPr/>
          <a:lstStyle/>
          <a:p>
            <a:r>
              <a:rPr lang="hu-HU" dirty="0" err="1">
                <a:solidFill>
                  <a:schemeClr val="bg1">
                    <a:lumMod val="95000"/>
                  </a:schemeClr>
                </a:solidFill>
              </a:rPr>
              <a:t>Crucial</a:t>
            </a:r>
            <a:r>
              <a:rPr lang="hu-HU" dirty="0">
                <a:solidFill>
                  <a:schemeClr val="bg1">
                    <a:lumMod val="95000"/>
                  </a:schemeClr>
                </a:solidFill>
              </a:rPr>
              <a:t> </a:t>
            </a:r>
            <a:r>
              <a:rPr lang="hu-HU" dirty="0" err="1">
                <a:solidFill>
                  <a:schemeClr val="bg1">
                    <a:lumMod val="95000"/>
                  </a:schemeClr>
                </a:solidFill>
              </a:rPr>
              <a:t>for</a:t>
            </a:r>
            <a:r>
              <a:rPr lang="hu-HU" dirty="0">
                <a:solidFill>
                  <a:schemeClr val="bg1">
                    <a:lumMod val="95000"/>
                  </a:schemeClr>
                </a:solidFill>
              </a:rPr>
              <a:t> </a:t>
            </a:r>
            <a:r>
              <a:rPr lang="hu-HU" dirty="0" err="1">
                <a:solidFill>
                  <a:schemeClr val="bg1">
                    <a:lumMod val="95000"/>
                  </a:schemeClr>
                </a:solidFill>
              </a:rPr>
              <a:t>ensuring</a:t>
            </a:r>
            <a:r>
              <a:rPr lang="hu-HU" dirty="0">
                <a:solidFill>
                  <a:schemeClr val="bg1">
                    <a:lumMod val="95000"/>
                  </a:schemeClr>
                </a:solidFill>
              </a:rPr>
              <a:t> </a:t>
            </a:r>
            <a:r>
              <a:rPr lang="hu-HU" dirty="0" err="1">
                <a:solidFill>
                  <a:schemeClr val="bg1">
                    <a:lumMod val="95000"/>
                  </a:schemeClr>
                </a:solidFill>
              </a:rPr>
              <a:t>redundancy</a:t>
            </a:r>
            <a:r>
              <a:rPr lang="hu-HU" dirty="0">
                <a:solidFill>
                  <a:schemeClr val="bg1">
                    <a:lumMod val="95000"/>
                  </a:schemeClr>
                </a:solidFill>
              </a:rPr>
              <a:t> in </a:t>
            </a:r>
            <a:r>
              <a:rPr lang="hu-HU" dirty="0" err="1">
                <a:solidFill>
                  <a:schemeClr val="bg1">
                    <a:lumMod val="95000"/>
                  </a:schemeClr>
                </a:solidFill>
              </a:rPr>
              <a:t>Layer</a:t>
            </a:r>
            <a:r>
              <a:rPr lang="hu-HU" dirty="0">
                <a:solidFill>
                  <a:schemeClr val="bg1">
                    <a:lumMod val="95000"/>
                  </a:schemeClr>
                </a:solidFill>
              </a:rPr>
              <a:t> 2 </a:t>
            </a:r>
            <a:r>
              <a:rPr lang="hu-HU" dirty="0" err="1">
                <a:solidFill>
                  <a:schemeClr val="bg1">
                    <a:lumMod val="95000"/>
                  </a:schemeClr>
                </a:solidFill>
              </a:rPr>
              <a:t>communications</a:t>
            </a:r>
            <a:r>
              <a:rPr lang="hu-HU" dirty="0">
                <a:solidFill>
                  <a:schemeClr val="bg1">
                    <a:lumMod val="95000"/>
                  </a:schemeClr>
                </a:solidFill>
              </a:rPr>
              <a:t>. </a:t>
            </a:r>
          </a:p>
          <a:p>
            <a:r>
              <a:rPr lang="hu-HU" dirty="0" err="1">
                <a:solidFill>
                  <a:schemeClr val="bg1">
                    <a:lumMod val="95000"/>
                  </a:schemeClr>
                </a:solidFill>
              </a:rPr>
              <a:t>Automatically</a:t>
            </a:r>
            <a:r>
              <a:rPr lang="hu-HU" dirty="0">
                <a:solidFill>
                  <a:schemeClr val="bg1">
                    <a:lumMod val="95000"/>
                  </a:schemeClr>
                </a:solidFill>
              </a:rPr>
              <a:t> </a:t>
            </a:r>
            <a:r>
              <a:rPr lang="hu-HU" dirty="0" err="1">
                <a:solidFill>
                  <a:schemeClr val="bg1">
                    <a:lumMod val="95000"/>
                  </a:schemeClr>
                </a:solidFill>
              </a:rPr>
              <a:t>shuts</a:t>
            </a:r>
            <a:r>
              <a:rPr lang="hu-HU" dirty="0">
                <a:solidFill>
                  <a:schemeClr val="bg1">
                    <a:lumMod val="95000"/>
                  </a:schemeClr>
                </a:solidFill>
              </a:rPr>
              <a:t> down a </a:t>
            </a:r>
            <a:r>
              <a:rPr lang="hu-HU" dirty="0" err="1">
                <a:solidFill>
                  <a:schemeClr val="bg1">
                    <a:lumMod val="95000"/>
                  </a:schemeClr>
                </a:solidFill>
              </a:rPr>
              <a:t>pair</a:t>
            </a:r>
            <a:r>
              <a:rPr lang="hu-HU" dirty="0">
                <a:solidFill>
                  <a:schemeClr val="bg1">
                    <a:lumMod val="95000"/>
                  </a:schemeClr>
                </a:solidFill>
              </a:rPr>
              <a:t> of </a:t>
            </a:r>
            <a:r>
              <a:rPr lang="hu-HU" dirty="0" err="1">
                <a:solidFill>
                  <a:schemeClr val="bg1">
                    <a:lumMod val="95000"/>
                  </a:schemeClr>
                </a:solidFill>
              </a:rPr>
              <a:t>physical</a:t>
            </a:r>
            <a:r>
              <a:rPr lang="hu-HU" dirty="0">
                <a:solidFill>
                  <a:schemeClr val="bg1">
                    <a:lumMod val="95000"/>
                  </a:schemeClr>
                </a:solidFill>
              </a:rPr>
              <a:t> </a:t>
            </a:r>
            <a:r>
              <a:rPr lang="hu-HU" dirty="0" err="1">
                <a:solidFill>
                  <a:schemeClr val="bg1">
                    <a:lumMod val="95000"/>
                  </a:schemeClr>
                </a:solidFill>
              </a:rPr>
              <a:t>links</a:t>
            </a:r>
            <a:r>
              <a:rPr lang="hu-HU" dirty="0">
                <a:solidFill>
                  <a:schemeClr val="bg1">
                    <a:lumMod val="95000"/>
                  </a:schemeClr>
                </a:solidFill>
              </a:rPr>
              <a:t>, </a:t>
            </a:r>
            <a:r>
              <a:rPr lang="hu-HU" dirty="0" err="1">
                <a:solidFill>
                  <a:schemeClr val="bg1">
                    <a:lumMod val="95000"/>
                  </a:schemeClr>
                </a:solidFill>
              </a:rPr>
              <a:t>preventing</a:t>
            </a:r>
            <a:r>
              <a:rPr lang="hu-HU" dirty="0">
                <a:solidFill>
                  <a:schemeClr val="bg1">
                    <a:lumMod val="95000"/>
                  </a:schemeClr>
                </a:solidFill>
              </a:rPr>
              <a:t> </a:t>
            </a:r>
            <a:r>
              <a:rPr lang="hu-HU" dirty="0" err="1">
                <a:solidFill>
                  <a:schemeClr val="bg1">
                    <a:lumMod val="95000"/>
                  </a:schemeClr>
                </a:solidFill>
              </a:rPr>
              <a:t>the</a:t>
            </a:r>
            <a:r>
              <a:rPr lang="hu-HU" dirty="0">
                <a:solidFill>
                  <a:schemeClr val="bg1">
                    <a:lumMod val="95000"/>
                  </a:schemeClr>
                </a:solidFill>
              </a:rPr>
              <a:t> 3 </a:t>
            </a:r>
            <a:r>
              <a:rPr lang="hu-HU" dirty="0" err="1">
                <a:solidFill>
                  <a:schemeClr val="bg1">
                    <a:lumMod val="95000"/>
                  </a:schemeClr>
                </a:solidFill>
              </a:rPr>
              <a:t>interconnected</a:t>
            </a:r>
            <a:r>
              <a:rPr lang="hu-HU" dirty="0">
                <a:solidFill>
                  <a:schemeClr val="bg1">
                    <a:lumMod val="95000"/>
                  </a:schemeClr>
                </a:solidFill>
              </a:rPr>
              <a:t> </a:t>
            </a:r>
            <a:r>
              <a:rPr lang="hu-HU" dirty="0" err="1">
                <a:solidFill>
                  <a:schemeClr val="bg1">
                    <a:lumMod val="95000"/>
                  </a:schemeClr>
                </a:solidFill>
              </a:rPr>
              <a:t>switches</a:t>
            </a:r>
            <a:r>
              <a:rPr lang="hu-HU" dirty="0">
                <a:solidFill>
                  <a:schemeClr val="bg1">
                    <a:lumMod val="95000"/>
                  </a:schemeClr>
                </a:solidFill>
              </a:rPr>
              <a:t> </a:t>
            </a:r>
            <a:r>
              <a:rPr lang="hu-HU" dirty="0" err="1">
                <a:solidFill>
                  <a:schemeClr val="bg1">
                    <a:lumMod val="95000"/>
                  </a:schemeClr>
                </a:solidFill>
              </a:rPr>
              <a:t>to</a:t>
            </a:r>
            <a:r>
              <a:rPr lang="hu-HU" dirty="0">
                <a:solidFill>
                  <a:schemeClr val="bg1">
                    <a:lumMod val="95000"/>
                  </a:schemeClr>
                </a:solidFill>
              </a:rPr>
              <a:t> </a:t>
            </a:r>
            <a:r>
              <a:rPr lang="hu-HU" dirty="0" err="1">
                <a:solidFill>
                  <a:schemeClr val="bg1">
                    <a:lumMod val="95000"/>
                  </a:schemeClr>
                </a:solidFill>
              </a:rPr>
              <a:t>cause</a:t>
            </a:r>
            <a:r>
              <a:rPr lang="hu-HU" dirty="0">
                <a:solidFill>
                  <a:schemeClr val="bg1">
                    <a:lumMod val="95000"/>
                  </a:schemeClr>
                </a:solidFill>
              </a:rPr>
              <a:t> a </a:t>
            </a:r>
            <a:r>
              <a:rPr lang="hu-HU" dirty="0" err="1">
                <a:solidFill>
                  <a:schemeClr val="bg1">
                    <a:lumMod val="95000"/>
                  </a:schemeClr>
                </a:solidFill>
              </a:rPr>
              <a:t>broadcast</a:t>
            </a:r>
            <a:r>
              <a:rPr lang="hu-HU" dirty="0">
                <a:solidFill>
                  <a:schemeClr val="bg1">
                    <a:lumMod val="95000"/>
                  </a:schemeClr>
                </a:solidFill>
              </a:rPr>
              <a:t> </a:t>
            </a:r>
            <a:r>
              <a:rPr lang="hu-HU" dirty="0" err="1">
                <a:solidFill>
                  <a:schemeClr val="bg1">
                    <a:lumMod val="95000"/>
                  </a:schemeClr>
                </a:solidFill>
              </a:rPr>
              <a:t>strom</a:t>
            </a:r>
            <a:endParaRPr lang="hu-HU" dirty="0">
              <a:solidFill>
                <a:schemeClr val="bg1">
                  <a:lumMod val="95000"/>
                </a:schemeClr>
              </a:solidFill>
            </a:endParaRPr>
          </a:p>
          <a:p>
            <a:r>
              <a:rPr lang="hu-HU" dirty="0" err="1">
                <a:solidFill>
                  <a:schemeClr val="bg1">
                    <a:lumMod val="95000"/>
                  </a:schemeClr>
                </a:solidFill>
              </a:rPr>
              <a:t>Combines</a:t>
            </a:r>
            <a:r>
              <a:rPr lang="hu-HU" dirty="0">
                <a:solidFill>
                  <a:schemeClr val="bg1">
                    <a:lumMod val="95000"/>
                  </a:schemeClr>
                </a:solidFill>
              </a:rPr>
              <a:t> 2 </a:t>
            </a:r>
            <a:r>
              <a:rPr lang="hu-HU" dirty="0" err="1">
                <a:solidFill>
                  <a:schemeClr val="bg1">
                    <a:lumMod val="95000"/>
                  </a:schemeClr>
                </a:solidFill>
              </a:rPr>
              <a:t>phisycal</a:t>
            </a:r>
            <a:r>
              <a:rPr lang="hu-HU" dirty="0">
                <a:solidFill>
                  <a:schemeClr val="bg1">
                    <a:lumMod val="95000"/>
                  </a:schemeClr>
                </a:solidFill>
              </a:rPr>
              <a:t> </a:t>
            </a:r>
            <a:r>
              <a:rPr lang="hu-HU" dirty="0" err="1">
                <a:solidFill>
                  <a:schemeClr val="bg1">
                    <a:lumMod val="95000"/>
                  </a:schemeClr>
                </a:solidFill>
              </a:rPr>
              <a:t>links</a:t>
            </a:r>
            <a:r>
              <a:rPr lang="hu-HU" dirty="0">
                <a:solidFill>
                  <a:schemeClr val="bg1">
                    <a:lumMod val="95000"/>
                  </a:schemeClr>
                </a:solidFill>
              </a:rPr>
              <a:t> </a:t>
            </a:r>
            <a:r>
              <a:rPr lang="hu-HU" dirty="0" err="1">
                <a:solidFill>
                  <a:schemeClr val="bg1">
                    <a:lumMod val="95000"/>
                  </a:schemeClr>
                </a:solidFill>
              </a:rPr>
              <a:t>into</a:t>
            </a:r>
            <a:r>
              <a:rPr lang="hu-HU" dirty="0">
                <a:solidFill>
                  <a:schemeClr val="bg1">
                    <a:lumMod val="95000"/>
                  </a:schemeClr>
                </a:solidFill>
              </a:rPr>
              <a:t> 1 </a:t>
            </a:r>
            <a:r>
              <a:rPr lang="hu-HU" dirty="0" err="1">
                <a:solidFill>
                  <a:schemeClr val="bg1">
                    <a:lumMod val="95000"/>
                  </a:schemeClr>
                </a:solidFill>
              </a:rPr>
              <a:t>logical</a:t>
            </a:r>
            <a:r>
              <a:rPr lang="hu-HU" dirty="0">
                <a:solidFill>
                  <a:schemeClr val="bg1">
                    <a:lumMod val="95000"/>
                  </a:schemeClr>
                </a:solidFill>
              </a:rPr>
              <a:t> link</a:t>
            </a:r>
          </a:p>
        </p:txBody>
      </p:sp>
      <p:pic>
        <p:nvPicPr>
          <p:cNvPr id="5" name="Kép 4">
            <a:extLst>
              <a:ext uri="{FF2B5EF4-FFF2-40B4-BE49-F238E27FC236}">
                <a16:creationId xmlns:a16="http://schemas.microsoft.com/office/drawing/2014/main" id="{1E0CA723-66FA-9E44-5B4B-33BE6C3830FA}"/>
              </a:ext>
            </a:extLst>
          </p:cNvPr>
          <p:cNvPicPr>
            <a:picLocks noChangeAspect="1"/>
          </p:cNvPicPr>
          <p:nvPr/>
        </p:nvPicPr>
        <p:blipFill>
          <a:blip r:embed="rId3"/>
          <a:stretch>
            <a:fillRect/>
          </a:stretch>
        </p:blipFill>
        <p:spPr>
          <a:xfrm>
            <a:off x="5792395" y="1339278"/>
            <a:ext cx="3097081" cy="2356153"/>
          </a:xfrm>
          <a:prstGeom prst="rect">
            <a:avLst/>
          </a:prstGeom>
        </p:spPr>
      </p:pic>
      <p:pic>
        <p:nvPicPr>
          <p:cNvPr id="7" name="Kép 6">
            <a:extLst>
              <a:ext uri="{FF2B5EF4-FFF2-40B4-BE49-F238E27FC236}">
                <a16:creationId xmlns:a16="http://schemas.microsoft.com/office/drawing/2014/main" id="{869ED919-47A0-C4CF-C887-C1B55F6486D1}"/>
              </a:ext>
            </a:extLst>
          </p:cNvPr>
          <p:cNvPicPr>
            <a:picLocks noChangeAspect="1"/>
          </p:cNvPicPr>
          <p:nvPr/>
        </p:nvPicPr>
        <p:blipFill>
          <a:blip r:embed="rId4"/>
          <a:stretch>
            <a:fillRect/>
          </a:stretch>
        </p:blipFill>
        <p:spPr>
          <a:xfrm>
            <a:off x="8616952" y="3828139"/>
            <a:ext cx="3097081" cy="2595709"/>
          </a:xfrm>
          <a:prstGeom prst="rect">
            <a:avLst/>
          </a:prstGeom>
        </p:spPr>
      </p:pic>
    </p:spTree>
    <p:extLst>
      <p:ext uri="{BB962C8B-B14F-4D97-AF65-F5344CB8AC3E}">
        <p14:creationId xmlns:p14="http://schemas.microsoft.com/office/powerpoint/2010/main" val="4227106662"/>
      </p:ext>
    </p:extLst>
  </p:cSld>
  <p:clrMapOvr>
    <a:masterClrMapping/>
  </p:clrMapOvr>
  <p:transition spd="slow">
    <p:randomBar dir="vert"/>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24C4EA90-AF44-A6A0-C43D-E1BCB13D1FAD}"/>
              </a:ext>
            </a:extLst>
          </p:cNvPr>
          <p:cNvSpPr>
            <a:spLocks noGrp="1"/>
          </p:cNvSpPr>
          <p:nvPr>
            <p:ph type="title"/>
          </p:nvPr>
        </p:nvSpPr>
        <p:spPr/>
        <p:txBody>
          <a:bodyPr/>
          <a:lstStyle/>
          <a:p>
            <a:r>
              <a:rPr lang="hu-HU" dirty="0" err="1">
                <a:solidFill>
                  <a:schemeClr val="bg1">
                    <a:lumMod val="95000"/>
                  </a:schemeClr>
                </a:solidFill>
              </a:rPr>
              <a:t>Secure</a:t>
            </a:r>
            <a:r>
              <a:rPr lang="hu-HU" dirty="0">
                <a:solidFill>
                  <a:schemeClr val="bg1">
                    <a:lumMod val="95000"/>
                  </a:schemeClr>
                </a:solidFill>
              </a:rPr>
              <a:t> Shell</a:t>
            </a:r>
          </a:p>
        </p:txBody>
      </p:sp>
      <p:sp>
        <p:nvSpPr>
          <p:cNvPr id="3" name="Tartalom helye 2">
            <a:extLst>
              <a:ext uri="{FF2B5EF4-FFF2-40B4-BE49-F238E27FC236}">
                <a16:creationId xmlns:a16="http://schemas.microsoft.com/office/drawing/2014/main" id="{0C5F63D8-5CF6-AAE9-4559-939A2AF8B9BE}"/>
              </a:ext>
            </a:extLst>
          </p:cNvPr>
          <p:cNvSpPr>
            <a:spLocks noGrp="1"/>
          </p:cNvSpPr>
          <p:nvPr>
            <p:ph idx="1"/>
          </p:nvPr>
        </p:nvSpPr>
        <p:spPr>
          <a:xfrm>
            <a:off x="838200" y="1825625"/>
            <a:ext cx="5110113" cy="4351338"/>
          </a:xfrm>
        </p:spPr>
        <p:txBody>
          <a:bodyPr/>
          <a:lstStyle/>
          <a:p>
            <a:r>
              <a:rPr lang="hu-HU" dirty="0" err="1">
                <a:solidFill>
                  <a:schemeClr val="bg1">
                    <a:lumMod val="95000"/>
                  </a:schemeClr>
                </a:solidFill>
              </a:rPr>
              <a:t>Essential</a:t>
            </a:r>
            <a:r>
              <a:rPr lang="hu-HU" dirty="0">
                <a:solidFill>
                  <a:schemeClr val="bg1">
                    <a:lumMod val="95000"/>
                  </a:schemeClr>
                </a:solidFill>
              </a:rPr>
              <a:t> </a:t>
            </a:r>
            <a:r>
              <a:rPr lang="hu-HU" dirty="0" err="1">
                <a:solidFill>
                  <a:schemeClr val="bg1">
                    <a:lumMod val="95000"/>
                  </a:schemeClr>
                </a:solidFill>
              </a:rPr>
              <a:t>for</a:t>
            </a:r>
            <a:r>
              <a:rPr lang="hu-HU" dirty="0">
                <a:solidFill>
                  <a:schemeClr val="bg1">
                    <a:lumMod val="95000"/>
                  </a:schemeClr>
                </a:solidFill>
              </a:rPr>
              <a:t> </a:t>
            </a:r>
            <a:r>
              <a:rPr lang="hu-HU" dirty="0" err="1">
                <a:solidFill>
                  <a:schemeClr val="bg1">
                    <a:lumMod val="95000"/>
                  </a:schemeClr>
                </a:solidFill>
              </a:rPr>
              <a:t>managing</a:t>
            </a:r>
            <a:r>
              <a:rPr lang="hu-HU" dirty="0">
                <a:solidFill>
                  <a:schemeClr val="bg1">
                    <a:lumMod val="95000"/>
                  </a:schemeClr>
                </a:solidFill>
              </a:rPr>
              <a:t> </a:t>
            </a:r>
            <a:r>
              <a:rPr lang="hu-HU" dirty="0" err="1">
                <a:solidFill>
                  <a:schemeClr val="bg1">
                    <a:lumMod val="95000"/>
                  </a:schemeClr>
                </a:solidFill>
              </a:rPr>
              <a:t>network</a:t>
            </a:r>
            <a:r>
              <a:rPr lang="hu-HU" dirty="0">
                <a:solidFill>
                  <a:schemeClr val="bg1">
                    <a:lumMod val="95000"/>
                  </a:schemeClr>
                </a:solidFill>
              </a:rPr>
              <a:t> </a:t>
            </a:r>
            <a:r>
              <a:rPr lang="hu-HU" dirty="0" err="1">
                <a:solidFill>
                  <a:schemeClr val="bg1">
                    <a:lumMod val="95000"/>
                  </a:schemeClr>
                </a:solidFill>
              </a:rPr>
              <a:t>devices</a:t>
            </a:r>
            <a:r>
              <a:rPr lang="hu-HU" dirty="0">
                <a:solidFill>
                  <a:schemeClr val="bg1">
                    <a:lumMod val="95000"/>
                  </a:schemeClr>
                </a:solidFill>
              </a:rPr>
              <a:t> </a:t>
            </a:r>
            <a:r>
              <a:rPr lang="hu-HU" dirty="0" err="1">
                <a:solidFill>
                  <a:schemeClr val="bg1">
                    <a:lumMod val="95000"/>
                  </a:schemeClr>
                </a:solidFill>
              </a:rPr>
              <a:t>through</a:t>
            </a:r>
            <a:r>
              <a:rPr lang="hu-HU" dirty="0">
                <a:solidFill>
                  <a:schemeClr val="bg1">
                    <a:lumMod val="95000"/>
                  </a:schemeClr>
                </a:solidFill>
              </a:rPr>
              <a:t> a </a:t>
            </a:r>
            <a:r>
              <a:rPr lang="hu-HU" dirty="0" err="1">
                <a:solidFill>
                  <a:schemeClr val="bg1">
                    <a:lumMod val="95000"/>
                  </a:schemeClr>
                </a:solidFill>
              </a:rPr>
              <a:t>secure</a:t>
            </a:r>
            <a:r>
              <a:rPr lang="hu-HU" dirty="0">
                <a:solidFill>
                  <a:schemeClr val="bg1">
                    <a:lumMod val="95000"/>
                  </a:schemeClr>
                </a:solidFill>
              </a:rPr>
              <a:t> </a:t>
            </a:r>
            <a:r>
              <a:rPr lang="hu-HU" dirty="0" err="1">
                <a:solidFill>
                  <a:schemeClr val="bg1">
                    <a:lumMod val="95000"/>
                  </a:schemeClr>
                </a:solidFill>
              </a:rPr>
              <a:t>channel</a:t>
            </a:r>
            <a:endParaRPr lang="hu-HU" dirty="0">
              <a:solidFill>
                <a:schemeClr val="bg1">
                  <a:lumMod val="95000"/>
                </a:schemeClr>
              </a:solidFill>
            </a:endParaRPr>
          </a:p>
          <a:p>
            <a:r>
              <a:rPr lang="hu-HU" dirty="0" err="1">
                <a:solidFill>
                  <a:schemeClr val="bg1">
                    <a:lumMod val="95000"/>
                  </a:schemeClr>
                </a:solidFill>
              </a:rPr>
              <a:t>prevents</a:t>
            </a:r>
            <a:r>
              <a:rPr lang="hu-HU" dirty="0">
                <a:solidFill>
                  <a:schemeClr val="bg1">
                    <a:lumMod val="95000"/>
                  </a:schemeClr>
                </a:solidFill>
              </a:rPr>
              <a:t> Man-in-</a:t>
            </a:r>
            <a:r>
              <a:rPr lang="hu-HU" dirty="0" err="1">
                <a:solidFill>
                  <a:schemeClr val="bg1">
                    <a:lumMod val="95000"/>
                  </a:schemeClr>
                </a:solidFill>
              </a:rPr>
              <a:t>the</a:t>
            </a:r>
            <a:r>
              <a:rPr lang="hu-HU" dirty="0">
                <a:solidFill>
                  <a:schemeClr val="bg1">
                    <a:lumMod val="95000"/>
                  </a:schemeClr>
                </a:solidFill>
              </a:rPr>
              <a:t>-</a:t>
            </a:r>
            <a:r>
              <a:rPr lang="hu-HU" dirty="0" err="1">
                <a:solidFill>
                  <a:schemeClr val="bg1">
                    <a:lumMod val="95000"/>
                  </a:schemeClr>
                </a:solidFill>
              </a:rPr>
              <a:t>middle</a:t>
            </a:r>
            <a:r>
              <a:rPr lang="hu-HU" dirty="0">
                <a:solidFill>
                  <a:schemeClr val="bg1">
                    <a:lumMod val="95000"/>
                  </a:schemeClr>
                </a:solidFill>
              </a:rPr>
              <a:t> </a:t>
            </a:r>
            <a:r>
              <a:rPr lang="hu-HU" dirty="0" err="1">
                <a:solidFill>
                  <a:schemeClr val="bg1">
                    <a:lumMod val="95000"/>
                  </a:schemeClr>
                </a:solidFill>
              </a:rPr>
              <a:t>attacks</a:t>
            </a:r>
            <a:r>
              <a:rPr lang="hu-HU" dirty="0">
                <a:solidFill>
                  <a:schemeClr val="bg1">
                    <a:lumMod val="95000"/>
                  </a:schemeClr>
                </a:solidFill>
              </a:rPr>
              <a:t> </a:t>
            </a:r>
            <a:r>
              <a:rPr lang="hu-HU" dirty="0" err="1">
                <a:solidFill>
                  <a:schemeClr val="bg1">
                    <a:lumMod val="95000"/>
                  </a:schemeClr>
                </a:solidFill>
              </a:rPr>
              <a:t>from</a:t>
            </a:r>
            <a:r>
              <a:rPr lang="hu-HU" dirty="0">
                <a:solidFill>
                  <a:schemeClr val="bg1">
                    <a:lumMod val="95000"/>
                  </a:schemeClr>
                </a:solidFill>
              </a:rPr>
              <a:t> </a:t>
            </a:r>
            <a:r>
              <a:rPr lang="hu-HU" dirty="0" err="1">
                <a:solidFill>
                  <a:schemeClr val="bg1">
                    <a:lumMod val="95000"/>
                  </a:schemeClr>
                </a:solidFill>
              </a:rPr>
              <a:t>occouring</a:t>
            </a:r>
            <a:endParaRPr lang="hu-HU" dirty="0">
              <a:solidFill>
                <a:schemeClr val="bg1">
                  <a:lumMod val="95000"/>
                </a:schemeClr>
              </a:solidFill>
            </a:endParaRPr>
          </a:p>
          <a:p>
            <a:r>
              <a:rPr lang="hu-HU" dirty="0" err="1">
                <a:solidFill>
                  <a:schemeClr val="bg1">
                    <a:lumMod val="95000"/>
                  </a:schemeClr>
                </a:solidFill>
              </a:rPr>
              <a:t>On</a:t>
            </a:r>
            <a:r>
              <a:rPr lang="hu-HU" dirty="0">
                <a:solidFill>
                  <a:schemeClr val="bg1">
                    <a:lumMod val="95000"/>
                  </a:schemeClr>
                </a:solidFill>
              </a:rPr>
              <a:t> </a:t>
            </a:r>
            <a:r>
              <a:rPr lang="hu-HU" dirty="0" err="1">
                <a:solidFill>
                  <a:schemeClr val="bg1">
                    <a:lumMod val="95000"/>
                  </a:schemeClr>
                </a:solidFill>
              </a:rPr>
              <a:t>routers</a:t>
            </a:r>
            <a:r>
              <a:rPr lang="hu-HU" dirty="0">
                <a:solidFill>
                  <a:schemeClr val="bg1">
                    <a:lumMod val="95000"/>
                  </a:schemeClr>
                </a:solidFill>
              </a:rPr>
              <a:t>, </a:t>
            </a:r>
            <a:r>
              <a:rPr lang="hu-HU" dirty="0" err="1">
                <a:solidFill>
                  <a:schemeClr val="bg1">
                    <a:lumMod val="95000"/>
                  </a:schemeClr>
                </a:solidFill>
              </a:rPr>
              <a:t>this</a:t>
            </a:r>
            <a:r>
              <a:rPr lang="hu-HU" dirty="0">
                <a:solidFill>
                  <a:schemeClr val="bg1">
                    <a:lumMod val="95000"/>
                  </a:schemeClr>
                </a:solidFill>
              </a:rPr>
              <a:t> </a:t>
            </a:r>
            <a:r>
              <a:rPr lang="hu-HU" dirty="0" err="1">
                <a:solidFill>
                  <a:schemeClr val="bg1">
                    <a:lumMod val="95000"/>
                  </a:schemeClr>
                </a:solidFill>
              </a:rPr>
              <a:t>can</a:t>
            </a:r>
            <a:r>
              <a:rPr lang="hu-HU" dirty="0">
                <a:solidFill>
                  <a:schemeClr val="bg1">
                    <a:lumMod val="95000"/>
                  </a:schemeClr>
                </a:solidFill>
              </a:rPr>
              <a:t> be </a:t>
            </a:r>
            <a:r>
              <a:rPr lang="hu-HU" dirty="0" err="1">
                <a:solidFill>
                  <a:schemeClr val="bg1">
                    <a:lumMod val="95000"/>
                  </a:schemeClr>
                </a:solidFill>
              </a:rPr>
              <a:t>used</a:t>
            </a:r>
            <a:r>
              <a:rPr lang="hu-HU" dirty="0">
                <a:solidFill>
                  <a:schemeClr val="bg1">
                    <a:lumMod val="95000"/>
                  </a:schemeClr>
                </a:solidFill>
              </a:rPr>
              <a:t> </a:t>
            </a:r>
            <a:r>
              <a:rPr lang="hu-HU" dirty="0" err="1">
                <a:solidFill>
                  <a:schemeClr val="bg1">
                    <a:lumMod val="95000"/>
                  </a:schemeClr>
                </a:solidFill>
              </a:rPr>
              <a:t>on</a:t>
            </a:r>
            <a:r>
              <a:rPr lang="hu-HU" dirty="0">
                <a:solidFill>
                  <a:schemeClr val="bg1">
                    <a:lumMod val="95000"/>
                  </a:schemeClr>
                </a:solidFill>
              </a:rPr>
              <a:t> </a:t>
            </a:r>
            <a:r>
              <a:rPr lang="hu-HU" dirty="0" err="1">
                <a:solidFill>
                  <a:schemeClr val="bg1">
                    <a:lumMod val="95000"/>
                  </a:schemeClr>
                </a:solidFill>
              </a:rPr>
              <a:t>existing</a:t>
            </a:r>
            <a:r>
              <a:rPr lang="hu-HU" dirty="0">
                <a:solidFill>
                  <a:schemeClr val="bg1">
                    <a:lumMod val="95000"/>
                  </a:schemeClr>
                </a:solidFill>
              </a:rPr>
              <a:t> </a:t>
            </a:r>
            <a:r>
              <a:rPr lang="hu-HU" dirty="0" err="1">
                <a:solidFill>
                  <a:schemeClr val="bg1">
                    <a:lumMod val="95000"/>
                  </a:schemeClr>
                </a:solidFill>
              </a:rPr>
              <a:t>ports</a:t>
            </a:r>
            <a:r>
              <a:rPr lang="hu-HU" dirty="0">
                <a:solidFill>
                  <a:schemeClr val="bg1">
                    <a:lumMod val="95000"/>
                  </a:schemeClr>
                </a:solidFill>
              </a:rPr>
              <a:t>. </a:t>
            </a:r>
            <a:r>
              <a:rPr lang="hu-HU" dirty="0" err="1">
                <a:solidFill>
                  <a:schemeClr val="bg1">
                    <a:lumMod val="95000"/>
                  </a:schemeClr>
                </a:solidFill>
              </a:rPr>
              <a:t>On</a:t>
            </a:r>
            <a:r>
              <a:rPr lang="hu-HU" dirty="0">
                <a:solidFill>
                  <a:schemeClr val="bg1">
                    <a:lumMod val="95000"/>
                  </a:schemeClr>
                </a:solidFill>
              </a:rPr>
              <a:t> </a:t>
            </a:r>
            <a:r>
              <a:rPr lang="hu-HU" dirty="0" err="1">
                <a:solidFill>
                  <a:schemeClr val="bg1">
                    <a:lumMod val="95000"/>
                  </a:schemeClr>
                </a:solidFill>
              </a:rPr>
              <a:t>switches</a:t>
            </a:r>
            <a:r>
              <a:rPr lang="hu-HU" dirty="0">
                <a:solidFill>
                  <a:schemeClr val="bg1">
                    <a:lumMod val="95000"/>
                  </a:schemeClr>
                </a:solidFill>
              </a:rPr>
              <a:t>, </a:t>
            </a:r>
            <a:r>
              <a:rPr lang="hu-HU" dirty="0" err="1">
                <a:solidFill>
                  <a:schemeClr val="bg1">
                    <a:lumMod val="95000"/>
                  </a:schemeClr>
                </a:solidFill>
              </a:rPr>
              <a:t>there</a:t>
            </a:r>
            <a:r>
              <a:rPr lang="hu-HU" dirty="0">
                <a:solidFill>
                  <a:schemeClr val="bg1">
                    <a:lumMod val="95000"/>
                  </a:schemeClr>
                </a:solidFill>
              </a:rPr>
              <a:t> </a:t>
            </a:r>
            <a:r>
              <a:rPr lang="hu-HU" dirty="0" err="1">
                <a:solidFill>
                  <a:schemeClr val="bg1">
                    <a:lumMod val="95000"/>
                  </a:schemeClr>
                </a:solidFill>
              </a:rPr>
              <a:t>are</a:t>
            </a:r>
            <a:r>
              <a:rPr lang="hu-HU" dirty="0">
                <a:solidFill>
                  <a:schemeClr val="bg1">
                    <a:lumMod val="95000"/>
                  </a:schemeClr>
                </a:solidFill>
              </a:rPr>
              <a:t> </a:t>
            </a:r>
            <a:r>
              <a:rPr lang="hu-HU" dirty="0" err="1">
                <a:solidFill>
                  <a:schemeClr val="bg1">
                    <a:lumMod val="95000"/>
                  </a:schemeClr>
                </a:solidFill>
              </a:rPr>
              <a:t>virtual</a:t>
            </a:r>
            <a:r>
              <a:rPr lang="hu-HU" dirty="0">
                <a:solidFill>
                  <a:schemeClr val="bg1">
                    <a:lumMod val="95000"/>
                  </a:schemeClr>
                </a:solidFill>
              </a:rPr>
              <a:t> </a:t>
            </a:r>
            <a:r>
              <a:rPr lang="hu-HU" dirty="0" err="1">
                <a:solidFill>
                  <a:schemeClr val="bg1">
                    <a:lumMod val="95000"/>
                  </a:schemeClr>
                </a:solidFill>
              </a:rPr>
              <a:t>interfaces</a:t>
            </a:r>
            <a:r>
              <a:rPr lang="hu-HU" dirty="0">
                <a:solidFill>
                  <a:schemeClr val="bg1">
                    <a:lumMod val="95000"/>
                  </a:schemeClr>
                </a:solidFill>
              </a:rPr>
              <a:t> </a:t>
            </a:r>
            <a:r>
              <a:rPr lang="hu-HU" dirty="0" err="1">
                <a:solidFill>
                  <a:schemeClr val="bg1">
                    <a:lumMod val="95000"/>
                  </a:schemeClr>
                </a:solidFill>
              </a:rPr>
              <a:t>that</a:t>
            </a:r>
            <a:r>
              <a:rPr lang="hu-HU" dirty="0">
                <a:solidFill>
                  <a:schemeClr val="bg1">
                    <a:lumMod val="95000"/>
                  </a:schemeClr>
                </a:solidFill>
              </a:rPr>
              <a:t> </a:t>
            </a:r>
            <a:r>
              <a:rPr lang="hu-HU" dirty="0" err="1">
                <a:solidFill>
                  <a:schemeClr val="bg1">
                    <a:lumMod val="95000"/>
                  </a:schemeClr>
                </a:solidFill>
              </a:rPr>
              <a:t>can</a:t>
            </a:r>
            <a:r>
              <a:rPr lang="hu-HU" dirty="0">
                <a:solidFill>
                  <a:schemeClr val="bg1">
                    <a:lumMod val="95000"/>
                  </a:schemeClr>
                </a:solidFill>
              </a:rPr>
              <a:t> be </a:t>
            </a:r>
            <a:r>
              <a:rPr lang="hu-HU" dirty="0" err="1">
                <a:solidFill>
                  <a:schemeClr val="bg1">
                    <a:lumMod val="95000"/>
                  </a:schemeClr>
                </a:solidFill>
              </a:rPr>
              <a:t>used</a:t>
            </a:r>
            <a:r>
              <a:rPr lang="hu-HU" dirty="0">
                <a:solidFill>
                  <a:schemeClr val="bg1">
                    <a:lumMod val="95000"/>
                  </a:schemeClr>
                </a:solidFill>
              </a:rPr>
              <a:t> </a:t>
            </a:r>
            <a:r>
              <a:rPr lang="hu-HU" dirty="0" err="1">
                <a:solidFill>
                  <a:schemeClr val="bg1">
                    <a:lumMod val="95000"/>
                  </a:schemeClr>
                </a:solidFill>
              </a:rPr>
              <a:t>for</a:t>
            </a:r>
            <a:r>
              <a:rPr lang="hu-HU" dirty="0">
                <a:solidFill>
                  <a:schemeClr val="bg1">
                    <a:lumMod val="95000"/>
                  </a:schemeClr>
                </a:solidFill>
              </a:rPr>
              <a:t> SSH </a:t>
            </a:r>
            <a:r>
              <a:rPr lang="hu-HU" dirty="0" err="1">
                <a:solidFill>
                  <a:schemeClr val="bg1">
                    <a:lumMod val="95000"/>
                  </a:schemeClr>
                </a:solidFill>
              </a:rPr>
              <a:t>connection</a:t>
            </a:r>
            <a:endParaRPr lang="hu-HU" dirty="0">
              <a:solidFill>
                <a:schemeClr val="bg1">
                  <a:lumMod val="95000"/>
                </a:schemeClr>
              </a:solidFill>
            </a:endParaRPr>
          </a:p>
          <a:p>
            <a:endParaRPr lang="hu-HU" dirty="0">
              <a:solidFill>
                <a:schemeClr val="bg1">
                  <a:lumMod val="95000"/>
                </a:schemeClr>
              </a:solidFill>
            </a:endParaRPr>
          </a:p>
        </p:txBody>
      </p:sp>
      <p:pic>
        <p:nvPicPr>
          <p:cNvPr id="5" name="Kép 4">
            <a:extLst>
              <a:ext uri="{FF2B5EF4-FFF2-40B4-BE49-F238E27FC236}">
                <a16:creationId xmlns:a16="http://schemas.microsoft.com/office/drawing/2014/main" id="{A82EAD1B-FE9B-9E60-4793-03BE746A924E}"/>
              </a:ext>
            </a:extLst>
          </p:cNvPr>
          <p:cNvPicPr>
            <a:picLocks noChangeAspect="1"/>
          </p:cNvPicPr>
          <p:nvPr/>
        </p:nvPicPr>
        <p:blipFill>
          <a:blip r:embed="rId3"/>
          <a:stretch>
            <a:fillRect/>
          </a:stretch>
        </p:blipFill>
        <p:spPr>
          <a:xfrm>
            <a:off x="6336249" y="1825625"/>
            <a:ext cx="5439534" cy="2381582"/>
          </a:xfrm>
          <a:prstGeom prst="rect">
            <a:avLst/>
          </a:prstGeom>
        </p:spPr>
      </p:pic>
    </p:spTree>
    <p:extLst>
      <p:ext uri="{BB962C8B-B14F-4D97-AF65-F5344CB8AC3E}">
        <p14:creationId xmlns:p14="http://schemas.microsoft.com/office/powerpoint/2010/main" val="2609442572"/>
      </p:ext>
    </p:extLst>
  </p:cSld>
  <p:clrMapOvr>
    <a:masterClrMapping/>
  </p:clrMapOvr>
  <p:transition spd="slow">
    <p:randomBar dir="vert"/>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86EFB8DB-42C6-5FFA-2DFA-5EC118F5B1DF}"/>
              </a:ext>
            </a:extLst>
          </p:cNvPr>
          <p:cNvSpPr>
            <a:spLocks noGrp="1"/>
          </p:cNvSpPr>
          <p:nvPr>
            <p:ph type="title"/>
          </p:nvPr>
        </p:nvSpPr>
        <p:spPr/>
        <p:txBody>
          <a:bodyPr/>
          <a:lstStyle/>
          <a:p>
            <a:r>
              <a:rPr lang="hu-HU" dirty="0" err="1">
                <a:solidFill>
                  <a:schemeClr val="bg1">
                    <a:lumMod val="95000"/>
                  </a:schemeClr>
                </a:solidFill>
              </a:rPr>
              <a:t>Switchport</a:t>
            </a:r>
            <a:r>
              <a:rPr lang="hu-HU" dirty="0">
                <a:solidFill>
                  <a:schemeClr val="bg1">
                    <a:lumMod val="95000"/>
                  </a:schemeClr>
                </a:solidFill>
              </a:rPr>
              <a:t> </a:t>
            </a:r>
            <a:r>
              <a:rPr lang="hu-HU" dirty="0" err="1">
                <a:solidFill>
                  <a:schemeClr val="bg1">
                    <a:lumMod val="95000"/>
                  </a:schemeClr>
                </a:solidFill>
              </a:rPr>
              <a:t>security</a:t>
            </a:r>
            <a:endParaRPr lang="hu-HU" dirty="0">
              <a:solidFill>
                <a:schemeClr val="bg1">
                  <a:lumMod val="95000"/>
                </a:schemeClr>
              </a:solidFill>
            </a:endParaRPr>
          </a:p>
        </p:txBody>
      </p:sp>
      <p:sp>
        <p:nvSpPr>
          <p:cNvPr id="3" name="Tartalom helye 2">
            <a:extLst>
              <a:ext uri="{FF2B5EF4-FFF2-40B4-BE49-F238E27FC236}">
                <a16:creationId xmlns:a16="http://schemas.microsoft.com/office/drawing/2014/main" id="{3E64C39F-0E20-557F-082F-922DAFA64A14}"/>
              </a:ext>
            </a:extLst>
          </p:cNvPr>
          <p:cNvSpPr>
            <a:spLocks noGrp="1"/>
          </p:cNvSpPr>
          <p:nvPr>
            <p:ph idx="1"/>
          </p:nvPr>
        </p:nvSpPr>
        <p:spPr>
          <a:xfrm>
            <a:off x="630811" y="1760187"/>
            <a:ext cx="5034698" cy="4351338"/>
          </a:xfrm>
        </p:spPr>
        <p:txBody>
          <a:bodyPr/>
          <a:lstStyle/>
          <a:p>
            <a:r>
              <a:rPr lang="hu-HU" dirty="0" err="1">
                <a:solidFill>
                  <a:schemeClr val="bg1">
                    <a:lumMod val="95000"/>
                  </a:schemeClr>
                </a:solidFill>
              </a:rPr>
              <a:t>This</a:t>
            </a:r>
            <a:r>
              <a:rPr lang="hu-HU" dirty="0">
                <a:solidFill>
                  <a:schemeClr val="bg1">
                    <a:lumMod val="95000"/>
                  </a:schemeClr>
                </a:solidFill>
              </a:rPr>
              <a:t> </a:t>
            </a:r>
            <a:r>
              <a:rPr lang="hu-HU" dirty="0" err="1">
                <a:solidFill>
                  <a:schemeClr val="bg1">
                    <a:lumMod val="95000"/>
                  </a:schemeClr>
                </a:solidFill>
              </a:rPr>
              <a:t>section</a:t>
            </a:r>
            <a:r>
              <a:rPr lang="hu-HU" dirty="0">
                <a:solidFill>
                  <a:schemeClr val="bg1">
                    <a:lumMod val="95000"/>
                  </a:schemeClr>
                </a:solidFill>
              </a:rPr>
              <a:t> </a:t>
            </a:r>
            <a:r>
              <a:rPr lang="hu-HU" dirty="0" err="1">
                <a:solidFill>
                  <a:schemeClr val="bg1">
                    <a:lumMod val="95000"/>
                  </a:schemeClr>
                </a:solidFill>
              </a:rPr>
              <a:t>introduces</a:t>
            </a:r>
            <a:r>
              <a:rPr lang="hu-HU" dirty="0">
                <a:solidFill>
                  <a:schemeClr val="bg1">
                    <a:lumMod val="95000"/>
                  </a:schemeClr>
                </a:solidFill>
              </a:rPr>
              <a:t> a </a:t>
            </a:r>
            <a:r>
              <a:rPr lang="hu-HU" dirty="0" err="1">
                <a:solidFill>
                  <a:schemeClr val="bg1">
                    <a:lumMod val="95000"/>
                  </a:schemeClr>
                </a:solidFill>
              </a:rPr>
              <a:t>series</a:t>
            </a:r>
            <a:r>
              <a:rPr lang="hu-HU" dirty="0">
                <a:solidFill>
                  <a:schemeClr val="bg1">
                    <a:lumMod val="95000"/>
                  </a:schemeClr>
                </a:solidFill>
              </a:rPr>
              <a:t> of </a:t>
            </a:r>
            <a:r>
              <a:rPr lang="hu-HU" dirty="0" err="1">
                <a:solidFill>
                  <a:schemeClr val="bg1">
                    <a:lumMod val="95000"/>
                  </a:schemeClr>
                </a:solidFill>
              </a:rPr>
              <a:t>baseline</a:t>
            </a:r>
            <a:r>
              <a:rPr lang="hu-HU" dirty="0">
                <a:solidFill>
                  <a:schemeClr val="bg1">
                    <a:lumMod val="95000"/>
                  </a:schemeClr>
                </a:solidFill>
              </a:rPr>
              <a:t> </a:t>
            </a:r>
            <a:r>
              <a:rPr lang="hu-HU" dirty="0" err="1">
                <a:solidFill>
                  <a:schemeClr val="bg1">
                    <a:lumMod val="95000"/>
                  </a:schemeClr>
                </a:solidFill>
              </a:rPr>
              <a:t>endpoint</a:t>
            </a:r>
            <a:r>
              <a:rPr lang="hu-HU" dirty="0">
                <a:solidFill>
                  <a:schemeClr val="bg1">
                    <a:lumMod val="95000"/>
                  </a:schemeClr>
                </a:solidFill>
              </a:rPr>
              <a:t> </a:t>
            </a:r>
            <a:r>
              <a:rPr lang="hu-HU" dirty="0" err="1">
                <a:solidFill>
                  <a:schemeClr val="bg1">
                    <a:lumMod val="95000"/>
                  </a:schemeClr>
                </a:solidFill>
              </a:rPr>
              <a:t>protection</a:t>
            </a:r>
            <a:r>
              <a:rPr lang="hu-HU" dirty="0">
                <a:solidFill>
                  <a:schemeClr val="bg1">
                    <a:lumMod val="95000"/>
                  </a:schemeClr>
                </a:solidFill>
              </a:rPr>
              <a:t> </a:t>
            </a:r>
            <a:r>
              <a:rPr lang="hu-HU" dirty="0" err="1">
                <a:solidFill>
                  <a:schemeClr val="bg1">
                    <a:lumMod val="95000"/>
                  </a:schemeClr>
                </a:solidFill>
              </a:rPr>
              <a:t>protocols</a:t>
            </a:r>
            <a:r>
              <a:rPr lang="hu-HU" dirty="0">
                <a:solidFill>
                  <a:schemeClr val="bg1">
                    <a:lumMod val="95000"/>
                  </a:schemeClr>
                </a:solidFill>
              </a:rPr>
              <a:t>, </a:t>
            </a:r>
            <a:r>
              <a:rPr lang="hu-HU" dirty="0" err="1">
                <a:solidFill>
                  <a:schemeClr val="bg1">
                    <a:lumMod val="95000"/>
                  </a:schemeClr>
                </a:solidFill>
              </a:rPr>
              <a:t>that</a:t>
            </a:r>
            <a:r>
              <a:rPr lang="hu-HU" dirty="0">
                <a:solidFill>
                  <a:schemeClr val="bg1">
                    <a:lumMod val="95000"/>
                  </a:schemeClr>
                </a:solidFill>
              </a:rPr>
              <a:t> </a:t>
            </a:r>
            <a:r>
              <a:rPr lang="hu-HU" dirty="0" err="1">
                <a:solidFill>
                  <a:schemeClr val="bg1">
                    <a:lumMod val="95000"/>
                  </a:schemeClr>
                </a:solidFill>
              </a:rPr>
              <a:t>prevent</a:t>
            </a:r>
            <a:r>
              <a:rPr lang="hu-HU" dirty="0">
                <a:solidFill>
                  <a:schemeClr val="bg1">
                    <a:lumMod val="95000"/>
                  </a:schemeClr>
                </a:solidFill>
              </a:rPr>
              <a:t> </a:t>
            </a:r>
            <a:r>
              <a:rPr lang="hu-HU" dirty="0" err="1">
                <a:solidFill>
                  <a:schemeClr val="bg1">
                    <a:lumMod val="95000"/>
                  </a:schemeClr>
                </a:solidFill>
              </a:rPr>
              <a:t>rouge</a:t>
            </a:r>
            <a:r>
              <a:rPr lang="hu-HU" dirty="0">
                <a:solidFill>
                  <a:schemeClr val="bg1">
                    <a:lumMod val="95000"/>
                  </a:schemeClr>
                </a:solidFill>
              </a:rPr>
              <a:t> end </a:t>
            </a:r>
            <a:r>
              <a:rPr lang="hu-HU" dirty="0" err="1">
                <a:solidFill>
                  <a:schemeClr val="bg1">
                    <a:lumMod val="95000"/>
                  </a:schemeClr>
                </a:solidFill>
              </a:rPr>
              <a:t>users</a:t>
            </a:r>
            <a:r>
              <a:rPr lang="hu-HU" dirty="0">
                <a:solidFill>
                  <a:schemeClr val="bg1">
                    <a:lumMod val="95000"/>
                  </a:schemeClr>
                </a:solidFill>
              </a:rPr>
              <a:t> </a:t>
            </a:r>
            <a:r>
              <a:rPr lang="hu-HU" dirty="0" err="1">
                <a:solidFill>
                  <a:schemeClr val="bg1">
                    <a:lumMod val="95000"/>
                  </a:schemeClr>
                </a:solidFill>
              </a:rPr>
              <a:t>from</a:t>
            </a:r>
            <a:r>
              <a:rPr lang="hu-HU" dirty="0">
                <a:solidFill>
                  <a:schemeClr val="bg1">
                    <a:lumMod val="95000"/>
                  </a:schemeClr>
                </a:solidFill>
              </a:rPr>
              <a:t> </a:t>
            </a:r>
            <a:r>
              <a:rPr lang="hu-HU" dirty="0" err="1">
                <a:solidFill>
                  <a:schemeClr val="bg1">
                    <a:lumMod val="95000"/>
                  </a:schemeClr>
                </a:solidFill>
              </a:rPr>
              <a:t>connecting</a:t>
            </a:r>
            <a:r>
              <a:rPr lang="hu-HU" dirty="0">
                <a:solidFill>
                  <a:schemeClr val="bg1">
                    <a:lumMod val="95000"/>
                  </a:schemeClr>
                </a:solidFill>
              </a:rPr>
              <a:t> </a:t>
            </a:r>
            <a:r>
              <a:rPr lang="hu-HU" dirty="0" err="1">
                <a:solidFill>
                  <a:schemeClr val="bg1">
                    <a:lumMod val="95000"/>
                  </a:schemeClr>
                </a:solidFill>
              </a:rPr>
              <a:t>to</a:t>
            </a:r>
            <a:r>
              <a:rPr lang="hu-HU" dirty="0">
                <a:solidFill>
                  <a:schemeClr val="bg1">
                    <a:lumMod val="95000"/>
                  </a:schemeClr>
                </a:solidFill>
              </a:rPr>
              <a:t> </a:t>
            </a:r>
            <a:r>
              <a:rPr lang="hu-HU" dirty="0" err="1">
                <a:solidFill>
                  <a:schemeClr val="bg1">
                    <a:lumMod val="95000"/>
                  </a:schemeClr>
                </a:solidFill>
              </a:rPr>
              <a:t>the</a:t>
            </a:r>
            <a:r>
              <a:rPr lang="hu-HU" dirty="0">
                <a:solidFill>
                  <a:schemeClr val="bg1">
                    <a:lumMod val="95000"/>
                  </a:schemeClr>
                </a:solidFill>
              </a:rPr>
              <a:t> </a:t>
            </a:r>
            <a:r>
              <a:rPr lang="hu-HU" dirty="0" err="1">
                <a:solidFill>
                  <a:schemeClr val="bg1">
                    <a:lumMod val="95000"/>
                  </a:schemeClr>
                </a:solidFill>
              </a:rPr>
              <a:t>network</a:t>
            </a:r>
            <a:r>
              <a:rPr lang="hu-HU" dirty="0">
                <a:solidFill>
                  <a:schemeClr val="bg1">
                    <a:lumMod val="95000"/>
                  </a:schemeClr>
                </a:solidFill>
              </a:rPr>
              <a:t>.</a:t>
            </a:r>
          </a:p>
          <a:p>
            <a:r>
              <a:rPr lang="hu-HU" dirty="0">
                <a:solidFill>
                  <a:schemeClr val="bg1">
                    <a:lumMod val="95000"/>
                  </a:schemeClr>
                </a:solidFill>
              </a:rPr>
              <a:t>Max 1 MAC </a:t>
            </a:r>
            <a:r>
              <a:rPr lang="hu-HU" dirty="0" err="1">
                <a:solidFill>
                  <a:schemeClr val="bg1">
                    <a:lumMod val="95000"/>
                  </a:schemeClr>
                </a:solidFill>
              </a:rPr>
              <a:t>Address</a:t>
            </a:r>
            <a:endParaRPr lang="hu-HU" dirty="0">
              <a:solidFill>
                <a:schemeClr val="bg1">
                  <a:lumMod val="95000"/>
                </a:schemeClr>
              </a:solidFill>
            </a:endParaRPr>
          </a:p>
          <a:p>
            <a:r>
              <a:rPr lang="hu-HU" dirty="0" err="1">
                <a:solidFill>
                  <a:schemeClr val="bg1">
                    <a:lumMod val="95000"/>
                  </a:schemeClr>
                </a:solidFill>
              </a:rPr>
              <a:t>Violation</a:t>
            </a:r>
            <a:r>
              <a:rPr lang="hu-HU" dirty="0">
                <a:solidFill>
                  <a:schemeClr val="bg1">
                    <a:lumMod val="95000"/>
                  </a:schemeClr>
                </a:solidFill>
              </a:rPr>
              <a:t>: </a:t>
            </a:r>
            <a:r>
              <a:rPr lang="hu-HU" dirty="0" err="1">
                <a:solidFill>
                  <a:schemeClr val="bg1">
                    <a:lumMod val="95000"/>
                  </a:schemeClr>
                </a:solidFill>
              </a:rPr>
              <a:t>shutdown</a:t>
            </a:r>
            <a:endParaRPr lang="hu-HU" dirty="0">
              <a:solidFill>
                <a:schemeClr val="bg1">
                  <a:lumMod val="95000"/>
                </a:schemeClr>
              </a:solidFill>
            </a:endParaRPr>
          </a:p>
        </p:txBody>
      </p:sp>
      <p:pic>
        <p:nvPicPr>
          <p:cNvPr id="5" name="Kép 4">
            <a:extLst>
              <a:ext uri="{FF2B5EF4-FFF2-40B4-BE49-F238E27FC236}">
                <a16:creationId xmlns:a16="http://schemas.microsoft.com/office/drawing/2014/main" id="{B2369852-28B6-E38D-015D-CDD5636E7292}"/>
              </a:ext>
            </a:extLst>
          </p:cNvPr>
          <p:cNvPicPr>
            <a:picLocks noChangeAspect="1"/>
          </p:cNvPicPr>
          <p:nvPr/>
        </p:nvPicPr>
        <p:blipFill>
          <a:blip r:embed="rId3"/>
          <a:stretch>
            <a:fillRect/>
          </a:stretch>
        </p:blipFill>
        <p:spPr>
          <a:xfrm>
            <a:off x="6273719" y="1378838"/>
            <a:ext cx="4806703" cy="5114037"/>
          </a:xfrm>
          <a:prstGeom prst="rect">
            <a:avLst/>
          </a:prstGeom>
        </p:spPr>
      </p:pic>
    </p:spTree>
    <p:extLst>
      <p:ext uri="{BB962C8B-B14F-4D97-AF65-F5344CB8AC3E}">
        <p14:creationId xmlns:p14="http://schemas.microsoft.com/office/powerpoint/2010/main" val="650529762"/>
      </p:ext>
    </p:extLst>
  </p:cSld>
  <p:clrMapOvr>
    <a:masterClrMapping/>
  </p:clrMapOvr>
  <p:transition spd="slow">
    <p:randomBar dir="vert"/>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C10B1AE6-CAFE-9405-176A-02D982DE2A92}"/>
              </a:ext>
            </a:extLst>
          </p:cNvPr>
          <p:cNvSpPr>
            <a:spLocks noGrp="1"/>
          </p:cNvSpPr>
          <p:nvPr>
            <p:ph type="title"/>
          </p:nvPr>
        </p:nvSpPr>
        <p:spPr/>
        <p:txBody>
          <a:bodyPr/>
          <a:lstStyle/>
          <a:p>
            <a:r>
              <a:rPr lang="hu-HU" dirty="0">
                <a:solidFill>
                  <a:schemeClr val="bg1">
                    <a:lumMod val="95000"/>
                  </a:schemeClr>
                </a:solidFill>
              </a:rPr>
              <a:t>ASA Hardware </a:t>
            </a:r>
            <a:r>
              <a:rPr lang="hu-HU" dirty="0" err="1">
                <a:solidFill>
                  <a:schemeClr val="bg1">
                    <a:lumMod val="95000"/>
                  </a:schemeClr>
                </a:solidFill>
              </a:rPr>
              <a:t>Firewall</a:t>
            </a:r>
            <a:endParaRPr lang="hu-HU" dirty="0">
              <a:solidFill>
                <a:schemeClr val="bg1">
                  <a:lumMod val="95000"/>
                </a:schemeClr>
              </a:solidFill>
            </a:endParaRPr>
          </a:p>
        </p:txBody>
      </p:sp>
      <p:sp>
        <p:nvSpPr>
          <p:cNvPr id="3" name="Tartalom helye 2">
            <a:extLst>
              <a:ext uri="{FF2B5EF4-FFF2-40B4-BE49-F238E27FC236}">
                <a16:creationId xmlns:a16="http://schemas.microsoft.com/office/drawing/2014/main" id="{E8205119-1C37-1A20-727B-A55180BD7C81}"/>
              </a:ext>
            </a:extLst>
          </p:cNvPr>
          <p:cNvSpPr>
            <a:spLocks noGrp="1"/>
          </p:cNvSpPr>
          <p:nvPr>
            <p:ph idx="1"/>
          </p:nvPr>
        </p:nvSpPr>
        <p:spPr>
          <a:xfrm>
            <a:off x="838200" y="1825625"/>
            <a:ext cx="3780934" cy="4351338"/>
          </a:xfrm>
        </p:spPr>
        <p:txBody>
          <a:bodyPr/>
          <a:lstStyle/>
          <a:p>
            <a:r>
              <a:rPr lang="hu-HU" dirty="0">
                <a:solidFill>
                  <a:schemeClr val="bg1">
                    <a:lumMod val="95000"/>
                  </a:schemeClr>
                </a:solidFill>
              </a:rPr>
              <a:t>The </a:t>
            </a:r>
            <a:r>
              <a:rPr lang="hu-HU" dirty="0" err="1">
                <a:solidFill>
                  <a:schemeClr val="bg1">
                    <a:lumMod val="95000"/>
                  </a:schemeClr>
                </a:solidFill>
              </a:rPr>
              <a:t>firewall</a:t>
            </a:r>
            <a:r>
              <a:rPr lang="hu-HU" dirty="0">
                <a:solidFill>
                  <a:schemeClr val="bg1">
                    <a:lumMod val="95000"/>
                  </a:schemeClr>
                </a:solidFill>
              </a:rPr>
              <a:t> </a:t>
            </a:r>
            <a:r>
              <a:rPr lang="hu-HU" dirty="0" err="1">
                <a:solidFill>
                  <a:schemeClr val="bg1">
                    <a:lumMod val="95000"/>
                  </a:schemeClr>
                </a:solidFill>
              </a:rPr>
              <a:t>only</a:t>
            </a:r>
            <a:r>
              <a:rPr lang="hu-HU" dirty="0">
                <a:solidFill>
                  <a:schemeClr val="bg1">
                    <a:lumMod val="95000"/>
                  </a:schemeClr>
                </a:solidFill>
              </a:rPr>
              <a:t> </a:t>
            </a:r>
            <a:r>
              <a:rPr lang="hu-HU" dirty="0" err="1">
                <a:solidFill>
                  <a:schemeClr val="bg1">
                    <a:lumMod val="95000"/>
                  </a:schemeClr>
                </a:solidFill>
              </a:rPr>
              <a:t>allows</a:t>
            </a:r>
            <a:r>
              <a:rPr lang="hu-HU" dirty="0">
                <a:solidFill>
                  <a:schemeClr val="bg1">
                    <a:lumMod val="95000"/>
                  </a:schemeClr>
                </a:solidFill>
              </a:rPr>
              <a:t> a </a:t>
            </a:r>
            <a:r>
              <a:rPr lang="hu-HU" dirty="0" err="1">
                <a:solidFill>
                  <a:schemeClr val="bg1">
                    <a:lumMod val="95000"/>
                  </a:schemeClr>
                </a:solidFill>
              </a:rPr>
              <a:t>handful</a:t>
            </a:r>
            <a:r>
              <a:rPr lang="hu-HU" dirty="0">
                <a:solidFill>
                  <a:schemeClr val="bg1">
                    <a:lumMod val="95000"/>
                  </a:schemeClr>
                </a:solidFill>
              </a:rPr>
              <a:t> of </a:t>
            </a:r>
            <a:r>
              <a:rPr lang="hu-HU" dirty="0" err="1">
                <a:solidFill>
                  <a:schemeClr val="bg1">
                    <a:lumMod val="95000"/>
                  </a:schemeClr>
                </a:solidFill>
              </a:rPr>
              <a:t>manually</a:t>
            </a:r>
            <a:r>
              <a:rPr lang="hu-HU" dirty="0">
                <a:solidFill>
                  <a:schemeClr val="bg1">
                    <a:lumMod val="95000"/>
                  </a:schemeClr>
                </a:solidFill>
              </a:rPr>
              <a:t> </a:t>
            </a:r>
            <a:r>
              <a:rPr lang="hu-HU" dirty="0" err="1">
                <a:solidFill>
                  <a:schemeClr val="bg1">
                    <a:lumMod val="95000"/>
                  </a:schemeClr>
                </a:solidFill>
              </a:rPr>
              <a:t>picked</a:t>
            </a:r>
            <a:r>
              <a:rPr lang="hu-HU" dirty="0">
                <a:solidFill>
                  <a:schemeClr val="bg1">
                    <a:lumMod val="95000"/>
                  </a:schemeClr>
                </a:solidFill>
              </a:rPr>
              <a:t> </a:t>
            </a:r>
            <a:r>
              <a:rPr lang="hu-HU" dirty="0" err="1">
                <a:solidFill>
                  <a:schemeClr val="bg1">
                    <a:lumMod val="95000"/>
                  </a:schemeClr>
                </a:solidFill>
              </a:rPr>
              <a:t>hosts</a:t>
            </a:r>
            <a:r>
              <a:rPr lang="hu-HU" dirty="0">
                <a:solidFill>
                  <a:schemeClr val="bg1">
                    <a:lumMod val="95000"/>
                  </a:schemeClr>
                </a:solidFill>
              </a:rPr>
              <a:t> </a:t>
            </a:r>
            <a:r>
              <a:rPr lang="hu-HU" dirty="0" err="1">
                <a:solidFill>
                  <a:schemeClr val="bg1">
                    <a:lumMod val="95000"/>
                  </a:schemeClr>
                </a:solidFill>
              </a:rPr>
              <a:t>to</a:t>
            </a:r>
            <a:r>
              <a:rPr lang="hu-HU" dirty="0">
                <a:solidFill>
                  <a:schemeClr val="bg1">
                    <a:lumMod val="95000"/>
                  </a:schemeClr>
                </a:solidFill>
              </a:rPr>
              <a:t> </a:t>
            </a:r>
            <a:r>
              <a:rPr lang="hu-HU" dirty="0" err="1">
                <a:solidFill>
                  <a:schemeClr val="bg1">
                    <a:lumMod val="95000"/>
                  </a:schemeClr>
                </a:solidFill>
              </a:rPr>
              <a:t>access</a:t>
            </a:r>
            <a:r>
              <a:rPr lang="hu-HU" dirty="0">
                <a:solidFill>
                  <a:schemeClr val="bg1">
                    <a:lumMod val="95000"/>
                  </a:schemeClr>
                </a:solidFill>
              </a:rPr>
              <a:t> </a:t>
            </a:r>
            <a:r>
              <a:rPr lang="hu-HU" dirty="0" err="1">
                <a:solidFill>
                  <a:schemeClr val="bg1">
                    <a:lumMod val="95000"/>
                  </a:schemeClr>
                </a:solidFill>
              </a:rPr>
              <a:t>the</a:t>
            </a:r>
            <a:r>
              <a:rPr lang="hu-HU" dirty="0">
                <a:solidFill>
                  <a:schemeClr val="bg1">
                    <a:lumMod val="95000"/>
                  </a:schemeClr>
                </a:solidFill>
              </a:rPr>
              <a:t> server, and </a:t>
            </a:r>
            <a:r>
              <a:rPr lang="hu-HU" dirty="0" err="1">
                <a:solidFill>
                  <a:schemeClr val="bg1">
                    <a:lumMod val="95000"/>
                  </a:schemeClr>
                </a:solidFill>
              </a:rPr>
              <a:t>only</a:t>
            </a:r>
            <a:r>
              <a:rPr lang="hu-HU" dirty="0">
                <a:solidFill>
                  <a:schemeClr val="bg1">
                    <a:lumMod val="95000"/>
                  </a:schemeClr>
                </a:solidFill>
              </a:rPr>
              <a:t> </a:t>
            </a:r>
            <a:r>
              <a:rPr lang="hu-HU" dirty="0" err="1">
                <a:solidFill>
                  <a:schemeClr val="bg1">
                    <a:lumMod val="95000"/>
                  </a:schemeClr>
                </a:solidFill>
              </a:rPr>
              <a:t>alllows</a:t>
            </a:r>
            <a:r>
              <a:rPr lang="hu-HU" dirty="0">
                <a:solidFill>
                  <a:schemeClr val="bg1">
                    <a:lumMod val="95000"/>
                  </a:schemeClr>
                </a:solidFill>
              </a:rPr>
              <a:t> </a:t>
            </a:r>
            <a:r>
              <a:rPr lang="hu-HU" dirty="0" err="1">
                <a:solidFill>
                  <a:schemeClr val="bg1">
                    <a:lumMod val="95000"/>
                  </a:schemeClr>
                </a:solidFill>
              </a:rPr>
              <a:t>encrypted</a:t>
            </a:r>
            <a:r>
              <a:rPr lang="hu-HU" dirty="0">
                <a:solidFill>
                  <a:schemeClr val="bg1">
                    <a:lumMod val="95000"/>
                  </a:schemeClr>
                </a:solidFill>
              </a:rPr>
              <a:t> </a:t>
            </a:r>
            <a:r>
              <a:rPr lang="hu-HU" dirty="0" err="1">
                <a:solidFill>
                  <a:schemeClr val="bg1">
                    <a:lumMod val="95000"/>
                  </a:schemeClr>
                </a:solidFill>
              </a:rPr>
              <a:t>protocols</a:t>
            </a:r>
            <a:r>
              <a:rPr lang="hu-HU" dirty="0">
                <a:solidFill>
                  <a:schemeClr val="bg1">
                    <a:lumMod val="95000"/>
                  </a:schemeClr>
                </a:solidFill>
              </a:rPr>
              <a:t> </a:t>
            </a:r>
            <a:r>
              <a:rPr lang="hu-HU" dirty="0" err="1">
                <a:solidFill>
                  <a:schemeClr val="bg1">
                    <a:lumMod val="95000"/>
                  </a:schemeClr>
                </a:solidFill>
              </a:rPr>
              <a:t>to</a:t>
            </a:r>
            <a:r>
              <a:rPr lang="hu-HU" dirty="0">
                <a:solidFill>
                  <a:schemeClr val="bg1">
                    <a:lumMod val="95000"/>
                  </a:schemeClr>
                </a:solidFill>
              </a:rPr>
              <a:t> be </a:t>
            </a:r>
            <a:r>
              <a:rPr lang="hu-HU" dirty="0" err="1">
                <a:solidFill>
                  <a:schemeClr val="bg1">
                    <a:lumMod val="95000"/>
                  </a:schemeClr>
                </a:solidFill>
              </a:rPr>
              <a:t>used</a:t>
            </a:r>
            <a:r>
              <a:rPr lang="hu-HU" dirty="0">
                <a:solidFill>
                  <a:schemeClr val="bg1">
                    <a:lumMod val="95000"/>
                  </a:schemeClr>
                </a:solidFill>
              </a:rPr>
              <a:t> </a:t>
            </a:r>
            <a:r>
              <a:rPr lang="hu-HU" dirty="0" err="1">
                <a:solidFill>
                  <a:schemeClr val="bg1">
                    <a:lumMod val="95000"/>
                  </a:schemeClr>
                </a:solidFill>
              </a:rPr>
              <a:t>during</a:t>
            </a:r>
            <a:r>
              <a:rPr lang="hu-HU" dirty="0">
                <a:solidFill>
                  <a:schemeClr val="bg1">
                    <a:lumMod val="95000"/>
                  </a:schemeClr>
                </a:solidFill>
              </a:rPr>
              <a:t> </a:t>
            </a:r>
            <a:r>
              <a:rPr lang="hu-HU" dirty="0" err="1">
                <a:solidFill>
                  <a:schemeClr val="bg1">
                    <a:lumMod val="95000"/>
                  </a:schemeClr>
                </a:solidFill>
              </a:rPr>
              <a:t>communication</a:t>
            </a:r>
            <a:endParaRPr lang="hu-HU" dirty="0">
              <a:solidFill>
                <a:schemeClr val="bg1">
                  <a:lumMod val="95000"/>
                </a:schemeClr>
              </a:solidFill>
            </a:endParaRPr>
          </a:p>
        </p:txBody>
      </p:sp>
      <p:pic>
        <p:nvPicPr>
          <p:cNvPr id="7" name="Kép 6">
            <a:extLst>
              <a:ext uri="{FF2B5EF4-FFF2-40B4-BE49-F238E27FC236}">
                <a16:creationId xmlns:a16="http://schemas.microsoft.com/office/drawing/2014/main" id="{8EECDEED-7EB6-76C5-3D9F-4A0E5E3DA290}"/>
              </a:ext>
            </a:extLst>
          </p:cNvPr>
          <p:cNvPicPr>
            <a:picLocks noChangeAspect="1"/>
          </p:cNvPicPr>
          <p:nvPr/>
        </p:nvPicPr>
        <p:blipFill>
          <a:blip r:embed="rId3"/>
          <a:stretch>
            <a:fillRect/>
          </a:stretch>
        </p:blipFill>
        <p:spPr>
          <a:xfrm>
            <a:off x="4619134" y="2058334"/>
            <a:ext cx="7262598" cy="2560800"/>
          </a:xfrm>
          <a:prstGeom prst="rect">
            <a:avLst/>
          </a:prstGeom>
        </p:spPr>
      </p:pic>
    </p:spTree>
    <p:extLst>
      <p:ext uri="{BB962C8B-B14F-4D97-AF65-F5344CB8AC3E}">
        <p14:creationId xmlns:p14="http://schemas.microsoft.com/office/powerpoint/2010/main" val="4038400212"/>
      </p:ext>
    </p:extLst>
  </p:cSld>
  <p:clrMapOvr>
    <a:masterClrMapping/>
  </p:clrMapOvr>
  <p:transition spd="slow">
    <p:randomBar dir="vert"/>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52B9A219-4382-140F-713C-DBAFAF76DD28}"/>
              </a:ext>
            </a:extLst>
          </p:cNvPr>
          <p:cNvSpPr>
            <a:spLocks noGrp="1"/>
          </p:cNvSpPr>
          <p:nvPr>
            <p:ph type="title"/>
          </p:nvPr>
        </p:nvSpPr>
        <p:spPr/>
        <p:txBody>
          <a:bodyPr/>
          <a:lstStyle/>
          <a:p>
            <a:r>
              <a:rPr lang="hu-HU" dirty="0" err="1">
                <a:solidFill>
                  <a:schemeClr val="bg1"/>
                </a:solidFill>
              </a:rPr>
              <a:t>Possible</a:t>
            </a:r>
            <a:r>
              <a:rPr lang="hu-HU" dirty="0">
                <a:solidFill>
                  <a:schemeClr val="bg1"/>
                </a:solidFill>
              </a:rPr>
              <a:t> </a:t>
            </a:r>
            <a:r>
              <a:rPr lang="hu-HU" dirty="0" err="1">
                <a:solidFill>
                  <a:schemeClr val="bg1"/>
                </a:solidFill>
              </a:rPr>
              <a:t>Advancements</a:t>
            </a:r>
            <a:r>
              <a:rPr lang="hu-HU" dirty="0">
                <a:solidFill>
                  <a:schemeClr val="bg1"/>
                </a:solidFill>
              </a:rPr>
              <a:t> In The </a:t>
            </a:r>
            <a:r>
              <a:rPr lang="hu-HU" dirty="0" err="1">
                <a:solidFill>
                  <a:schemeClr val="bg1"/>
                </a:solidFill>
              </a:rPr>
              <a:t>Near</a:t>
            </a:r>
            <a:r>
              <a:rPr lang="hu-HU" dirty="0">
                <a:solidFill>
                  <a:schemeClr val="bg1"/>
                </a:solidFill>
              </a:rPr>
              <a:t> </a:t>
            </a:r>
            <a:r>
              <a:rPr lang="hu-HU" dirty="0" err="1">
                <a:solidFill>
                  <a:schemeClr val="bg1"/>
                </a:solidFill>
              </a:rPr>
              <a:t>Future</a:t>
            </a:r>
            <a:endParaRPr lang="hu-HU" dirty="0">
              <a:solidFill>
                <a:schemeClr val="bg1"/>
              </a:solidFill>
            </a:endParaRPr>
          </a:p>
        </p:txBody>
      </p:sp>
      <p:sp>
        <p:nvSpPr>
          <p:cNvPr id="3" name="Tartalom helye 2">
            <a:extLst>
              <a:ext uri="{FF2B5EF4-FFF2-40B4-BE49-F238E27FC236}">
                <a16:creationId xmlns:a16="http://schemas.microsoft.com/office/drawing/2014/main" id="{7C8BBDE8-8E58-F0D9-1877-55B695B58D20}"/>
              </a:ext>
            </a:extLst>
          </p:cNvPr>
          <p:cNvSpPr>
            <a:spLocks noGrp="1"/>
          </p:cNvSpPr>
          <p:nvPr>
            <p:ph idx="1"/>
          </p:nvPr>
        </p:nvSpPr>
        <p:spPr>
          <a:xfrm>
            <a:off x="838200" y="1859492"/>
            <a:ext cx="10515600" cy="4351338"/>
          </a:xfrm>
        </p:spPr>
        <p:txBody>
          <a:bodyPr/>
          <a:lstStyle/>
          <a:p>
            <a:pPr>
              <a:lnSpc>
                <a:spcPct val="150000"/>
              </a:lnSpc>
            </a:pPr>
            <a:r>
              <a:rPr lang="hu-HU" dirty="0" err="1">
                <a:solidFill>
                  <a:schemeClr val="bg1"/>
                </a:solidFill>
              </a:rPr>
              <a:t>Auction</a:t>
            </a:r>
            <a:r>
              <a:rPr lang="hu-HU" dirty="0">
                <a:solidFill>
                  <a:schemeClr val="bg1"/>
                </a:solidFill>
              </a:rPr>
              <a:t> site </a:t>
            </a:r>
            <a:r>
              <a:rPr lang="hu-HU" dirty="0" err="1">
                <a:solidFill>
                  <a:schemeClr val="bg1"/>
                </a:solidFill>
              </a:rPr>
              <a:t>for</a:t>
            </a:r>
            <a:r>
              <a:rPr lang="hu-HU" dirty="0">
                <a:solidFill>
                  <a:schemeClr val="bg1"/>
                </a:solidFill>
              </a:rPr>
              <a:t> </a:t>
            </a:r>
            <a:r>
              <a:rPr lang="hu-HU" dirty="0" err="1">
                <a:solidFill>
                  <a:schemeClr val="bg1"/>
                </a:solidFill>
              </a:rPr>
              <a:t>employees</a:t>
            </a:r>
            <a:r>
              <a:rPr lang="hu-HU" dirty="0">
                <a:solidFill>
                  <a:schemeClr val="bg1"/>
                </a:solidFill>
              </a:rPr>
              <a:t>, </a:t>
            </a:r>
            <a:r>
              <a:rPr lang="hu-HU" dirty="0" err="1">
                <a:solidFill>
                  <a:schemeClr val="bg1"/>
                </a:solidFill>
              </a:rPr>
              <a:t>to</a:t>
            </a:r>
            <a:r>
              <a:rPr lang="hu-HU" dirty="0">
                <a:solidFill>
                  <a:schemeClr val="bg1"/>
                </a:solidFill>
              </a:rPr>
              <a:t> </a:t>
            </a:r>
            <a:r>
              <a:rPr lang="hu-HU" dirty="0" err="1">
                <a:solidFill>
                  <a:schemeClr val="bg1"/>
                </a:solidFill>
              </a:rPr>
              <a:t>reduce</a:t>
            </a:r>
            <a:r>
              <a:rPr lang="hu-HU" dirty="0">
                <a:solidFill>
                  <a:schemeClr val="bg1"/>
                </a:solidFill>
              </a:rPr>
              <a:t> e-</a:t>
            </a:r>
            <a:r>
              <a:rPr lang="hu-HU" dirty="0" err="1">
                <a:solidFill>
                  <a:schemeClr val="bg1"/>
                </a:solidFill>
              </a:rPr>
              <a:t>waste</a:t>
            </a:r>
            <a:endParaRPr lang="hu-HU" dirty="0">
              <a:solidFill>
                <a:schemeClr val="bg1"/>
              </a:solidFill>
            </a:endParaRPr>
          </a:p>
          <a:p>
            <a:pPr>
              <a:lnSpc>
                <a:spcPct val="150000"/>
              </a:lnSpc>
            </a:pPr>
            <a:r>
              <a:rPr lang="hu-HU" dirty="0" err="1">
                <a:solidFill>
                  <a:schemeClr val="bg1"/>
                </a:solidFill>
              </a:rPr>
              <a:t>Introduce</a:t>
            </a:r>
            <a:r>
              <a:rPr lang="hu-HU" dirty="0">
                <a:solidFill>
                  <a:schemeClr val="bg1"/>
                </a:solidFill>
              </a:rPr>
              <a:t> IPv6 </a:t>
            </a:r>
            <a:r>
              <a:rPr lang="hu-HU" dirty="0" err="1">
                <a:solidFill>
                  <a:schemeClr val="bg1"/>
                </a:solidFill>
              </a:rPr>
              <a:t>for</a:t>
            </a:r>
            <a:r>
              <a:rPr lang="hu-HU" dirty="0">
                <a:solidFill>
                  <a:schemeClr val="bg1"/>
                </a:solidFill>
              </a:rPr>
              <a:t> </a:t>
            </a:r>
            <a:r>
              <a:rPr lang="hu-HU" dirty="0" err="1">
                <a:solidFill>
                  <a:schemeClr val="bg1"/>
                </a:solidFill>
              </a:rPr>
              <a:t>other</a:t>
            </a:r>
            <a:r>
              <a:rPr lang="hu-HU" dirty="0">
                <a:solidFill>
                  <a:schemeClr val="bg1"/>
                </a:solidFill>
              </a:rPr>
              <a:t> </a:t>
            </a:r>
            <a:r>
              <a:rPr lang="hu-HU" dirty="0" err="1">
                <a:solidFill>
                  <a:schemeClr val="bg1"/>
                </a:solidFill>
              </a:rPr>
              <a:t>company</a:t>
            </a:r>
            <a:r>
              <a:rPr lang="hu-HU" dirty="0">
                <a:solidFill>
                  <a:schemeClr val="bg1"/>
                </a:solidFill>
              </a:rPr>
              <a:t> </a:t>
            </a:r>
            <a:r>
              <a:rPr lang="hu-HU" dirty="0" err="1">
                <a:solidFill>
                  <a:schemeClr val="bg1"/>
                </a:solidFill>
              </a:rPr>
              <a:t>sites</a:t>
            </a:r>
            <a:endParaRPr lang="hu-HU" dirty="0">
              <a:solidFill>
                <a:schemeClr val="bg1"/>
              </a:solidFill>
            </a:endParaRPr>
          </a:p>
          <a:p>
            <a:pPr>
              <a:lnSpc>
                <a:spcPct val="150000"/>
              </a:lnSpc>
            </a:pPr>
            <a:r>
              <a:rPr lang="hu-HU" dirty="0" err="1">
                <a:solidFill>
                  <a:schemeClr val="bg1"/>
                </a:solidFill>
              </a:rPr>
              <a:t>Introduce</a:t>
            </a:r>
            <a:r>
              <a:rPr lang="hu-HU" dirty="0">
                <a:solidFill>
                  <a:schemeClr val="bg1"/>
                </a:solidFill>
              </a:rPr>
              <a:t> a </a:t>
            </a:r>
            <a:r>
              <a:rPr lang="hu-HU" dirty="0" err="1">
                <a:solidFill>
                  <a:schemeClr val="bg1"/>
                </a:solidFill>
              </a:rPr>
              <a:t>Token-based</a:t>
            </a:r>
            <a:r>
              <a:rPr lang="hu-HU" dirty="0">
                <a:solidFill>
                  <a:schemeClr val="bg1"/>
                </a:solidFill>
              </a:rPr>
              <a:t> </a:t>
            </a:r>
            <a:r>
              <a:rPr lang="hu-HU" dirty="0" err="1">
                <a:solidFill>
                  <a:schemeClr val="bg1"/>
                </a:solidFill>
              </a:rPr>
              <a:t>authentication</a:t>
            </a:r>
            <a:r>
              <a:rPr lang="hu-HU" dirty="0">
                <a:solidFill>
                  <a:schemeClr val="bg1"/>
                </a:solidFill>
              </a:rPr>
              <a:t> </a:t>
            </a:r>
            <a:r>
              <a:rPr lang="hu-HU" dirty="0" err="1">
                <a:solidFill>
                  <a:schemeClr val="bg1"/>
                </a:solidFill>
              </a:rPr>
              <a:t>system</a:t>
            </a:r>
            <a:r>
              <a:rPr lang="hu-HU" dirty="0">
                <a:solidFill>
                  <a:schemeClr val="bg1"/>
                </a:solidFill>
              </a:rPr>
              <a:t> </a:t>
            </a:r>
            <a:r>
              <a:rPr lang="hu-HU" dirty="0" err="1">
                <a:solidFill>
                  <a:schemeClr val="bg1"/>
                </a:solidFill>
              </a:rPr>
              <a:t>for</a:t>
            </a:r>
            <a:r>
              <a:rPr lang="hu-HU" dirty="0">
                <a:solidFill>
                  <a:schemeClr val="bg1"/>
                </a:solidFill>
              </a:rPr>
              <a:t> </a:t>
            </a:r>
            <a:r>
              <a:rPr lang="hu-HU" dirty="0" err="1">
                <a:solidFill>
                  <a:schemeClr val="bg1"/>
                </a:solidFill>
              </a:rPr>
              <a:t>external</a:t>
            </a:r>
            <a:r>
              <a:rPr lang="hu-HU" dirty="0">
                <a:solidFill>
                  <a:schemeClr val="bg1"/>
                </a:solidFill>
              </a:rPr>
              <a:t> </a:t>
            </a:r>
            <a:r>
              <a:rPr lang="hu-HU" dirty="0" err="1">
                <a:solidFill>
                  <a:schemeClr val="bg1"/>
                </a:solidFill>
              </a:rPr>
              <a:t>partners</a:t>
            </a:r>
            <a:endParaRPr lang="hu-HU" dirty="0">
              <a:solidFill>
                <a:schemeClr val="bg1"/>
              </a:solidFill>
            </a:endParaRPr>
          </a:p>
        </p:txBody>
      </p:sp>
    </p:spTree>
    <p:extLst>
      <p:ext uri="{BB962C8B-B14F-4D97-AF65-F5344CB8AC3E}">
        <p14:creationId xmlns:p14="http://schemas.microsoft.com/office/powerpoint/2010/main" val="59854743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030ADD49-6333-4730-CF1D-C4F7DA0F9564}"/>
              </a:ext>
            </a:extLst>
          </p:cNvPr>
          <p:cNvSpPr>
            <a:spLocks noGrp="1"/>
          </p:cNvSpPr>
          <p:nvPr>
            <p:ph type="title"/>
          </p:nvPr>
        </p:nvSpPr>
        <p:spPr/>
        <p:txBody>
          <a:bodyPr/>
          <a:lstStyle/>
          <a:p>
            <a:r>
              <a:rPr lang="hu-HU" b="1" dirty="0" err="1">
                <a:solidFill>
                  <a:schemeClr val="bg1"/>
                </a:solidFill>
              </a:rPr>
              <a:t>Active</a:t>
            </a:r>
            <a:r>
              <a:rPr lang="hu-HU" b="1" dirty="0">
                <a:solidFill>
                  <a:schemeClr val="bg1"/>
                </a:solidFill>
              </a:rPr>
              <a:t> </a:t>
            </a:r>
            <a:r>
              <a:rPr lang="hu-HU" b="1" dirty="0" err="1">
                <a:solidFill>
                  <a:schemeClr val="bg1"/>
                </a:solidFill>
              </a:rPr>
              <a:t>Directory</a:t>
            </a:r>
            <a:r>
              <a:rPr lang="hu-HU" b="1" dirty="0">
                <a:solidFill>
                  <a:schemeClr val="bg1"/>
                </a:solidFill>
              </a:rPr>
              <a:t> szerepe</a:t>
            </a:r>
          </a:p>
        </p:txBody>
      </p:sp>
      <p:sp>
        <p:nvSpPr>
          <p:cNvPr id="3" name="Tartalom helye 2">
            <a:extLst>
              <a:ext uri="{FF2B5EF4-FFF2-40B4-BE49-F238E27FC236}">
                <a16:creationId xmlns:a16="http://schemas.microsoft.com/office/drawing/2014/main" id="{205EDD9C-CE08-7B91-8D18-FA01D3A2F699}"/>
              </a:ext>
            </a:extLst>
          </p:cNvPr>
          <p:cNvSpPr>
            <a:spLocks noGrp="1"/>
          </p:cNvSpPr>
          <p:nvPr>
            <p:ph idx="1"/>
          </p:nvPr>
        </p:nvSpPr>
        <p:spPr/>
        <p:txBody>
          <a:bodyPr/>
          <a:lstStyle/>
          <a:p>
            <a:pPr>
              <a:lnSpc>
                <a:spcPct val="150000"/>
              </a:lnSpc>
            </a:pPr>
            <a:r>
              <a:rPr lang="hu-HU" dirty="0">
                <a:solidFill>
                  <a:schemeClr val="bg1"/>
                </a:solidFill>
              </a:rPr>
              <a:t>Központi hitelesítés</a:t>
            </a:r>
          </a:p>
          <a:p>
            <a:pPr>
              <a:lnSpc>
                <a:spcPct val="150000"/>
              </a:lnSpc>
            </a:pPr>
            <a:r>
              <a:rPr lang="hu-HU" dirty="0">
                <a:solidFill>
                  <a:schemeClr val="bg1"/>
                </a:solidFill>
              </a:rPr>
              <a:t>Felhasználókezelés</a:t>
            </a:r>
          </a:p>
          <a:p>
            <a:pPr>
              <a:lnSpc>
                <a:spcPct val="150000"/>
              </a:lnSpc>
            </a:pPr>
            <a:r>
              <a:rPr lang="hu-HU" dirty="0">
                <a:solidFill>
                  <a:schemeClr val="bg1"/>
                </a:solidFill>
              </a:rPr>
              <a:t>Csoportalapú jogosultság</a:t>
            </a:r>
          </a:p>
          <a:p>
            <a:pPr>
              <a:lnSpc>
                <a:spcPct val="150000"/>
              </a:lnSpc>
            </a:pPr>
            <a:r>
              <a:rPr lang="hu-HU" dirty="0">
                <a:solidFill>
                  <a:schemeClr val="bg1"/>
                </a:solidFill>
              </a:rPr>
              <a:t>Erőforrás-hozzáférés szabályozása</a:t>
            </a:r>
          </a:p>
        </p:txBody>
      </p:sp>
    </p:spTree>
    <p:extLst>
      <p:ext uri="{BB962C8B-B14F-4D97-AF65-F5344CB8AC3E}">
        <p14:creationId xmlns:p14="http://schemas.microsoft.com/office/powerpoint/2010/main" val="311172189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5A057299-C548-8DC3-55D8-9B66C76EE640}"/>
              </a:ext>
            </a:extLst>
          </p:cNvPr>
          <p:cNvSpPr>
            <a:spLocks noGrp="1"/>
          </p:cNvSpPr>
          <p:nvPr>
            <p:ph type="title"/>
          </p:nvPr>
        </p:nvSpPr>
        <p:spPr/>
        <p:txBody>
          <a:bodyPr/>
          <a:lstStyle/>
          <a:p>
            <a:r>
              <a:rPr lang="hu-HU" b="1" dirty="0" err="1">
                <a:solidFill>
                  <a:schemeClr val="bg1"/>
                </a:solidFill>
              </a:rPr>
              <a:t>Domain</a:t>
            </a:r>
            <a:r>
              <a:rPr lang="hu-HU" b="1" dirty="0">
                <a:solidFill>
                  <a:schemeClr val="bg1"/>
                </a:solidFill>
              </a:rPr>
              <a:t> struktúra</a:t>
            </a:r>
          </a:p>
        </p:txBody>
      </p:sp>
      <p:sp>
        <p:nvSpPr>
          <p:cNvPr id="3" name="Tartalom helye 2">
            <a:extLst>
              <a:ext uri="{FF2B5EF4-FFF2-40B4-BE49-F238E27FC236}">
                <a16:creationId xmlns:a16="http://schemas.microsoft.com/office/drawing/2014/main" id="{DADB65EA-2206-9F6E-1B34-8A188FF61ECB}"/>
              </a:ext>
            </a:extLst>
          </p:cNvPr>
          <p:cNvSpPr>
            <a:spLocks noGrp="1"/>
          </p:cNvSpPr>
          <p:nvPr>
            <p:ph sz="half" idx="1"/>
          </p:nvPr>
        </p:nvSpPr>
        <p:spPr>
          <a:xfrm>
            <a:off x="838200" y="1825625"/>
            <a:ext cx="6358128" cy="4351338"/>
          </a:xfrm>
        </p:spPr>
        <p:txBody>
          <a:bodyPr/>
          <a:lstStyle/>
          <a:p>
            <a:pPr>
              <a:lnSpc>
                <a:spcPct val="150000"/>
              </a:lnSpc>
            </a:pPr>
            <a:r>
              <a:rPr lang="hu-HU" dirty="0" err="1">
                <a:solidFill>
                  <a:schemeClr val="bg1"/>
                </a:solidFill>
              </a:rPr>
              <a:t>Egydomaines</a:t>
            </a:r>
            <a:r>
              <a:rPr lang="hu-HU" dirty="0">
                <a:solidFill>
                  <a:schemeClr val="bg1"/>
                </a:solidFill>
              </a:rPr>
              <a:t> környezet</a:t>
            </a:r>
          </a:p>
          <a:p>
            <a:pPr>
              <a:lnSpc>
                <a:spcPct val="150000"/>
              </a:lnSpc>
            </a:pPr>
            <a:r>
              <a:rPr lang="hu-HU" dirty="0">
                <a:solidFill>
                  <a:schemeClr val="bg1"/>
                </a:solidFill>
              </a:rPr>
              <a:t>Részleg alapú OU-struktúra</a:t>
            </a:r>
          </a:p>
          <a:p>
            <a:pPr>
              <a:lnSpc>
                <a:spcPct val="150000"/>
              </a:lnSpc>
            </a:pPr>
            <a:r>
              <a:rPr lang="hu-HU" dirty="0">
                <a:solidFill>
                  <a:schemeClr val="bg1"/>
                </a:solidFill>
              </a:rPr>
              <a:t>Külön Service </a:t>
            </a:r>
            <a:r>
              <a:rPr lang="hu-HU" dirty="0" err="1">
                <a:solidFill>
                  <a:schemeClr val="bg1"/>
                </a:solidFill>
              </a:rPr>
              <a:t>Accounts</a:t>
            </a:r>
            <a:r>
              <a:rPr lang="hu-HU" dirty="0">
                <a:solidFill>
                  <a:schemeClr val="bg1"/>
                </a:solidFill>
              </a:rPr>
              <a:t> tároló</a:t>
            </a:r>
          </a:p>
          <a:p>
            <a:pPr>
              <a:lnSpc>
                <a:spcPct val="150000"/>
              </a:lnSpc>
            </a:pPr>
            <a:r>
              <a:rPr lang="hu-HU" dirty="0">
                <a:solidFill>
                  <a:schemeClr val="bg1"/>
                </a:solidFill>
              </a:rPr>
              <a:t>Célzott GPO alkalmazás OU szinten</a:t>
            </a:r>
          </a:p>
        </p:txBody>
      </p:sp>
      <p:pic>
        <p:nvPicPr>
          <p:cNvPr id="6" name="Tartalom helye 5" descr="A képen szöveg, képernyőkép, Betűtípus, szám látható&#10;&#10;Előfordulhat, hogy az AI által létrehozott tartalom helytelen.">
            <a:extLst>
              <a:ext uri="{FF2B5EF4-FFF2-40B4-BE49-F238E27FC236}">
                <a16:creationId xmlns:a16="http://schemas.microsoft.com/office/drawing/2014/main" id="{94C0D490-9886-09E7-1E26-FF27F8A2B888}"/>
              </a:ext>
            </a:extLst>
          </p:cNvPr>
          <p:cNvPicPr>
            <a:picLocks noGrp="1" noChangeAspect="1"/>
          </p:cNvPicPr>
          <p:nvPr>
            <p:ph sz="half" idx="2"/>
          </p:nvPr>
        </p:nvPicPr>
        <p:blipFill>
          <a:blip r:embed="rId3"/>
          <a:stretch>
            <a:fillRect/>
          </a:stretch>
        </p:blipFill>
        <p:spPr>
          <a:xfrm>
            <a:off x="8104700" y="678846"/>
            <a:ext cx="2246308" cy="5500307"/>
          </a:xfrm>
          <a:prstGeom prst="rect">
            <a:avLst/>
          </a:prstGeom>
        </p:spPr>
      </p:pic>
    </p:spTree>
    <p:extLst>
      <p:ext uri="{BB962C8B-B14F-4D97-AF65-F5344CB8AC3E}">
        <p14:creationId xmlns:p14="http://schemas.microsoft.com/office/powerpoint/2010/main" val="175705548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F0230E53-9566-10F7-FBA9-D8EB79CDC3D2}"/>
              </a:ext>
            </a:extLst>
          </p:cNvPr>
          <p:cNvSpPr>
            <a:spLocks noGrp="1"/>
          </p:cNvSpPr>
          <p:nvPr>
            <p:ph type="title"/>
          </p:nvPr>
        </p:nvSpPr>
        <p:spPr/>
        <p:txBody>
          <a:bodyPr/>
          <a:lstStyle/>
          <a:p>
            <a:r>
              <a:rPr lang="hu-HU" b="1" dirty="0">
                <a:solidFill>
                  <a:schemeClr val="bg1"/>
                </a:solidFill>
              </a:rPr>
              <a:t>Jelszóházirend</a:t>
            </a:r>
          </a:p>
        </p:txBody>
      </p:sp>
      <p:sp>
        <p:nvSpPr>
          <p:cNvPr id="3" name="Tartalom helye 2">
            <a:extLst>
              <a:ext uri="{FF2B5EF4-FFF2-40B4-BE49-F238E27FC236}">
                <a16:creationId xmlns:a16="http://schemas.microsoft.com/office/drawing/2014/main" id="{DE58BD7A-C4EA-0DAB-BAF9-44D2CC152C9B}"/>
              </a:ext>
            </a:extLst>
          </p:cNvPr>
          <p:cNvSpPr>
            <a:spLocks noGrp="1"/>
          </p:cNvSpPr>
          <p:nvPr>
            <p:ph sz="half" idx="1"/>
          </p:nvPr>
        </p:nvSpPr>
        <p:spPr>
          <a:xfrm>
            <a:off x="838200" y="1825625"/>
            <a:ext cx="3203448" cy="4351338"/>
          </a:xfrm>
        </p:spPr>
        <p:txBody>
          <a:bodyPr/>
          <a:lstStyle/>
          <a:p>
            <a:pPr>
              <a:lnSpc>
                <a:spcPct val="150000"/>
              </a:lnSpc>
            </a:pPr>
            <a:r>
              <a:rPr lang="hu-HU" dirty="0">
                <a:solidFill>
                  <a:schemeClr val="bg1"/>
                </a:solidFill>
              </a:rPr>
              <a:t>Kötelező jelszócsere első bejelentkezéskor</a:t>
            </a:r>
          </a:p>
          <a:p>
            <a:pPr>
              <a:lnSpc>
                <a:spcPct val="150000"/>
              </a:lnSpc>
            </a:pPr>
            <a:r>
              <a:rPr lang="hu-HU" dirty="0">
                <a:solidFill>
                  <a:schemeClr val="bg1"/>
                </a:solidFill>
              </a:rPr>
              <a:t>90 napos lejárat</a:t>
            </a:r>
          </a:p>
          <a:p>
            <a:pPr>
              <a:lnSpc>
                <a:spcPct val="150000"/>
              </a:lnSpc>
            </a:pPr>
            <a:r>
              <a:rPr lang="hu-HU" dirty="0">
                <a:solidFill>
                  <a:schemeClr val="bg1"/>
                </a:solidFill>
              </a:rPr>
              <a:t>5 korábbi jelszó megjegyzése</a:t>
            </a:r>
          </a:p>
        </p:txBody>
      </p:sp>
      <p:pic>
        <p:nvPicPr>
          <p:cNvPr id="6" name="Tartalom helye 5" descr="A képen szöveg, képernyőkép, szoftver, Weblap látható&#10;&#10;Előfordulhat, hogy az AI által létrehozott tartalom helytelen.">
            <a:extLst>
              <a:ext uri="{FF2B5EF4-FFF2-40B4-BE49-F238E27FC236}">
                <a16:creationId xmlns:a16="http://schemas.microsoft.com/office/drawing/2014/main" id="{C251F1FB-3960-EA67-3D44-EF2AAEA84177}"/>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4279392" y="1807952"/>
            <a:ext cx="7074408" cy="4369011"/>
          </a:xfrm>
          <a:prstGeom prst="rect">
            <a:avLst/>
          </a:prstGeom>
        </p:spPr>
      </p:pic>
    </p:spTree>
    <p:extLst>
      <p:ext uri="{BB962C8B-B14F-4D97-AF65-F5344CB8AC3E}">
        <p14:creationId xmlns:p14="http://schemas.microsoft.com/office/powerpoint/2010/main" val="54546556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0B342DDE-1E0E-26A9-5A31-24EFBDEEA78C}"/>
              </a:ext>
            </a:extLst>
          </p:cNvPr>
          <p:cNvSpPr>
            <a:spLocks noGrp="1"/>
          </p:cNvSpPr>
          <p:nvPr>
            <p:ph type="title"/>
          </p:nvPr>
        </p:nvSpPr>
        <p:spPr/>
        <p:txBody>
          <a:bodyPr/>
          <a:lstStyle/>
          <a:p>
            <a:r>
              <a:rPr lang="hu-HU" b="1" dirty="0">
                <a:solidFill>
                  <a:schemeClr val="bg1"/>
                </a:solidFill>
              </a:rPr>
              <a:t>Csoportalapú jogosultságkezelés</a:t>
            </a:r>
          </a:p>
        </p:txBody>
      </p:sp>
      <p:sp>
        <p:nvSpPr>
          <p:cNvPr id="3" name="Tartalom helye 2">
            <a:extLst>
              <a:ext uri="{FF2B5EF4-FFF2-40B4-BE49-F238E27FC236}">
                <a16:creationId xmlns:a16="http://schemas.microsoft.com/office/drawing/2014/main" id="{81ADA089-55CD-F1CF-758F-71CE24B0631F}"/>
              </a:ext>
            </a:extLst>
          </p:cNvPr>
          <p:cNvSpPr>
            <a:spLocks noGrp="1"/>
          </p:cNvSpPr>
          <p:nvPr>
            <p:ph sz="half" idx="1"/>
          </p:nvPr>
        </p:nvSpPr>
        <p:spPr/>
        <p:txBody>
          <a:bodyPr/>
          <a:lstStyle/>
          <a:p>
            <a:pPr>
              <a:lnSpc>
                <a:spcPct val="150000"/>
              </a:lnSpc>
            </a:pPr>
            <a:r>
              <a:rPr lang="hu-HU" dirty="0" err="1">
                <a:solidFill>
                  <a:schemeClr val="bg1"/>
                </a:solidFill>
              </a:rPr>
              <a:t>Security</a:t>
            </a:r>
            <a:r>
              <a:rPr lang="hu-HU" dirty="0">
                <a:solidFill>
                  <a:schemeClr val="bg1"/>
                </a:solidFill>
              </a:rPr>
              <a:t> Group alapú modell</a:t>
            </a:r>
          </a:p>
          <a:p>
            <a:pPr>
              <a:lnSpc>
                <a:spcPct val="150000"/>
              </a:lnSpc>
            </a:pPr>
            <a:r>
              <a:rPr lang="hu-HU" dirty="0">
                <a:solidFill>
                  <a:schemeClr val="bg1"/>
                </a:solidFill>
              </a:rPr>
              <a:t>Jogosultságok csoporthoz rendelve</a:t>
            </a:r>
          </a:p>
          <a:p>
            <a:pPr>
              <a:lnSpc>
                <a:spcPct val="150000"/>
              </a:lnSpc>
            </a:pPr>
            <a:r>
              <a:rPr lang="hu-HU" dirty="0">
                <a:solidFill>
                  <a:schemeClr val="bg1"/>
                </a:solidFill>
              </a:rPr>
              <a:t>Nem egyéni felhasználókhoz</a:t>
            </a:r>
          </a:p>
        </p:txBody>
      </p:sp>
      <p:pic>
        <p:nvPicPr>
          <p:cNvPr id="7" name="Tartalom helye 6" descr="A képen szöveg, képernyőkép, szoftver, képernyő látható&#10;&#10;Előfordulhat, hogy az AI által létrehozott tartalom helytelen.">
            <a:extLst>
              <a:ext uri="{FF2B5EF4-FFF2-40B4-BE49-F238E27FC236}">
                <a16:creationId xmlns:a16="http://schemas.microsoft.com/office/drawing/2014/main" id="{7E7EF6B3-AA6B-EC70-BCF9-6C0BC967A142}"/>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7048260" y="1867396"/>
            <a:ext cx="3429479" cy="4267796"/>
          </a:xfrm>
          <a:prstGeom prst="rect">
            <a:avLst/>
          </a:prstGeom>
        </p:spPr>
      </p:pic>
    </p:spTree>
    <p:extLst>
      <p:ext uri="{BB962C8B-B14F-4D97-AF65-F5344CB8AC3E}">
        <p14:creationId xmlns:p14="http://schemas.microsoft.com/office/powerpoint/2010/main" val="218828359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9B01367A-A795-C8D0-B4D6-69823641D98A}"/>
              </a:ext>
            </a:extLst>
          </p:cNvPr>
          <p:cNvSpPr>
            <a:spLocks noGrp="1"/>
          </p:cNvSpPr>
          <p:nvPr>
            <p:ph type="title"/>
          </p:nvPr>
        </p:nvSpPr>
        <p:spPr/>
        <p:txBody>
          <a:bodyPr/>
          <a:lstStyle/>
          <a:p>
            <a:r>
              <a:rPr lang="hu-HU" b="1" dirty="0" err="1">
                <a:solidFill>
                  <a:schemeClr val="bg1"/>
                </a:solidFill>
              </a:rPr>
              <a:t>Domain</a:t>
            </a:r>
            <a:r>
              <a:rPr lang="hu-HU" b="1" dirty="0">
                <a:solidFill>
                  <a:schemeClr val="bg1"/>
                </a:solidFill>
              </a:rPr>
              <a:t> </a:t>
            </a:r>
            <a:r>
              <a:rPr lang="hu-HU" b="1" dirty="0" err="1">
                <a:solidFill>
                  <a:schemeClr val="bg1"/>
                </a:solidFill>
              </a:rPr>
              <a:t>Controller</a:t>
            </a:r>
            <a:r>
              <a:rPr lang="hu-HU" b="1" dirty="0">
                <a:solidFill>
                  <a:schemeClr val="bg1"/>
                </a:solidFill>
              </a:rPr>
              <a:t> architektúra</a:t>
            </a:r>
          </a:p>
        </p:txBody>
      </p:sp>
      <p:sp>
        <p:nvSpPr>
          <p:cNvPr id="3" name="Tartalom helye 2">
            <a:extLst>
              <a:ext uri="{FF2B5EF4-FFF2-40B4-BE49-F238E27FC236}">
                <a16:creationId xmlns:a16="http://schemas.microsoft.com/office/drawing/2014/main" id="{27ED034E-2EB3-5CE3-8D7B-60BCE9CAC879}"/>
              </a:ext>
            </a:extLst>
          </p:cNvPr>
          <p:cNvSpPr>
            <a:spLocks noGrp="1"/>
          </p:cNvSpPr>
          <p:nvPr>
            <p:ph sz="half" idx="1"/>
          </p:nvPr>
        </p:nvSpPr>
        <p:spPr>
          <a:xfrm>
            <a:off x="838200" y="1825625"/>
            <a:ext cx="4035552" cy="4351338"/>
          </a:xfrm>
        </p:spPr>
        <p:txBody>
          <a:bodyPr/>
          <a:lstStyle/>
          <a:p>
            <a:pPr>
              <a:lnSpc>
                <a:spcPct val="150000"/>
              </a:lnSpc>
            </a:pPr>
            <a:r>
              <a:rPr lang="hu-HU" dirty="0">
                <a:solidFill>
                  <a:schemeClr val="bg1"/>
                </a:solidFill>
              </a:rPr>
              <a:t>2 </a:t>
            </a:r>
            <a:r>
              <a:rPr lang="hu-HU" dirty="0" err="1">
                <a:solidFill>
                  <a:schemeClr val="bg1"/>
                </a:solidFill>
              </a:rPr>
              <a:t>Domain</a:t>
            </a:r>
            <a:r>
              <a:rPr lang="hu-HU" dirty="0">
                <a:solidFill>
                  <a:schemeClr val="bg1"/>
                </a:solidFill>
              </a:rPr>
              <a:t> </a:t>
            </a:r>
            <a:r>
              <a:rPr lang="hu-HU" dirty="0" err="1">
                <a:solidFill>
                  <a:schemeClr val="bg1"/>
                </a:solidFill>
              </a:rPr>
              <a:t>Controller</a:t>
            </a:r>
            <a:endParaRPr lang="hu-HU" dirty="0">
              <a:solidFill>
                <a:schemeClr val="bg1"/>
              </a:solidFill>
            </a:endParaRPr>
          </a:p>
          <a:p>
            <a:pPr>
              <a:lnSpc>
                <a:spcPct val="150000"/>
              </a:lnSpc>
            </a:pPr>
            <a:r>
              <a:rPr lang="hu-HU" dirty="0">
                <a:solidFill>
                  <a:schemeClr val="bg1"/>
                </a:solidFill>
              </a:rPr>
              <a:t>AD-integrált DNS</a:t>
            </a:r>
          </a:p>
          <a:p>
            <a:pPr>
              <a:lnSpc>
                <a:spcPct val="150000"/>
              </a:lnSpc>
            </a:pPr>
            <a:r>
              <a:rPr lang="hu-HU" dirty="0">
                <a:solidFill>
                  <a:schemeClr val="bg1"/>
                </a:solidFill>
              </a:rPr>
              <a:t>Replikáció</a:t>
            </a:r>
          </a:p>
        </p:txBody>
      </p:sp>
      <p:pic>
        <p:nvPicPr>
          <p:cNvPr id="7" name="Tartalom helye 6" descr="A képen szöveg, képernyőkép, szoftver, képernyő látható&#10;&#10;Előfordulhat, hogy az AI által létrehozott tartalom helytelen.">
            <a:extLst>
              <a:ext uri="{FF2B5EF4-FFF2-40B4-BE49-F238E27FC236}">
                <a16:creationId xmlns:a16="http://schemas.microsoft.com/office/drawing/2014/main" id="{4940AAF1-6FB2-97B9-D4FC-D305A2D3CE6E}"/>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5184648" y="1991423"/>
            <a:ext cx="6166772" cy="4111181"/>
          </a:xfrm>
          <a:prstGeom prst="rect">
            <a:avLst/>
          </a:prstGeom>
        </p:spPr>
      </p:pic>
    </p:spTree>
    <p:extLst>
      <p:ext uri="{BB962C8B-B14F-4D97-AF65-F5344CB8AC3E}">
        <p14:creationId xmlns:p14="http://schemas.microsoft.com/office/powerpoint/2010/main" val="253303994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C6AFB73D-4EDB-73B7-8B6B-E37111DE659C}"/>
              </a:ext>
            </a:extLst>
          </p:cNvPr>
          <p:cNvSpPr>
            <a:spLocks noGrp="1"/>
          </p:cNvSpPr>
          <p:nvPr>
            <p:ph type="title"/>
          </p:nvPr>
        </p:nvSpPr>
        <p:spPr/>
        <p:txBody>
          <a:bodyPr/>
          <a:lstStyle/>
          <a:p>
            <a:r>
              <a:rPr lang="hu-HU" b="1" dirty="0">
                <a:solidFill>
                  <a:schemeClr val="bg1"/>
                </a:solidFill>
              </a:rPr>
              <a:t>DNS szerepe és redundancia</a:t>
            </a:r>
          </a:p>
        </p:txBody>
      </p:sp>
      <p:sp>
        <p:nvSpPr>
          <p:cNvPr id="3" name="Tartalom helye 2">
            <a:extLst>
              <a:ext uri="{FF2B5EF4-FFF2-40B4-BE49-F238E27FC236}">
                <a16:creationId xmlns:a16="http://schemas.microsoft.com/office/drawing/2014/main" id="{2128C9EF-1AA1-EDDD-78D9-9B36F7AFD475}"/>
              </a:ext>
            </a:extLst>
          </p:cNvPr>
          <p:cNvSpPr>
            <a:spLocks noGrp="1"/>
          </p:cNvSpPr>
          <p:nvPr>
            <p:ph sz="half" idx="1"/>
          </p:nvPr>
        </p:nvSpPr>
        <p:spPr>
          <a:xfrm>
            <a:off x="838200" y="1825625"/>
            <a:ext cx="4209288" cy="4351338"/>
          </a:xfrm>
        </p:spPr>
        <p:txBody>
          <a:bodyPr/>
          <a:lstStyle/>
          <a:p>
            <a:pPr>
              <a:lnSpc>
                <a:spcPct val="150000"/>
              </a:lnSpc>
            </a:pPr>
            <a:r>
              <a:rPr lang="hu-HU" dirty="0">
                <a:solidFill>
                  <a:schemeClr val="bg1"/>
                </a:solidFill>
              </a:rPr>
              <a:t>AD működés alapja</a:t>
            </a:r>
          </a:p>
          <a:p>
            <a:pPr>
              <a:lnSpc>
                <a:spcPct val="150000"/>
              </a:lnSpc>
            </a:pPr>
            <a:r>
              <a:rPr lang="hu-HU" dirty="0" err="1">
                <a:solidFill>
                  <a:schemeClr val="bg1"/>
                </a:solidFill>
              </a:rPr>
              <a:t>Forward</a:t>
            </a:r>
            <a:r>
              <a:rPr lang="hu-HU" dirty="0">
                <a:solidFill>
                  <a:schemeClr val="bg1"/>
                </a:solidFill>
              </a:rPr>
              <a:t> és </a:t>
            </a:r>
            <a:r>
              <a:rPr lang="hu-HU" dirty="0" err="1">
                <a:solidFill>
                  <a:schemeClr val="bg1"/>
                </a:solidFill>
              </a:rPr>
              <a:t>Reverse</a:t>
            </a:r>
            <a:r>
              <a:rPr lang="hu-HU" dirty="0">
                <a:solidFill>
                  <a:schemeClr val="bg1"/>
                </a:solidFill>
              </a:rPr>
              <a:t> zóna</a:t>
            </a:r>
          </a:p>
          <a:p>
            <a:pPr>
              <a:lnSpc>
                <a:spcPct val="150000"/>
              </a:lnSpc>
            </a:pPr>
            <a:r>
              <a:rPr lang="hu-HU" dirty="0">
                <a:solidFill>
                  <a:schemeClr val="bg1"/>
                </a:solidFill>
              </a:rPr>
              <a:t>Mindkét DC DNS szerver</a:t>
            </a:r>
          </a:p>
          <a:p>
            <a:pPr>
              <a:lnSpc>
                <a:spcPct val="150000"/>
              </a:lnSpc>
            </a:pPr>
            <a:r>
              <a:rPr lang="hu-HU" dirty="0">
                <a:solidFill>
                  <a:schemeClr val="bg1"/>
                </a:solidFill>
              </a:rPr>
              <a:t>Automatikus replikáció</a:t>
            </a:r>
          </a:p>
        </p:txBody>
      </p:sp>
      <p:pic>
        <p:nvPicPr>
          <p:cNvPr id="8" name="Tartalom helye 7" descr="A képen szöveg, képernyőkép, szoftver, szám látható&#10;&#10;Előfordulhat, hogy az AI által létrehozott tartalom helytelen.">
            <a:extLst>
              <a:ext uri="{FF2B5EF4-FFF2-40B4-BE49-F238E27FC236}">
                <a16:creationId xmlns:a16="http://schemas.microsoft.com/office/drawing/2014/main" id="{BFE2F8A5-2803-D4EB-092E-0077C3EEB59C}"/>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5302265" y="2133536"/>
            <a:ext cx="6051535" cy="3735515"/>
          </a:xfrm>
          <a:prstGeom prst="rect">
            <a:avLst/>
          </a:prstGeom>
        </p:spPr>
      </p:pic>
    </p:spTree>
    <p:extLst>
      <p:ext uri="{BB962C8B-B14F-4D97-AF65-F5344CB8AC3E}">
        <p14:creationId xmlns:p14="http://schemas.microsoft.com/office/powerpoint/2010/main" val="159706088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3CC9DB32-DFDF-24F5-1593-ED5FE8747F17}"/>
              </a:ext>
            </a:extLst>
          </p:cNvPr>
          <p:cNvSpPr>
            <a:spLocks noGrp="1"/>
          </p:cNvSpPr>
          <p:nvPr>
            <p:ph type="title"/>
          </p:nvPr>
        </p:nvSpPr>
        <p:spPr/>
        <p:txBody>
          <a:bodyPr/>
          <a:lstStyle/>
          <a:p>
            <a:r>
              <a:rPr lang="hu-HU" b="1" dirty="0">
                <a:solidFill>
                  <a:schemeClr val="bg1"/>
                </a:solidFill>
              </a:rPr>
              <a:t>GPO szerepe</a:t>
            </a:r>
          </a:p>
        </p:txBody>
      </p:sp>
      <p:sp>
        <p:nvSpPr>
          <p:cNvPr id="3" name="Tartalom helye 2">
            <a:extLst>
              <a:ext uri="{FF2B5EF4-FFF2-40B4-BE49-F238E27FC236}">
                <a16:creationId xmlns:a16="http://schemas.microsoft.com/office/drawing/2014/main" id="{316F35FB-A8FA-8EAC-CB24-E513D8583D52}"/>
              </a:ext>
            </a:extLst>
          </p:cNvPr>
          <p:cNvSpPr>
            <a:spLocks noGrp="1"/>
          </p:cNvSpPr>
          <p:nvPr>
            <p:ph idx="1"/>
          </p:nvPr>
        </p:nvSpPr>
        <p:spPr/>
        <p:txBody>
          <a:bodyPr/>
          <a:lstStyle/>
          <a:p>
            <a:pPr>
              <a:lnSpc>
                <a:spcPct val="150000"/>
              </a:lnSpc>
            </a:pPr>
            <a:r>
              <a:rPr lang="hu-HU" dirty="0">
                <a:solidFill>
                  <a:schemeClr val="bg1"/>
                </a:solidFill>
              </a:rPr>
              <a:t>Meghajtócsatolás</a:t>
            </a:r>
          </a:p>
          <a:p>
            <a:pPr>
              <a:lnSpc>
                <a:spcPct val="150000"/>
              </a:lnSpc>
            </a:pPr>
            <a:r>
              <a:rPr lang="hu-HU" dirty="0">
                <a:solidFill>
                  <a:schemeClr val="bg1"/>
                </a:solidFill>
              </a:rPr>
              <a:t>Vállalati arculat</a:t>
            </a:r>
          </a:p>
          <a:p>
            <a:pPr>
              <a:lnSpc>
                <a:spcPct val="150000"/>
              </a:lnSpc>
            </a:pPr>
            <a:r>
              <a:rPr lang="hu-HU" dirty="0">
                <a:solidFill>
                  <a:schemeClr val="bg1"/>
                </a:solidFill>
              </a:rPr>
              <a:t>Szoftvertelepítés</a:t>
            </a:r>
          </a:p>
        </p:txBody>
      </p:sp>
    </p:spTree>
    <p:extLst>
      <p:ext uri="{BB962C8B-B14F-4D97-AF65-F5344CB8AC3E}">
        <p14:creationId xmlns:p14="http://schemas.microsoft.com/office/powerpoint/2010/main" val="6986642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2EFEB8C7-86F6-5001-DEC5-7C88B891D685}"/>
              </a:ext>
            </a:extLst>
          </p:cNvPr>
          <p:cNvSpPr>
            <a:spLocks noGrp="1"/>
          </p:cNvSpPr>
          <p:nvPr>
            <p:ph type="title"/>
          </p:nvPr>
        </p:nvSpPr>
        <p:spPr/>
        <p:txBody>
          <a:bodyPr/>
          <a:lstStyle/>
          <a:p>
            <a:r>
              <a:rPr lang="hu-HU" b="1" dirty="0">
                <a:solidFill>
                  <a:schemeClr val="bg1"/>
                </a:solidFill>
              </a:rPr>
              <a:t>Közös meghajtó</a:t>
            </a:r>
          </a:p>
        </p:txBody>
      </p:sp>
      <p:sp>
        <p:nvSpPr>
          <p:cNvPr id="3" name="Tartalom helye 2">
            <a:extLst>
              <a:ext uri="{FF2B5EF4-FFF2-40B4-BE49-F238E27FC236}">
                <a16:creationId xmlns:a16="http://schemas.microsoft.com/office/drawing/2014/main" id="{A6D8BE0E-C3DB-5FC0-7DD9-AA657DE7FA41}"/>
              </a:ext>
            </a:extLst>
          </p:cNvPr>
          <p:cNvSpPr>
            <a:spLocks noGrp="1"/>
          </p:cNvSpPr>
          <p:nvPr>
            <p:ph sz="half" idx="1"/>
          </p:nvPr>
        </p:nvSpPr>
        <p:spPr/>
        <p:txBody>
          <a:bodyPr/>
          <a:lstStyle/>
          <a:p>
            <a:pPr>
              <a:lnSpc>
                <a:spcPct val="150000"/>
              </a:lnSpc>
            </a:pPr>
            <a:r>
              <a:rPr lang="hu-HU" dirty="0">
                <a:solidFill>
                  <a:schemeClr val="bg1"/>
                </a:solidFill>
              </a:rPr>
              <a:t>Minden dolgozó számára</a:t>
            </a:r>
          </a:p>
          <a:p>
            <a:pPr>
              <a:lnSpc>
                <a:spcPct val="150000"/>
              </a:lnSpc>
            </a:pPr>
            <a:r>
              <a:rPr lang="hu-HU" dirty="0">
                <a:solidFill>
                  <a:schemeClr val="bg1"/>
                </a:solidFill>
              </a:rPr>
              <a:t>Céges dokumentáció</a:t>
            </a:r>
          </a:p>
          <a:p>
            <a:pPr>
              <a:lnSpc>
                <a:spcPct val="150000"/>
              </a:lnSpc>
            </a:pPr>
            <a:r>
              <a:rPr lang="hu-HU" dirty="0">
                <a:solidFill>
                  <a:schemeClr val="bg1"/>
                </a:solidFill>
              </a:rPr>
              <a:t>Szabályzatok</a:t>
            </a:r>
          </a:p>
        </p:txBody>
      </p:sp>
      <p:pic>
        <p:nvPicPr>
          <p:cNvPr id="7" name="Tartalom helye 6" descr="A képen szöveg, képernyőkép, szoftver, Számítógépes ikon látható&#10;&#10;Előfordulhat, hogy az AI által létrehozott tartalom helytelen.">
            <a:extLst>
              <a:ext uri="{FF2B5EF4-FFF2-40B4-BE49-F238E27FC236}">
                <a16:creationId xmlns:a16="http://schemas.microsoft.com/office/drawing/2014/main" id="{5061CEC7-7B6F-CD07-0D41-96F54D9046FA}"/>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5623560" y="1874875"/>
            <a:ext cx="5730240" cy="4122264"/>
          </a:xfrm>
          <a:prstGeom prst="rect">
            <a:avLst/>
          </a:prstGeom>
        </p:spPr>
      </p:pic>
    </p:spTree>
    <p:extLst>
      <p:ext uri="{BB962C8B-B14F-4D97-AF65-F5344CB8AC3E}">
        <p14:creationId xmlns:p14="http://schemas.microsoft.com/office/powerpoint/2010/main" val="185042121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AAF75959-92AB-C6E3-DC9F-1F48773F88A8}"/>
              </a:ext>
            </a:extLst>
          </p:cNvPr>
          <p:cNvSpPr>
            <a:spLocks noGrp="1"/>
          </p:cNvSpPr>
          <p:nvPr>
            <p:ph type="title"/>
          </p:nvPr>
        </p:nvSpPr>
        <p:spPr/>
        <p:txBody>
          <a:bodyPr/>
          <a:lstStyle/>
          <a:p>
            <a:r>
              <a:rPr lang="hu-HU" b="1" dirty="0">
                <a:solidFill>
                  <a:schemeClr val="bg1"/>
                </a:solidFill>
              </a:rPr>
              <a:t>Részlegmeghajtók</a:t>
            </a:r>
          </a:p>
        </p:txBody>
      </p:sp>
      <p:sp>
        <p:nvSpPr>
          <p:cNvPr id="3" name="Tartalom helye 2">
            <a:extLst>
              <a:ext uri="{FF2B5EF4-FFF2-40B4-BE49-F238E27FC236}">
                <a16:creationId xmlns:a16="http://schemas.microsoft.com/office/drawing/2014/main" id="{577521CC-B57D-5529-FBA4-A3A740B31266}"/>
              </a:ext>
            </a:extLst>
          </p:cNvPr>
          <p:cNvSpPr>
            <a:spLocks noGrp="1"/>
          </p:cNvSpPr>
          <p:nvPr>
            <p:ph sz="half" idx="1"/>
          </p:nvPr>
        </p:nvSpPr>
        <p:spPr>
          <a:xfrm>
            <a:off x="838200" y="1825625"/>
            <a:ext cx="3578352" cy="4351338"/>
          </a:xfrm>
        </p:spPr>
        <p:txBody>
          <a:bodyPr>
            <a:normAutofit fontScale="92500" lnSpcReduction="10000"/>
          </a:bodyPr>
          <a:lstStyle/>
          <a:p>
            <a:pPr>
              <a:lnSpc>
                <a:spcPct val="150000"/>
              </a:lnSpc>
            </a:pPr>
            <a:r>
              <a:rPr lang="hu-HU" dirty="0">
                <a:solidFill>
                  <a:schemeClr val="bg1"/>
                </a:solidFill>
              </a:rPr>
              <a:t>Csak megfelelő </a:t>
            </a:r>
            <a:r>
              <a:rPr lang="hu-HU" dirty="0" err="1">
                <a:solidFill>
                  <a:schemeClr val="bg1"/>
                </a:solidFill>
              </a:rPr>
              <a:t>Security</a:t>
            </a:r>
            <a:r>
              <a:rPr lang="hu-HU" dirty="0">
                <a:solidFill>
                  <a:schemeClr val="bg1"/>
                </a:solidFill>
              </a:rPr>
              <a:t> Group tagjai</a:t>
            </a:r>
          </a:p>
          <a:p>
            <a:pPr>
              <a:lnSpc>
                <a:spcPct val="150000"/>
              </a:lnSpc>
            </a:pPr>
            <a:r>
              <a:rPr lang="hu-HU" dirty="0">
                <a:solidFill>
                  <a:schemeClr val="bg1"/>
                </a:solidFill>
              </a:rPr>
              <a:t>Üzleti indok esetén olvasási jog más részlegeknek</a:t>
            </a:r>
          </a:p>
          <a:p>
            <a:pPr>
              <a:lnSpc>
                <a:spcPct val="150000"/>
              </a:lnSpc>
            </a:pPr>
            <a:r>
              <a:rPr lang="hu-HU" dirty="0">
                <a:solidFill>
                  <a:schemeClr val="bg1"/>
                </a:solidFill>
              </a:rPr>
              <a:t>Legkisebb jogosultság elve</a:t>
            </a:r>
          </a:p>
        </p:txBody>
      </p:sp>
      <p:pic>
        <p:nvPicPr>
          <p:cNvPr id="6" name="Tartalom helye 5" descr="A képen szöveg, képernyőkép, képernyő, szoftver látható&#10;&#10;Előfordulhat, hogy az AI által létrehozott tartalom helytelen.">
            <a:extLst>
              <a:ext uri="{FF2B5EF4-FFF2-40B4-BE49-F238E27FC236}">
                <a16:creationId xmlns:a16="http://schemas.microsoft.com/office/drawing/2014/main" id="{B3C55AA7-4E09-F98A-D4AB-E290B7BF3D8C}"/>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4702800" y="1825624"/>
            <a:ext cx="3429479" cy="4258269"/>
          </a:xfrm>
          <a:prstGeom prst="rect">
            <a:avLst/>
          </a:prstGeom>
        </p:spPr>
      </p:pic>
      <p:pic>
        <p:nvPicPr>
          <p:cNvPr id="11" name="Kép 10" descr="A képen szöveg, képernyőkép, képernyő, szoftver látható&#10;&#10;Előfordulhat, hogy az AI által létrehozott tartalom helytelen.">
            <a:extLst>
              <a:ext uri="{FF2B5EF4-FFF2-40B4-BE49-F238E27FC236}">
                <a16:creationId xmlns:a16="http://schemas.microsoft.com/office/drawing/2014/main" id="{C803D3A1-35A0-1BFE-E381-FA946971F6C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226504" y="1825623"/>
            <a:ext cx="3419952" cy="4258269"/>
          </a:xfrm>
          <a:prstGeom prst="rect">
            <a:avLst/>
          </a:prstGeom>
        </p:spPr>
      </p:pic>
    </p:spTree>
    <p:extLst>
      <p:ext uri="{BB962C8B-B14F-4D97-AF65-F5344CB8AC3E}">
        <p14:creationId xmlns:p14="http://schemas.microsoft.com/office/powerpoint/2010/main" val="264096030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85F6B2A4-545F-E3E7-75A7-740D9885C475}"/>
              </a:ext>
            </a:extLst>
          </p:cNvPr>
          <p:cNvSpPr>
            <a:spLocks noGrp="1"/>
          </p:cNvSpPr>
          <p:nvPr>
            <p:ph type="title"/>
          </p:nvPr>
        </p:nvSpPr>
        <p:spPr/>
        <p:txBody>
          <a:bodyPr/>
          <a:lstStyle/>
          <a:p>
            <a:r>
              <a:rPr lang="hu-HU" b="1" dirty="0" err="1">
                <a:solidFill>
                  <a:schemeClr val="bg1"/>
                </a:solidFill>
              </a:rPr>
              <a:t>Domain</a:t>
            </a:r>
            <a:r>
              <a:rPr lang="hu-HU" b="1" dirty="0">
                <a:solidFill>
                  <a:schemeClr val="bg1"/>
                </a:solidFill>
              </a:rPr>
              <a:t> háttérkép</a:t>
            </a:r>
          </a:p>
        </p:txBody>
      </p:sp>
      <p:sp>
        <p:nvSpPr>
          <p:cNvPr id="3" name="Tartalom helye 2">
            <a:extLst>
              <a:ext uri="{FF2B5EF4-FFF2-40B4-BE49-F238E27FC236}">
                <a16:creationId xmlns:a16="http://schemas.microsoft.com/office/drawing/2014/main" id="{7F78962F-1D46-794A-C3E2-30F5E20331EE}"/>
              </a:ext>
            </a:extLst>
          </p:cNvPr>
          <p:cNvSpPr>
            <a:spLocks noGrp="1"/>
          </p:cNvSpPr>
          <p:nvPr>
            <p:ph sz="half" idx="1"/>
          </p:nvPr>
        </p:nvSpPr>
        <p:spPr/>
        <p:txBody>
          <a:bodyPr/>
          <a:lstStyle/>
          <a:p>
            <a:pPr>
              <a:lnSpc>
                <a:spcPct val="150000"/>
              </a:lnSpc>
            </a:pPr>
            <a:r>
              <a:rPr lang="hu-HU" dirty="0">
                <a:solidFill>
                  <a:schemeClr val="bg1"/>
                </a:solidFill>
              </a:rPr>
              <a:t>Egységes vállalati arculat</a:t>
            </a:r>
          </a:p>
          <a:p>
            <a:pPr>
              <a:lnSpc>
                <a:spcPct val="150000"/>
              </a:lnSpc>
            </a:pPr>
            <a:r>
              <a:rPr lang="hu-HU" dirty="0">
                <a:solidFill>
                  <a:schemeClr val="bg1"/>
                </a:solidFill>
              </a:rPr>
              <a:t>Management exkluzív háttér</a:t>
            </a:r>
          </a:p>
        </p:txBody>
      </p:sp>
      <p:pic>
        <p:nvPicPr>
          <p:cNvPr id="8" name="Tartalom helye 7">
            <a:extLst>
              <a:ext uri="{FF2B5EF4-FFF2-40B4-BE49-F238E27FC236}">
                <a16:creationId xmlns:a16="http://schemas.microsoft.com/office/drawing/2014/main" id="{FD81EC13-86DC-9B71-4E90-05B880719354}"/>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6418914" y="1825625"/>
            <a:ext cx="4688171" cy="4351338"/>
          </a:xfrm>
          <a:prstGeom prst="rect">
            <a:avLst/>
          </a:prstGeom>
        </p:spPr>
      </p:pic>
    </p:spTree>
    <p:extLst>
      <p:ext uri="{BB962C8B-B14F-4D97-AF65-F5344CB8AC3E}">
        <p14:creationId xmlns:p14="http://schemas.microsoft.com/office/powerpoint/2010/main" val="334004696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BD358E3E-A774-A605-DD44-FEDFFF9486B5}"/>
              </a:ext>
            </a:extLst>
          </p:cNvPr>
          <p:cNvSpPr>
            <a:spLocks noGrp="1"/>
          </p:cNvSpPr>
          <p:nvPr>
            <p:ph type="title"/>
          </p:nvPr>
        </p:nvSpPr>
        <p:spPr/>
        <p:txBody>
          <a:bodyPr/>
          <a:lstStyle/>
          <a:p>
            <a:r>
              <a:rPr lang="hu-HU" b="1" dirty="0">
                <a:solidFill>
                  <a:schemeClr val="bg1"/>
                </a:solidFill>
              </a:rPr>
              <a:t>IT részleg GPO</a:t>
            </a:r>
          </a:p>
        </p:txBody>
      </p:sp>
      <p:sp>
        <p:nvSpPr>
          <p:cNvPr id="3" name="Tartalom helye 2">
            <a:extLst>
              <a:ext uri="{FF2B5EF4-FFF2-40B4-BE49-F238E27FC236}">
                <a16:creationId xmlns:a16="http://schemas.microsoft.com/office/drawing/2014/main" id="{E867CC6E-F9F9-E629-1893-6810391DE1B9}"/>
              </a:ext>
            </a:extLst>
          </p:cNvPr>
          <p:cNvSpPr>
            <a:spLocks noGrp="1"/>
          </p:cNvSpPr>
          <p:nvPr>
            <p:ph sz="half" idx="1"/>
          </p:nvPr>
        </p:nvSpPr>
        <p:spPr/>
        <p:txBody>
          <a:bodyPr/>
          <a:lstStyle/>
          <a:p>
            <a:pPr>
              <a:lnSpc>
                <a:spcPct val="150000"/>
              </a:lnSpc>
            </a:pPr>
            <a:r>
              <a:rPr lang="fi-FI" dirty="0">
                <a:solidFill>
                  <a:schemeClr val="bg1"/>
                </a:solidFill>
              </a:rPr>
              <a:t>WinSCP telepítés</a:t>
            </a:r>
            <a:endParaRPr lang="hu-HU" dirty="0">
              <a:solidFill>
                <a:schemeClr val="bg1"/>
              </a:solidFill>
            </a:endParaRPr>
          </a:p>
          <a:p>
            <a:pPr>
              <a:lnSpc>
                <a:spcPct val="150000"/>
              </a:lnSpc>
            </a:pPr>
            <a:r>
              <a:rPr lang="fi-FI" dirty="0">
                <a:solidFill>
                  <a:schemeClr val="bg1"/>
                </a:solidFill>
              </a:rPr>
              <a:t>PuTTY telepítés</a:t>
            </a:r>
            <a:endParaRPr lang="hu-HU" dirty="0">
              <a:solidFill>
                <a:schemeClr val="bg1"/>
              </a:solidFill>
            </a:endParaRPr>
          </a:p>
          <a:p>
            <a:pPr>
              <a:lnSpc>
                <a:spcPct val="150000"/>
              </a:lnSpc>
            </a:pPr>
            <a:r>
              <a:rPr lang="hu-HU" dirty="0">
                <a:solidFill>
                  <a:schemeClr val="bg1"/>
                </a:solidFill>
              </a:rPr>
              <a:t>Előre jóváhagyott csomagok kézzel indított telepítése</a:t>
            </a:r>
          </a:p>
        </p:txBody>
      </p:sp>
      <p:pic>
        <p:nvPicPr>
          <p:cNvPr id="7" name="Tartalom helye 6" descr="A képen szöveg, képernyőkép, szoftver, képernyő látható&#10;&#10;Előfordulhat, hogy az AI által létrehozott tartalom helytelen.">
            <a:extLst>
              <a:ext uri="{FF2B5EF4-FFF2-40B4-BE49-F238E27FC236}">
                <a16:creationId xmlns:a16="http://schemas.microsoft.com/office/drawing/2014/main" id="{36A61F77-F60E-1E22-2EE8-2AE60920D832}"/>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5980016" y="2093976"/>
            <a:ext cx="5373784" cy="3682923"/>
          </a:xfrm>
          <a:prstGeom prst="rect">
            <a:avLst/>
          </a:prstGeom>
        </p:spPr>
      </p:pic>
    </p:spTree>
    <p:extLst>
      <p:ext uri="{BB962C8B-B14F-4D97-AF65-F5344CB8AC3E}">
        <p14:creationId xmlns:p14="http://schemas.microsoft.com/office/powerpoint/2010/main" val="255930172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E0F7CBD3-B211-2E00-873C-212BDE89891F}"/>
              </a:ext>
            </a:extLst>
          </p:cNvPr>
          <p:cNvSpPr>
            <a:spLocks noGrp="1"/>
          </p:cNvSpPr>
          <p:nvPr>
            <p:ph type="title"/>
          </p:nvPr>
        </p:nvSpPr>
        <p:spPr/>
        <p:txBody>
          <a:bodyPr/>
          <a:lstStyle/>
          <a:p>
            <a:r>
              <a:rPr lang="hu-HU" b="1" dirty="0">
                <a:solidFill>
                  <a:schemeClr val="bg1"/>
                </a:solidFill>
              </a:rPr>
              <a:t>MSSQL </a:t>
            </a:r>
            <a:r>
              <a:rPr lang="hu-HU" b="1" dirty="0" err="1">
                <a:solidFill>
                  <a:schemeClr val="bg1"/>
                </a:solidFill>
              </a:rPr>
              <a:t>Always</a:t>
            </a:r>
            <a:r>
              <a:rPr lang="hu-HU" b="1" dirty="0">
                <a:solidFill>
                  <a:schemeClr val="bg1"/>
                </a:solidFill>
              </a:rPr>
              <a:t> </a:t>
            </a:r>
            <a:r>
              <a:rPr lang="hu-HU" b="1" dirty="0" err="1">
                <a:solidFill>
                  <a:schemeClr val="bg1"/>
                </a:solidFill>
              </a:rPr>
              <a:t>On</a:t>
            </a:r>
            <a:r>
              <a:rPr lang="hu-HU" b="1" dirty="0">
                <a:solidFill>
                  <a:schemeClr val="bg1"/>
                </a:solidFill>
              </a:rPr>
              <a:t> </a:t>
            </a:r>
            <a:r>
              <a:rPr lang="hu-HU" b="1" dirty="0" err="1">
                <a:solidFill>
                  <a:schemeClr val="bg1"/>
                </a:solidFill>
              </a:rPr>
              <a:t>High</a:t>
            </a:r>
            <a:r>
              <a:rPr lang="hu-HU" b="1" dirty="0">
                <a:solidFill>
                  <a:schemeClr val="bg1"/>
                </a:solidFill>
              </a:rPr>
              <a:t> </a:t>
            </a:r>
            <a:r>
              <a:rPr lang="hu-HU" b="1" dirty="0" err="1">
                <a:solidFill>
                  <a:schemeClr val="bg1"/>
                </a:solidFill>
              </a:rPr>
              <a:t>Availability</a:t>
            </a:r>
            <a:endParaRPr lang="hu-HU" b="1" dirty="0">
              <a:solidFill>
                <a:schemeClr val="bg1"/>
              </a:solidFill>
            </a:endParaRPr>
          </a:p>
        </p:txBody>
      </p:sp>
      <p:sp>
        <p:nvSpPr>
          <p:cNvPr id="3" name="Tartalom helye 2">
            <a:extLst>
              <a:ext uri="{FF2B5EF4-FFF2-40B4-BE49-F238E27FC236}">
                <a16:creationId xmlns:a16="http://schemas.microsoft.com/office/drawing/2014/main" id="{68397D94-FE7E-0DD4-0C1B-B17B005DF3A3}"/>
              </a:ext>
            </a:extLst>
          </p:cNvPr>
          <p:cNvSpPr>
            <a:spLocks noGrp="1"/>
          </p:cNvSpPr>
          <p:nvPr>
            <p:ph idx="1"/>
          </p:nvPr>
        </p:nvSpPr>
        <p:spPr/>
        <p:txBody>
          <a:bodyPr/>
          <a:lstStyle/>
          <a:p>
            <a:pPr>
              <a:lnSpc>
                <a:spcPct val="150000"/>
              </a:lnSpc>
            </a:pPr>
            <a:r>
              <a:rPr lang="hu-HU" dirty="0">
                <a:solidFill>
                  <a:schemeClr val="bg1"/>
                </a:solidFill>
              </a:rPr>
              <a:t>Üzleti szempontból kritikus adatbázisok</a:t>
            </a:r>
          </a:p>
          <a:p>
            <a:pPr>
              <a:lnSpc>
                <a:spcPct val="150000"/>
              </a:lnSpc>
            </a:pPr>
            <a:r>
              <a:rPr lang="hu-HU" dirty="0">
                <a:solidFill>
                  <a:schemeClr val="bg1"/>
                </a:solidFill>
              </a:rPr>
              <a:t>24/7 működés</a:t>
            </a:r>
          </a:p>
          <a:p>
            <a:pPr>
              <a:lnSpc>
                <a:spcPct val="150000"/>
              </a:lnSpc>
            </a:pPr>
            <a:r>
              <a:rPr lang="hu-HU" dirty="0">
                <a:solidFill>
                  <a:schemeClr val="bg1"/>
                </a:solidFill>
              </a:rPr>
              <a:t>Adatvesztés nem megengedett</a:t>
            </a:r>
          </a:p>
        </p:txBody>
      </p:sp>
    </p:spTree>
    <p:extLst>
      <p:ext uri="{BB962C8B-B14F-4D97-AF65-F5344CB8AC3E}">
        <p14:creationId xmlns:p14="http://schemas.microsoft.com/office/powerpoint/2010/main" val="2585173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AA98558B-E10D-351C-D965-D104BFFF2A69}"/>
              </a:ext>
            </a:extLst>
          </p:cNvPr>
          <p:cNvSpPr>
            <a:spLocks noGrp="1"/>
          </p:cNvSpPr>
          <p:nvPr>
            <p:ph type="title"/>
          </p:nvPr>
        </p:nvSpPr>
        <p:spPr/>
        <p:txBody>
          <a:bodyPr/>
          <a:lstStyle/>
          <a:p>
            <a:r>
              <a:rPr lang="hu-HU" b="1" dirty="0">
                <a:solidFill>
                  <a:schemeClr val="bg1"/>
                </a:solidFill>
              </a:rPr>
              <a:t>Architektúra</a:t>
            </a:r>
          </a:p>
        </p:txBody>
      </p:sp>
      <p:sp>
        <p:nvSpPr>
          <p:cNvPr id="3" name="Tartalom helye 2">
            <a:extLst>
              <a:ext uri="{FF2B5EF4-FFF2-40B4-BE49-F238E27FC236}">
                <a16:creationId xmlns:a16="http://schemas.microsoft.com/office/drawing/2014/main" id="{6396CD03-181E-F6C9-1D3C-C255C4316744}"/>
              </a:ext>
            </a:extLst>
          </p:cNvPr>
          <p:cNvSpPr>
            <a:spLocks noGrp="1"/>
          </p:cNvSpPr>
          <p:nvPr>
            <p:ph sz="half" idx="1"/>
          </p:nvPr>
        </p:nvSpPr>
        <p:spPr>
          <a:xfrm>
            <a:off x="838200" y="1825624"/>
            <a:ext cx="5181600" cy="4575175"/>
          </a:xfrm>
        </p:spPr>
        <p:txBody>
          <a:bodyPr>
            <a:normAutofit/>
          </a:bodyPr>
          <a:lstStyle/>
          <a:p>
            <a:pPr>
              <a:lnSpc>
                <a:spcPct val="150000"/>
              </a:lnSpc>
            </a:pPr>
            <a:r>
              <a:rPr lang="en-US" dirty="0">
                <a:solidFill>
                  <a:schemeClr val="bg1"/>
                </a:solidFill>
              </a:rPr>
              <a:t>2 SQL node</a:t>
            </a:r>
            <a:endParaRPr lang="hu-HU" dirty="0">
              <a:solidFill>
                <a:schemeClr val="bg1"/>
              </a:solidFill>
            </a:endParaRPr>
          </a:p>
          <a:p>
            <a:pPr>
              <a:lnSpc>
                <a:spcPct val="150000"/>
              </a:lnSpc>
            </a:pPr>
            <a:r>
              <a:rPr lang="en-US" dirty="0">
                <a:solidFill>
                  <a:schemeClr val="bg1"/>
                </a:solidFill>
              </a:rPr>
              <a:t>Windows Server Failover Cluster</a:t>
            </a:r>
            <a:endParaRPr lang="hu-HU" dirty="0">
              <a:solidFill>
                <a:schemeClr val="bg1"/>
              </a:solidFill>
            </a:endParaRPr>
          </a:p>
          <a:p>
            <a:pPr>
              <a:lnSpc>
                <a:spcPct val="150000"/>
              </a:lnSpc>
            </a:pPr>
            <a:r>
              <a:rPr lang="en-US" dirty="0">
                <a:solidFill>
                  <a:schemeClr val="bg1"/>
                </a:solidFill>
              </a:rPr>
              <a:t>Availability Group</a:t>
            </a:r>
            <a:endParaRPr lang="hu-HU" dirty="0">
              <a:solidFill>
                <a:schemeClr val="bg1"/>
              </a:solidFill>
            </a:endParaRPr>
          </a:p>
          <a:p>
            <a:pPr>
              <a:lnSpc>
                <a:spcPct val="150000"/>
              </a:lnSpc>
            </a:pPr>
            <a:r>
              <a:rPr lang="en-US" dirty="0">
                <a:solidFill>
                  <a:schemeClr val="bg1"/>
                </a:solidFill>
              </a:rPr>
              <a:t>Listener</a:t>
            </a:r>
            <a:endParaRPr lang="hu-HU" dirty="0">
              <a:solidFill>
                <a:schemeClr val="bg1"/>
              </a:solidFill>
            </a:endParaRPr>
          </a:p>
          <a:p>
            <a:pPr>
              <a:lnSpc>
                <a:spcPct val="150000"/>
              </a:lnSpc>
            </a:pPr>
            <a:r>
              <a:rPr lang="hu-HU" dirty="0">
                <a:solidFill>
                  <a:schemeClr val="bg1"/>
                </a:solidFill>
              </a:rPr>
              <a:t>File </a:t>
            </a:r>
            <a:r>
              <a:rPr lang="hu-HU" dirty="0" err="1">
                <a:solidFill>
                  <a:schemeClr val="bg1"/>
                </a:solidFill>
              </a:rPr>
              <a:t>Share</a:t>
            </a:r>
            <a:r>
              <a:rPr lang="hu-HU" dirty="0">
                <a:solidFill>
                  <a:schemeClr val="bg1"/>
                </a:solidFill>
              </a:rPr>
              <a:t> </a:t>
            </a:r>
            <a:r>
              <a:rPr lang="hu-HU" dirty="0" err="1">
                <a:solidFill>
                  <a:schemeClr val="bg1"/>
                </a:solidFill>
              </a:rPr>
              <a:t>Witness</a:t>
            </a:r>
            <a:endParaRPr lang="hu-HU" dirty="0">
              <a:solidFill>
                <a:schemeClr val="bg1"/>
              </a:solidFill>
            </a:endParaRPr>
          </a:p>
        </p:txBody>
      </p:sp>
      <p:pic>
        <p:nvPicPr>
          <p:cNvPr id="7" name="Tartalom helye 6" descr="A képen szöveg, szoftver, képernyőkép, Számítógépes ikon látható&#10;&#10;Előfordulhat, hogy az AI által létrehozott tartalom helytelen.">
            <a:extLst>
              <a:ext uri="{FF2B5EF4-FFF2-40B4-BE49-F238E27FC236}">
                <a16:creationId xmlns:a16="http://schemas.microsoft.com/office/drawing/2014/main" id="{9FE50502-CB52-CBDD-772B-EE6EE399E9C0}"/>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5337790" y="1027906"/>
            <a:ext cx="5869703" cy="2008975"/>
          </a:xfrm>
          <a:prstGeom prst="rect">
            <a:avLst/>
          </a:prstGeom>
        </p:spPr>
      </p:pic>
      <p:pic>
        <p:nvPicPr>
          <p:cNvPr id="13" name="Kép 12" descr="A képen szöveg, képernyőkép, szoftver, Számítógépes ikon látható&#10;&#10;Előfordulhat, hogy az AI által létrehozott tartalom helytelen.">
            <a:extLst>
              <a:ext uri="{FF2B5EF4-FFF2-40B4-BE49-F238E27FC236}">
                <a16:creationId xmlns:a16="http://schemas.microsoft.com/office/drawing/2014/main" id="{7A68B0AB-726F-74B3-0CE5-59139D231C6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337790" y="3195153"/>
            <a:ext cx="5869703" cy="2981810"/>
          </a:xfrm>
          <a:prstGeom prst="rect">
            <a:avLst/>
          </a:prstGeom>
        </p:spPr>
      </p:pic>
    </p:spTree>
    <p:extLst>
      <p:ext uri="{BB962C8B-B14F-4D97-AF65-F5344CB8AC3E}">
        <p14:creationId xmlns:p14="http://schemas.microsoft.com/office/powerpoint/2010/main" val="396084709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5D82287E-A13C-B8F3-C901-68E2664AD1A2}"/>
              </a:ext>
            </a:extLst>
          </p:cNvPr>
          <p:cNvSpPr>
            <a:spLocks noGrp="1"/>
          </p:cNvSpPr>
          <p:nvPr>
            <p:ph type="title"/>
          </p:nvPr>
        </p:nvSpPr>
        <p:spPr/>
        <p:txBody>
          <a:bodyPr/>
          <a:lstStyle/>
          <a:p>
            <a:r>
              <a:rPr lang="hu-HU" b="1" dirty="0">
                <a:solidFill>
                  <a:schemeClr val="bg1"/>
                </a:solidFill>
              </a:rPr>
              <a:t>Működés</a:t>
            </a:r>
          </a:p>
        </p:txBody>
      </p:sp>
      <p:sp>
        <p:nvSpPr>
          <p:cNvPr id="3" name="Tartalom helye 2">
            <a:extLst>
              <a:ext uri="{FF2B5EF4-FFF2-40B4-BE49-F238E27FC236}">
                <a16:creationId xmlns:a16="http://schemas.microsoft.com/office/drawing/2014/main" id="{063F7A80-03CF-B27D-A5A6-1E47275850CC}"/>
              </a:ext>
            </a:extLst>
          </p:cNvPr>
          <p:cNvSpPr>
            <a:spLocks noGrp="1"/>
          </p:cNvSpPr>
          <p:nvPr>
            <p:ph sz="half" idx="1"/>
          </p:nvPr>
        </p:nvSpPr>
        <p:spPr/>
        <p:txBody>
          <a:bodyPr/>
          <a:lstStyle/>
          <a:p>
            <a:pPr>
              <a:lnSpc>
                <a:spcPct val="150000"/>
              </a:lnSpc>
            </a:pPr>
            <a:r>
              <a:rPr lang="hu-HU" dirty="0">
                <a:solidFill>
                  <a:schemeClr val="bg1"/>
                </a:solidFill>
              </a:rPr>
              <a:t>Szinkron replikáció</a:t>
            </a:r>
          </a:p>
          <a:p>
            <a:pPr>
              <a:lnSpc>
                <a:spcPct val="150000"/>
              </a:lnSpc>
            </a:pPr>
            <a:r>
              <a:rPr lang="hu-HU" dirty="0" err="1">
                <a:solidFill>
                  <a:schemeClr val="bg1"/>
                </a:solidFill>
              </a:rPr>
              <a:t>Automatic</a:t>
            </a:r>
            <a:r>
              <a:rPr lang="hu-HU" dirty="0">
                <a:solidFill>
                  <a:schemeClr val="bg1"/>
                </a:solidFill>
              </a:rPr>
              <a:t> </a:t>
            </a:r>
            <a:r>
              <a:rPr lang="hu-HU" dirty="0" err="1">
                <a:solidFill>
                  <a:schemeClr val="bg1"/>
                </a:solidFill>
              </a:rPr>
              <a:t>failover</a:t>
            </a:r>
            <a:endParaRPr lang="hu-HU" dirty="0">
              <a:solidFill>
                <a:schemeClr val="bg1"/>
              </a:solidFill>
            </a:endParaRPr>
          </a:p>
          <a:p>
            <a:pPr>
              <a:lnSpc>
                <a:spcPct val="150000"/>
              </a:lnSpc>
            </a:pPr>
            <a:r>
              <a:rPr lang="hu-HU" dirty="0" err="1">
                <a:solidFill>
                  <a:schemeClr val="bg1"/>
                </a:solidFill>
              </a:rPr>
              <a:t>Automatic</a:t>
            </a:r>
            <a:r>
              <a:rPr lang="hu-HU" dirty="0">
                <a:solidFill>
                  <a:schemeClr val="bg1"/>
                </a:solidFill>
              </a:rPr>
              <a:t> </a:t>
            </a:r>
            <a:r>
              <a:rPr lang="hu-HU" dirty="0" err="1">
                <a:solidFill>
                  <a:schemeClr val="bg1"/>
                </a:solidFill>
              </a:rPr>
              <a:t>seeding</a:t>
            </a:r>
            <a:endParaRPr lang="hu-HU" dirty="0">
              <a:solidFill>
                <a:schemeClr val="bg1"/>
              </a:solidFill>
            </a:endParaRPr>
          </a:p>
          <a:p>
            <a:pPr>
              <a:lnSpc>
                <a:spcPct val="150000"/>
              </a:lnSpc>
            </a:pPr>
            <a:r>
              <a:rPr lang="hu-HU" dirty="0" err="1">
                <a:solidFill>
                  <a:schemeClr val="bg1"/>
                </a:solidFill>
              </a:rPr>
              <a:t>Listener</a:t>
            </a:r>
            <a:r>
              <a:rPr lang="hu-HU" dirty="0">
                <a:solidFill>
                  <a:schemeClr val="bg1"/>
                </a:solidFill>
              </a:rPr>
              <a:t> IP</a:t>
            </a:r>
          </a:p>
        </p:txBody>
      </p:sp>
      <p:pic>
        <p:nvPicPr>
          <p:cNvPr id="7" name="Tartalom helye 6" descr="A képen szöveg, képernyőkép, Betűtípus, szám látható&#10;&#10;Előfordulhat, hogy az AI által létrehozott tartalom helytelen.">
            <a:extLst>
              <a:ext uri="{FF2B5EF4-FFF2-40B4-BE49-F238E27FC236}">
                <a16:creationId xmlns:a16="http://schemas.microsoft.com/office/drawing/2014/main" id="{169774EF-06AB-8748-3478-9087CCB5CBC0}"/>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9436608" y="311659"/>
            <a:ext cx="2392377" cy="6234681"/>
          </a:xfrm>
          <a:prstGeom prst="rect">
            <a:avLst/>
          </a:prstGeom>
        </p:spPr>
      </p:pic>
      <p:pic>
        <p:nvPicPr>
          <p:cNvPr id="9" name="Kép 8" descr="A képen szöveg, képernyőkép, szoftver, Számítógépes ikon látható&#10;&#10;Előfordulhat, hogy az AI által létrehozott tartalom helytelen.">
            <a:extLst>
              <a:ext uri="{FF2B5EF4-FFF2-40B4-BE49-F238E27FC236}">
                <a16:creationId xmlns:a16="http://schemas.microsoft.com/office/drawing/2014/main" id="{C49C6E86-B3E8-489B-932A-6F4C8584872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668726" y="1690688"/>
            <a:ext cx="4615111" cy="4280778"/>
          </a:xfrm>
          <a:prstGeom prst="rect">
            <a:avLst/>
          </a:prstGeom>
        </p:spPr>
      </p:pic>
    </p:spTree>
    <p:extLst>
      <p:ext uri="{BB962C8B-B14F-4D97-AF65-F5344CB8AC3E}">
        <p14:creationId xmlns:p14="http://schemas.microsoft.com/office/powerpoint/2010/main" val="73309782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70CBFA45-3B6C-66EC-B471-4725A98AEDFF}"/>
              </a:ext>
            </a:extLst>
          </p:cNvPr>
          <p:cNvSpPr>
            <a:spLocks noGrp="1"/>
          </p:cNvSpPr>
          <p:nvPr>
            <p:ph type="title"/>
          </p:nvPr>
        </p:nvSpPr>
        <p:spPr/>
        <p:txBody>
          <a:bodyPr/>
          <a:lstStyle/>
          <a:p>
            <a:r>
              <a:rPr lang="hu-HU" b="1" dirty="0">
                <a:solidFill>
                  <a:schemeClr val="bg1"/>
                </a:solidFill>
              </a:rPr>
              <a:t>File </a:t>
            </a:r>
            <a:r>
              <a:rPr lang="hu-HU" b="1" dirty="0" err="1">
                <a:solidFill>
                  <a:schemeClr val="bg1"/>
                </a:solidFill>
              </a:rPr>
              <a:t>Share</a:t>
            </a:r>
            <a:r>
              <a:rPr lang="hu-HU" b="1" dirty="0">
                <a:solidFill>
                  <a:schemeClr val="bg1"/>
                </a:solidFill>
              </a:rPr>
              <a:t> </a:t>
            </a:r>
            <a:r>
              <a:rPr lang="hu-HU" b="1" dirty="0" err="1">
                <a:solidFill>
                  <a:schemeClr val="bg1"/>
                </a:solidFill>
              </a:rPr>
              <a:t>Witness</a:t>
            </a:r>
            <a:r>
              <a:rPr lang="hu-HU" b="1" dirty="0">
                <a:solidFill>
                  <a:schemeClr val="bg1"/>
                </a:solidFill>
              </a:rPr>
              <a:t> és </a:t>
            </a:r>
            <a:r>
              <a:rPr lang="hu-HU" b="1" dirty="0" err="1">
                <a:solidFill>
                  <a:schemeClr val="bg1"/>
                </a:solidFill>
              </a:rPr>
              <a:t>Quorum</a:t>
            </a:r>
            <a:endParaRPr lang="hu-HU" b="1" dirty="0">
              <a:solidFill>
                <a:schemeClr val="bg1"/>
              </a:solidFill>
            </a:endParaRPr>
          </a:p>
        </p:txBody>
      </p:sp>
      <p:sp>
        <p:nvSpPr>
          <p:cNvPr id="3" name="Tartalom helye 2">
            <a:extLst>
              <a:ext uri="{FF2B5EF4-FFF2-40B4-BE49-F238E27FC236}">
                <a16:creationId xmlns:a16="http://schemas.microsoft.com/office/drawing/2014/main" id="{BA08E473-C893-3546-E3BC-6A0B564A99D1}"/>
              </a:ext>
            </a:extLst>
          </p:cNvPr>
          <p:cNvSpPr>
            <a:spLocks noGrp="1"/>
          </p:cNvSpPr>
          <p:nvPr>
            <p:ph sz="half" idx="1"/>
          </p:nvPr>
        </p:nvSpPr>
        <p:spPr/>
        <p:txBody>
          <a:bodyPr/>
          <a:lstStyle/>
          <a:p>
            <a:pPr>
              <a:lnSpc>
                <a:spcPct val="150000"/>
              </a:lnSpc>
            </a:pPr>
            <a:r>
              <a:rPr lang="hu-HU" dirty="0">
                <a:solidFill>
                  <a:schemeClr val="bg1"/>
                </a:solidFill>
              </a:rPr>
              <a:t>Split-</a:t>
            </a:r>
            <a:r>
              <a:rPr lang="hu-HU" dirty="0" err="1">
                <a:solidFill>
                  <a:schemeClr val="bg1"/>
                </a:solidFill>
              </a:rPr>
              <a:t>brain</a:t>
            </a:r>
            <a:r>
              <a:rPr lang="hu-HU" dirty="0">
                <a:solidFill>
                  <a:schemeClr val="bg1"/>
                </a:solidFill>
              </a:rPr>
              <a:t> állapot elkerülése</a:t>
            </a:r>
          </a:p>
          <a:p>
            <a:pPr>
              <a:lnSpc>
                <a:spcPct val="150000"/>
              </a:lnSpc>
            </a:pPr>
            <a:r>
              <a:rPr lang="hu-HU" dirty="0">
                <a:solidFill>
                  <a:schemeClr val="bg1"/>
                </a:solidFill>
              </a:rPr>
              <a:t>Egyértelmű döntés aktív </a:t>
            </a:r>
            <a:r>
              <a:rPr lang="hu-HU" dirty="0" err="1">
                <a:solidFill>
                  <a:schemeClr val="bg1"/>
                </a:solidFill>
              </a:rPr>
              <a:t>node-ról</a:t>
            </a:r>
            <a:endParaRPr lang="hu-HU" dirty="0">
              <a:solidFill>
                <a:schemeClr val="bg1"/>
              </a:solidFill>
            </a:endParaRPr>
          </a:p>
          <a:p>
            <a:pPr>
              <a:lnSpc>
                <a:spcPct val="150000"/>
              </a:lnSpc>
            </a:pPr>
            <a:r>
              <a:rPr lang="hu-HU" dirty="0">
                <a:solidFill>
                  <a:schemeClr val="bg1"/>
                </a:solidFill>
              </a:rPr>
              <a:t>Többségi szavazás elve</a:t>
            </a:r>
          </a:p>
          <a:p>
            <a:pPr>
              <a:lnSpc>
                <a:spcPct val="150000"/>
              </a:lnSpc>
            </a:pPr>
            <a:r>
              <a:rPr lang="hu-HU" dirty="0">
                <a:solidFill>
                  <a:schemeClr val="bg1"/>
                </a:solidFill>
              </a:rPr>
              <a:t>FSW külön szerver, nem tárol adatbázis másolatot</a:t>
            </a:r>
          </a:p>
        </p:txBody>
      </p:sp>
      <p:pic>
        <p:nvPicPr>
          <p:cNvPr id="12" name="Tartalom helye 11" descr="A képen szöveg, elektronika, képernyőkép, képernyő látható&#10;&#10;Előfordulhat, hogy az AI által létrehozott tartalom helytelen.">
            <a:extLst>
              <a:ext uri="{FF2B5EF4-FFF2-40B4-BE49-F238E27FC236}">
                <a16:creationId xmlns:a16="http://schemas.microsoft.com/office/drawing/2014/main" id="{92870FFD-29DE-F759-80EF-87DC8120D514}"/>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6172200" y="2265191"/>
            <a:ext cx="5181600" cy="3472205"/>
          </a:xfrm>
          <a:prstGeom prst="rect">
            <a:avLst/>
          </a:prstGeom>
        </p:spPr>
      </p:pic>
    </p:spTree>
    <p:extLst>
      <p:ext uri="{BB962C8B-B14F-4D97-AF65-F5344CB8AC3E}">
        <p14:creationId xmlns:p14="http://schemas.microsoft.com/office/powerpoint/2010/main" val="351377379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547ACA53-9D9B-AB59-BDB6-F29A7ED9051A}"/>
              </a:ext>
            </a:extLst>
          </p:cNvPr>
          <p:cNvSpPr>
            <a:spLocks noGrp="1"/>
          </p:cNvSpPr>
          <p:nvPr>
            <p:ph type="title"/>
          </p:nvPr>
        </p:nvSpPr>
        <p:spPr/>
        <p:txBody>
          <a:bodyPr/>
          <a:lstStyle/>
          <a:p>
            <a:r>
              <a:rPr lang="en-US" b="1" dirty="0">
                <a:solidFill>
                  <a:schemeClr val="bg1"/>
                </a:solidFill>
              </a:rPr>
              <a:t>Group Managed Service Account (</a:t>
            </a:r>
            <a:r>
              <a:rPr lang="en-US" b="1" dirty="0" err="1">
                <a:solidFill>
                  <a:schemeClr val="bg1"/>
                </a:solidFill>
              </a:rPr>
              <a:t>gMSA</a:t>
            </a:r>
            <a:r>
              <a:rPr lang="en-US" b="1" dirty="0">
                <a:solidFill>
                  <a:schemeClr val="bg1"/>
                </a:solidFill>
              </a:rPr>
              <a:t>)</a:t>
            </a:r>
            <a:endParaRPr lang="hu-HU" b="1" dirty="0">
              <a:solidFill>
                <a:schemeClr val="bg1"/>
              </a:solidFill>
            </a:endParaRPr>
          </a:p>
        </p:txBody>
      </p:sp>
      <p:sp>
        <p:nvSpPr>
          <p:cNvPr id="3" name="Tartalom helye 2">
            <a:extLst>
              <a:ext uri="{FF2B5EF4-FFF2-40B4-BE49-F238E27FC236}">
                <a16:creationId xmlns:a16="http://schemas.microsoft.com/office/drawing/2014/main" id="{DC7963CC-8365-33C3-EA0F-D8D418577E8C}"/>
              </a:ext>
            </a:extLst>
          </p:cNvPr>
          <p:cNvSpPr>
            <a:spLocks noGrp="1"/>
          </p:cNvSpPr>
          <p:nvPr>
            <p:ph sz="half" idx="1"/>
          </p:nvPr>
        </p:nvSpPr>
        <p:spPr>
          <a:xfrm>
            <a:off x="838200" y="1825625"/>
            <a:ext cx="5937504" cy="4351338"/>
          </a:xfrm>
        </p:spPr>
        <p:txBody>
          <a:bodyPr/>
          <a:lstStyle/>
          <a:p>
            <a:pPr>
              <a:lnSpc>
                <a:spcPct val="100000"/>
              </a:lnSpc>
            </a:pPr>
            <a:r>
              <a:rPr lang="hu-HU" dirty="0">
                <a:solidFill>
                  <a:schemeClr val="bg1"/>
                </a:solidFill>
              </a:rPr>
              <a:t>2 </a:t>
            </a:r>
            <a:r>
              <a:rPr lang="hu-HU" dirty="0" err="1">
                <a:solidFill>
                  <a:schemeClr val="bg1"/>
                </a:solidFill>
              </a:rPr>
              <a:t>gMSA</a:t>
            </a:r>
            <a:r>
              <a:rPr lang="hu-HU" dirty="0">
                <a:solidFill>
                  <a:schemeClr val="bg1"/>
                </a:solidFill>
              </a:rPr>
              <a:t> használata:</a:t>
            </a:r>
          </a:p>
          <a:p>
            <a:pPr lvl="1">
              <a:lnSpc>
                <a:spcPct val="100000"/>
              </a:lnSpc>
            </a:pPr>
            <a:r>
              <a:rPr lang="hu-HU" dirty="0">
                <a:solidFill>
                  <a:schemeClr val="bg1"/>
                </a:solidFill>
              </a:rPr>
              <a:t>SQL </a:t>
            </a:r>
            <a:r>
              <a:rPr lang="hu-HU" dirty="0" err="1">
                <a:solidFill>
                  <a:schemeClr val="bg1"/>
                </a:solidFill>
              </a:rPr>
              <a:t>Engine</a:t>
            </a:r>
            <a:endParaRPr lang="hu-HU" dirty="0">
              <a:solidFill>
                <a:schemeClr val="bg1"/>
              </a:solidFill>
            </a:endParaRPr>
          </a:p>
          <a:p>
            <a:pPr lvl="1">
              <a:lnSpc>
                <a:spcPct val="100000"/>
              </a:lnSpc>
            </a:pPr>
            <a:r>
              <a:rPr lang="hu-HU" dirty="0">
                <a:solidFill>
                  <a:schemeClr val="bg1"/>
                </a:solidFill>
              </a:rPr>
              <a:t>SQL </a:t>
            </a:r>
            <a:r>
              <a:rPr lang="hu-HU" dirty="0" err="1">
                <a:solidFill>
                  <a:schemeClr val="bg1"/>
                </a:solidFill>
              </a:rPr>
              <a:t>Agent</a:t>
            </a:r>
            <a:endParaRPr lang="hu-HU" dirty="0">
              <a:solidFill>
                <a:schemeClr val="bg1"/>
              </a:solidFill>
            </a:endParaRPr>
          </a:p>
          <a:p>
            <a:pPr>
              <a:lnSpc>
                <a:spcPct val="100000"/>
              </a:lnSpc>
            </a:pPr>
            <a:r>
              <a:rPr lang="hu-HU" dirty="0">
                <a:solidFill>
                  <a:schemeClr val="bg1"/>
                </a:solidFill>
              </a:rPr>
              <a:t>Automatikus jelszókezelés</a:t>
            </a:r>
          </a:p>
          <a:p>
            <a:pPr>
              <a:lnSpc>
                <a:spcPct val="100000"/>
              </a:lnSpc>
            </a:pPr>
            <a:r>
              <a:rPr lang="hu-HU" dirty="0">
                <a:solidFill>
                  <a:schemeClr val="bg1"/>
                </a:solidFill>
              </a:rPr>
              <a:t>AD által menedzselt</a:t>
            </a:r>
          </a:p>
          <a:p>
            <a:pPr>
              <a:lnSpc>
                <a:spcPct val="100000"/>
              </a:lnSpc>
            </a:pPr>
            <a:r>
              <a:rPr lang="hu-HU" dirty="0">
                <a:solidFill>
                  <a:schemeClr val="bg1"/>
                </a:solidFill>
              </a:rPr>
              <a:t>Nincs manuális jelszórotáció</a:t>
            </a:r>
          </a:p>
          <a:p>
            <a:pPr>
              <a:lnSpc>
                <a:spcPct val="100000"/>
              </a:lnSpc>
            </a:pPr>
            <a:r>
              <a:rPr lang="hu-HU" dirty="0">
                <a:solidFill>
                  <a:schemeClr val="bg1"/>
                </a:solidFill>
              </a:rPr>
              <a:t>Több </a:t>
            </a:r>
            <a:r>
              <a:rPr lang="hu-HU" dirty="0" err="1">
                <a:solidFill>
                  <a:schemeClr val="bg1"/>
                </a:solidFill>
              </a:rPr>
              <a:t>node</a:t>
            </a:r>
            <a:r>
              <a:rPr lang="hu-HU" dirty="0">
                <a:solidFill>
                  <a:schemeClr val="bg1"/>
                </a:solidFill>
              </a:rPr>
              <a:t> által használható (</a:t>
            </a:r>
            <a:r>
              <a:rPr lang="hu-HU" dirty="0" err="1">
                <a:solidFill>
                  <a:schemeClr val="bg1"/>
                </a:solidFill>
              </a:rPr>
              <a:t>cluster</a:t>
            </a:r>
            <a:r>
              <a:rPr lang="hu-HU" dirty="0">
                <a:solidFill>
                  <a:schemeClr val="bg1"/>
                </a:solidFill>
              </a:rPr>
              <a:t> kompatibilis)</a:t>
            </a:r>
          </a:p>
        </p:txBody>
      </p:sp>
      <p:pic>
        <p:nvPicPr>
          <p:cNvPr id="7" name="Tartalom helye 6" descr="A képen szöveg, képernyőkép, szoftver, Számítógépes ikon látható&#10;&#10;Előfordulhat, hogy az AI által létrehozott tartalom helytelen.">
            <a:extLst>
              <a:ext uri="{FF2B5EF4-FFF2-40B4-BE49-F238E27FC236}">
                <a16:creationId xmlns:a16="http://schemas.microsoft.com/office/drawing/2014/main" id="{99AF7026-FBBD-95D9-D4DA-1C800EF2ED0D}"/>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rcRect r="31706"/>
          <a:stretch>
            <a:fillRect/>
          </a:stretch>
        </p:blipFill>
        <p:spPr>
          <a:xfrm>
            <a:off x="6096000" y="2079466"/>
            <a:ext cx="5522039" cy="3843655"/>
          </a:xfrm>
          <a:prstGeom prst="rect">
            <a:avLst/>
          </a:prstGeom>
        </p:spPr>
      </p:pic>
    </p:spTree>
    <p:extLst>
      <p:ext uri="{BB962C8B-B14F-4D97-AF65-F5344CB8AC3E}">
        <p14:creationId xmlns:p14="http://schemas.microsoft.com/office/powerpoint/2010/main" val="397650261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49ED61E1-9555-7373-FABD-08CC97CA9679}"/>
              </a:ext>
            </a:extLst>
          </p:cNvPr>
          <p:cNvSpPr>
            <a:spLocks noGrp="1"/>
          </p:cNvSpPr>
          <p:nvPr>
            <p:ph type="title"/>
          </p:nvPr>
        </p:nvSpPr>
        <p:spPr/>
        <p:txBody>
          <a:bodyPr/>
          <a:lstStyle/>
          <a:p>
            <a:r>
              <a:rPr lang="hu-HU" b="1" dirty="0">
                <a:solidFill>
                  <a:schemeClr val="bg1"/>
                </a:solidFill>
              </a:rPr>
              <a:t>Eredmények</a:t>
            </a:r>
          </a:p>
        </p:txBody>
      </p:sp>
      <p:sp>
        <p:nvSpPr>
          <p:cNvPr id="3" name="Tartalom helye 2">
            <a:extLst>
              <a:ext uri="{FF2B5EF4-FFF2-40B4-BE49-F238E27FC236}">
                <a16:creationId xmlns:a16="http://schemas.microsoft.com/office/drawing/2014/main" id="{92E69E1D-146F-E82C-30D1-A2FFEBBFB25F}"/>
              </a:ext>
            </a:extLst>
          </p:cNvPr>
          <p:cNvSpPr>
            <a:spLocks noGrp="1"/>
          </p:cNvSpPr>
          <p:nvPr>
            <p:ph idx="1"/>
          </p:nvPr>
        </p:nvSpPr>
        <p:spPr/>
        <p:txBody>
          <a:bodyPr/>
          <a:lstStyle/>
          <a:p>
            <a:pPr>
              <a:lnSpc>
                <a:spcPct val="150000"/>
              </a:lnSpc>
            </a:pPr>
            <a:r>
              <a:rPr lang="hu-HU" dirty="0">
                <a:solidFill>
                  <a:schemeClr val="bg1"/>
                </a:solidFill>
              </a:rPr>
              <a:t>Központi menedzsment</a:t>
            </a:r>
          </a:p>
          <a:p>
            <a:pPr>
              <a:lnSpc>
                <a:spcPct val="150000"/>
              </a:lnSpc>
            </a:pPr>
            <a:r>
              <a:rPr lang="hu-HU" dirty="0">
                <a:solidFill>
                  <a:schemeClr val="bg1"/>
                </a:solidFill>
              </a:rPr>
              <a:t>Magas rendelkezésre állás</a:t>
            </a:r>
          </a:p>
          <a:p>
            <a:pPr>
              <a:lnSpc>
                <a:spcPct val="150000"/>
              </a:lnSpc>
            </a:pPr>
            <a:r>
              <a:rPr lang="hu-HU" dirty="0">
                <a:solidFill>
                  <a:schemeClr val="bg1"/>
                </a:solidFill>
              </a:rPr>
              <a:t>Skálázható infrastruktúra</a:t>
            </a:r>
          </a:p>
          <a:p>
            <a:pPr>
              <a:lnSpc>
                <a:spcPct val="150000"/>
              </a:lnSpc>
            </a:pPr>
            <a:r>
              <a:rPr lang="hu-HU" dirty="0">
                <a:solidFill>
                  <a:schemeClr val="bg1"/>
                </a:solidFill>
              </a:rPr>
              <a:t>Biztonságos jogosultságkezelés</a:t>
            </a:r>
          </a:p>
        </p:txBody>
      </p:sp>
    </p:spTree>
    <p:extLst>
      <p:ext uri="{BB962C8B-B14F-4D97-AF65-F5344CB8AC3E}">
        <p14:creationId xmlns:p14="http://schemas.microsoft.com/office/powerpoint/2010/main" val="358228353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30DFE52B-F7B0-46FA-A218-3FC774DC6028}"/>
              </a:ext>
            </a:extLst>
          </p:cNvPr>
          <p:cNvSpPr>
            <a:spLocks noGrp="1"/>
          </p:cNvSpPr>
          <p:nvPr>
            <p:ph type="title"/>
          </p:nvPr>
        </p:nvSpPr>
        <p:spPr/>
        <p:txBody>
          <a:bodyPr/>
          <a:lstStyle/>
          <a:p>
            <a:r>
              <a:rPr lang="hu-HU" b="1" dirty="0">
                <a:solidFill>
                  <a:schemeClr val="bg1"/>
                </a:solidFill>
              </a:rPr>
              <a:t>Továbbfejlesztési lehetőségek</a:t>
            </a:r>
          </a:p>
        </p:txBody>
      </p:sp>
      <p:sp>
        <p:nvSpPr>
          <p:cNvPr id="3" name="Tartalom helye 2">
            <a:extLst>
              <a:ext uri="{FF2B5EF4-FFF2-40B4-BE49-F238E27FC236}">
                <a16:creationId xmlns:a16="http://schemas.microsoft.com/office/drawing/2014/main" id="{0106E9DF-D7B0-41C6-2FDF-EC88C93C605A}"/>
              </a:ext>
            </a:extLst>
          </p:cNvPr>
          <p:cNvSpPr>
            <a:spLocks noGrp="1"/>
          </p:cNvSpPr>
          <p:nvPr>
            <p:ph idx="1"/>
          </p:nvPr>
        </p:nvSpPr>
        <p:spPr/>
        <p:txBody>
          <a:bodyPr/>
          <a:lstStyle/>
          <a:p>
            <a:pPr>
              <a:lnSpc>
                <a:spcPct val="150000"/>
              </a:lnSpc>
            </a:pPr>
            <a:r>
              <a:rPr lang="hu-HU" dirty="0">
                <a:solidFill>
                  <a:schemeClr val="bg1"/>
                </a:solidFill>
              </a:rPr>
              <a:t>MFA a management részére</a:t>
            </a:r>
          </a:p>
          <a:p>
            <a:pPr>
              <a:lnSpc>
                <a:spcPct val="150000"/>
              </a:lnSpc>
            </a:pPr>
            <a:r>
              <a:rPr lang="hu-HU" dirty="0" err="1">
                <a:solidFill>
                  <a:schemeClr val="bg1"/>
                </a:solidFill>
              </a:rPr>
              <a:t>Azure</a:t>
            </a:r>
            <a:r>
              <a:rPr lang="hu-HU" dirty="0">
                <a:solidFill>
                  <a:schemeClr val="bg1"/>
                </a:solidFill>
              </a:rPr>
              <a:t> Site </a:t>
            </a:r>
            <a:r>
              <a:rPr lang="hu-HU" dirty="0" err="1">
                <a:solidFill>
                  <a:schemeClr val="bg1"/>
                </a:solidFill>
              </a:rPr>
              <a:t>Recovery</a:t>
            </a:r>
            <a:endParaRPr lang="hu-HU" dirty="0">
              <a:solidFill>
                <a:schemeClr val="bg1"/>
              </a:solidFill>
            </a:endParaRPr>
          </a:p>
          <a:p>
            <a:pPr>
              <a:lnSpc>
                <a:spcPct val="150000"/>
              </a:lnSpc>
            </a:pPr>
            <a:r>
              <a:rPr lang="hu-HU" dirty="0">
                <a:solidFill>
                  <a:schemeClr val="bg1"/>
                </a:solidFill>
              </a:rPr>
              <a:t>SIEM bevezetése</a:t>
            </a:r>
          </a:p>
          <a:p>
            <a:pPr>
              <a:lnSpc>
                <a:spcPct val="150000"/>
              </a:lnSpc>
            </a:pPr>
            <a:r>
              <a:rPr lang="hu-HU" dirty="0">
                <a:solidFill>
                  <a:schemeClr val="bg1"/>
                </a:solidFill>
              </a:rPr>
              <a:t>Patch management finomítása (WSUS)</a:t>
            </a:r>
          </a:p>
          <a:p>
            <a:pPr>
              <a:lnSpc>
                <a:spcPct val="150000"/>
              </a:lnSpc>
            </a:pPr>
            <a:r>
              <a:rPr lang="hu-HU" dirty="0" err="1">
                <a:solidFill>
                  <a:schemeClr val="bg1"/>
                </a:solidFill>
              </a:rPr>
              <a:t>Zero</a:t>
            </a:r>
            <a:r>
              <a:rPr lang="hu-HU" dirty="0">
                <a:solidFill>
                  <a:schemeClr val="bg1"/>
                </a:solidFill>
              </a:rPr>
              <a:t> </a:t>
            </a:r>
            <a:r>
              <a:rPr lang="hu-HU" dirty="0" err="1">
                <a:solidFill>
                  <a:schemeClr val="bg1"/>
                </a:solidFill>
              </a:rPr>
              <a:t>Trust</a:t>
            </a:r>
            <a:r>
              <a:rPr lang="hu-HU" dirty="0">
                <a:solidFill>
                  <a:schemeClr val="bg1"/>
                </a:solidFill>
              </a:rPr>
              <a:t> modell alkalmazása</a:t>
            </a:r>
          </a:p>
        </p:txBody>
      </p:sp>
    </p:spTree>
    <p:extLst>
      <p:ext uri="{BB962C8B-B14F-4D97-AF65-F5344CB8AC3E}">
        <p14:creationId xmlns:p14="http://schemas.microsoft.com/office/powerpoint/2010/main" val="288210677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93EB9F68-051A-1F51-0278-2B23CAEEC14C}"/>
              </a:ext>
            </a:extLst>
          </p:cNvPr>
          <p:cNvSpPr>
            <a:spLocks noGrp="1"/>
          </p:cNvSpPr>
          <p:nvPr>
            <p:ph type="title"/>
          </p:nvPr>
        </p:nvSpPr>
        <p:spPr>
          <a:xfrm>
            <a:off x="838200" y="2766218"/>
            <a:ext cx="10515600" cy="1325563"/>
          </a:xfrm>
        </p:spPr>
        <p:txBody>
          <a:bodyPr/>
          <a:lstStyle/>
          <a:p>
            <a:pPr algn="ctr"/>
            <a:r>
              <a:rPr lang="hu-HU" b="1" dirty="0">
                <a:solidFill>
                  <a:schemeClr val="bg1"/>
                </a:solidFill>
              </a:rPr>
              <a:t>Köszönöm a figyelmet!</a:t>
            </a:r>
          </a:p>
        </p:txBody>
      </p:sp>
    </p:spTree>
    <p:extLst>
      <p:ext uri="{BB962C8B-B14F-4D97-AF65-F5344CB8AC3E}">
        <p14:creationId xmlns:p14="http://schemas.microsoft.com/office/powerpoint/2010/main" val="1919562781"/>
      </p:ext>
    </p:extLst>
  </p:cSld>
  <p:clrMapOvr>
    <a:masterClrMapping/>
  </p:clrMapOvr>
</p:sld>
</file>

<file path=ppt/theme/theme1.xml><?xml version="1.0" encoding="utf-8"?>
<a:theme xmlns:a="http://schemas.openxmlformats.org/drawingml/2006/main" name="Office-téma">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té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828</TotalTime>
  <Words>2852</Words>
  <Application>Microsoft Office PowerPoint</Application>
  <PresentationFormat>Szélesvásznú</PresentationFormat>
  <Paragraphs>243</Paragraphs>
  <Slides>41</Slides>
  <Notes>35</Notes>
  <HiddenSlides>0</HiddenSlides>
  <MMClips>0</MMClips>
  <ScaleCrop>false</ScaleCrop>
  <HeadingPairs>
    <vt:vector size="6" baseType="variant">
      <vt:variant>
        <vt:lpstr>Használt betűtípusok</vt:lpstr>
      </vt:variant>
      <vt:variant>
        <vt:i4>4</vt:i4>
      </vt:variant>
      <vt:variant>
        <vt:lpstr>Téma</vt:lpstr>
      </vt:variant>
      <vt:variant>
        <vt:i4>1</vt:i4>
      </vt:variant>
      <vt:variant>
        <vt:lpstr>Diacímek</vt:lpstr>
      </vt:variant>
      <vt:variant>
        <vt:i4>41</vt:i4>
      </vt:variant>
    </vt:vector>
  </HeadingPairs>
  <TitlesOfParts>
    <vt:vector size="46" baseType="lpstr">
      <vt:lpstr>Aptos</vt:lpstr>
      <vt:lpstr>Aptos Display</vt:lpstr>
      <vt:lpstr>Arial</vt:lpstr>
      <vt:lpstr>Calibri</vt:lpstr>
      <vt:lpstr>Office-téma</vt:lpstr>
      <vt:lpstr>PowerPoint-bemutató</vt:lpstr>
      <vt:lpstr>Bemutatkozás</vt:lpstr>
      <vt:lpstr>Informatikai célkitűzések</vt:lpstr>
      <vt:lpstr>Telephelyeink</vt:lpstr>
      <vt:lpstr>Hálózati topológia</vt:lpstr>
      <vt:lpstr>Iroda telephely</vt:lpstr>
      <vt:lpstr>Gyárüzem telephely</vt:lpstr>
      <vt:lpstr>Szaküzlet telephely</vt:lpstr>
      <vt:lpstr>OceanData adatközpont telephely</vt:lpstr>
      <vt:lpstr>Az internetszolgáltató leszimulálása</vt:lpstr>
      <vt:lpstr>Access Control List</vt:lpstr>
      <vt:lpstr>DHCP</vt:lpstr>
      <vt:lpstr>DHCP Snooping</vt:lpstr>
      <vt:lpstr>GRE Tunnel</vt:lpstr>
      <vt:lpstr>Hot Standby Routing Protocol</vt:lpstr>
      <vt:lpstr>Network Address Translation, Port Address Translation</vt:lpstr>
      <vt:lpstr>EIGRP</vt:lpstr>
      <vt:lpstr>Spanning Tree, and EtherChannel</vt:lpstr>
      <vt:lpstr>Secure Shell</vt:lpstr>
      <vt:lpstr>Switchport security</vt:lpstr>
      <vt:lpstr>ASA Hardware Firewall</vt:lpstr>
      <vt:lpstr>Possible Advancements In The Near Future</vt:lpstr>
      <vt:lpstr>Active Directory szerepe</vt:lpstr>
      <vt:lpstr>Domain struktúra</vt:lpstr>
      <vt:lpstr>Jelszóházirend</vt:lpstr>
      <vt:lpstr>Csoportalapú jogosultságkezelés</vt:lpstr>
      <vt:lpstr>Domain Controller architektúra</vt:lpstr>
      <vt:lpstr>DNS szerepe és redundancia</vt:lpstr>
      <vt:lpstr>GPO szerepe</vt:lpstr>
      <vt:lpstr>Közös meghajtó</vt:lpstr>
      <vt:lpstr>Részlegmeghajtók</vt:lpstr>
      <vt:lpstr>Domain háttérkép</vt:lpstr>
      <vt:lpstr>IT részleg GPO</vt:lpstr>
      <vt:lpstr>MSSQL Always On High Availability</vt:lpstr>
      <vt:lpstr>Architektúra</vt:lpstr>
      <vt:lpstr>Működés</vt:lpstr>
      <vt:lpstr>File Share Witness és Quorum</vt:lpstr>
      <vt:lpstr>Group Managed Service Account (gMSA)</vt:lpstr>
      <vt:lpstr>Eredmények</vt:lpstr>
      <vt:lpstr>Továbbfejlesztési lehetőségek</vt:lpstr>
      <vt:lpstr>Köszönöm a figyelmet!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O365 felhasználó</dc:creator>
  <cp:lastModifiedBy>BlackFox</cp:lastModifiedBy>
  <cp:revision>223</cp:revision>
  <dcterms:created xsi:type="dcterms:W3CDTF">2026-02-27T19:32:02Z</dcterms:created>
  <dcterms:modified xsi:type="dcterms:W3CDTF">2026-05-26T11:04:51Z</dcterms:modified>
</cp:coreProperties>
</file>